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8288000" cy="10287000"/>
  <p:notesSz cx="6858000" cy="9144000"/>
  <p:custDataLst>
    <p:tags r:id="rId24"/>
  </p:custDataLst>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viewProps" Target="viewProps.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presProps" Target="pres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ags" Target="tags/tag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notesMaster" Target="notesMasters/notesMaster1.xml" /><Relationship Id="rId28" Type="http://schemas.openxmlformats.org/officeDocument/2006/relationships/tableStyles" Target="tableStyles.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18.07.2025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GB"/>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7/18/2025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4540106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7/18/2025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648884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GB"/>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7/18/2025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230217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GB"/>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7/18/2025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479968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GB"/>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7/18/2025</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1958418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7/18/2025</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90491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7/18/2025</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381035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GB"/>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7/18/2025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625557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7/18/2025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597731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7/18/2025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0299282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7/18/2025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2591224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2.pn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image" Target="../media/image3.png"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7/18/2025</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933763199"/>
      </p:ext>
    </p:extLst>
  </p:cSld>
  <p:clrMap bg1="dk1" tx1="lt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1.xml"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6.xml" /><Relationship Id="rId1" Type="http://schemas.openxmlformats.org/officeDocument/2006/relationships/slideLayout" Target="../slideLayouts/slideLayout7.xml" /><Relationship Id="rId6" Type="http://schemas.openxmlformats.org/officeDocument/2006/relationships/image" Target="../media/image8.png" /><Relationship Id="rId5" Type="http://schemas.openxmlformats.org/officeDocument/2006/relationships/image" Target="../media/image7.png" /><Relationship Id="rId4" Type="http://schemas.openxmlformats.org/officeDocument/2006/relationships/image" Target="../media/image6.png"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notesSlide" Target="../notesSlides/notesSlide9.xml"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3" Type="http://schemas.openxmlformats.org/officeDocument/2006/relationships/image" Target="../media/image10.png" /><Relationship Id="rId2" Type="http://schemas.openxmlformats.org/officeDocument/2006/relationships/notesSlide" Target="../notesSlides/notesSlide11.xml" /><Relationship Id="rId1" Type="http://schemas.openxmlformats.org/officeDocument/2006/relationships/slideLayout" Target="../slideLayouts/slideLayout7.xml" /><Relationship Id="rId4" Type="http://schemas.openxmlformats.org/officeDocument/2006/relationships/image" Target="../media/image11.png"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3" Type="http://schemas.openxmlformats.org/officeDocument/2006/relationships/image" Target="../media/image12.png" /><Relationship Id="rId2" Type="http://schemas.openxmlformats.org/officeDocument/2006/relationships/notesSlide" Target="../notesSlides/notesSlide13.xml" /><Relationship Id="rId1" Type="http://schemas.openxmlformats.org/officeDocument/2006/relationships/slideLayout" Target="../slideLayouts/slideLayout7.xml" /><Relationship Id="rId5" Type="http://schemas.openxmlformats.org/officeDocument/2006/relationships/image" Target="../media/image14.png" /><Relationship Id="rId4" Type="http://schemas.openxmlformats.org/officeDocument/2006/relationships/image" Target="../media/image13.png"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 /><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 /><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Relationship Id="rId3" Type="http://schemas.openxmlformats.org/officeDocument/2006/relationships/image" Target="../media/image15.png" /><Relationship Id="rId2" Type="http://schemas.openxmlformats.org/officeDocument/2006/relationships/notesSlide" Target="../notesSlides/notesSlide17.xml" /><Relationship Id="rId1" Type="http://schemas.openxmlformats.org/officeDocument/2006/relationships/slideLayout" Target="../slideLayouts/slideLayout7.xml" /><Relationship Id="rId6" Type="http://schemas.openxmlformats.org/officeDocument/2006/relationships/image" Target="../media/image18.png" /><Relationship Id="rId5" Type="http://schemas.openxmlformats.org/officeDocument/2006/relationships/image" Target="../media/image17.png" /><Relationship Id="rId4" Type="http://schemas.openxmlformats.org/officeDocument/2006/relationships/image" Target="../media/image16.png" /></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 /><Relationship Id="rId1" Type="http://schemas.openxmlformats.org/officeDocument/2006/relationships/slideLayout" Target="../slideLayouts/slideLayout7.xml" /></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 /><Relationship Id="rId1" Type="http://schemas.openxmlformats.org/officeDocument/2006/relationships/slideLayout" Target="../slideLayouts/slideLayout7.xml" /></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 /><Relationship Id="rId1" Type="http://schemas.openxmlformats.org/officeDocument/2006/relationships/slideLayout" Target="../slideLayouts/slideLayout7.xml" /></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Shape 103"/>
        <p:cNvGrpSpPr/>
        <p:nvPr/>
      </p:nvGrpSpPr>
      <p:grpSpPr>
        <a:xfrm>
          <a:off x="0" y="0"/>
          <a:ext cx="0" cy="0"/>
          <a:chOff x="0" y="0"/>
          <a:chExt cx="0" cy="0"/>
        </a:xfrm>
      </p:grpSpPr>
      <p:sp>
        <p:nvSpPr>
          <p:cNvPr id="104" name="Google Shape;104;p13"/>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ECECF3"/>
          </a:solidFill>
          <a:ln>
            <a:noFill/>
          </a:ln>
        </p:spPr>
      </p:sp>
      <p:sp>
        <p:nvSpPr>
          <p:cNvPr id="105" name="Google Shape;105;p13"/>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FFFFF">
              <a:alpha val="89800"/>
            </a:srgbClr>
          </a:solidFill>
          <a:ln>
            <a:noFill/>
          </a:ln>
        </p:spPr>
      </p:sp>
      <p:sp>
        <p:nvSpPr>
          <p:cNvPr id="106" name="Google Shape;106;p13" descr="preencoded.png"/>
          <p:cNvSpPr/>
          <p:nvPr/>
        </p:nvSpPr>
        <p:spPr>
          <a:xfrm>
            <a:off x="0" y="0"/>
            <a:ext cx="6858000" cy="10287000"/>
          </a:xfrm>
          <a:custGeom>
            <a:avLst/>
            <a:gdLst/>
            <a:ahLst/>
            <a:cxnLst/>
            <a:rect l="l" t="t" r="r" b="b"/>
            <a:pathLst>
              <a:path w="9144000" h="13716000" extrusionOk="0">
                <a:moveTo>
                  <a:pt x="0" y="0"/>
                </a:moveTo>
                <a:lnTo>
                  <a:pt x="9144000" y="0"/>
                </a:lnTo>
                <a:lnTo>
                  <a:pt x="9144000" y="13716000"/>
                </a:lnTo>
                <a:lnTo>
                  <a:pt x="0" y="13716000"/>
                </a:lnTo>
                <a:lnTo>
                  <a:pt x="0" y="0"/>
                </a:lnTo>
                <a:close/>
              </a:path>
            </a:pathLst>
          </a:custGeom>
          <a:blipFill rotWithShape="1">
            <a:blip r:embed="rId3">
              <a:alphaModFix/>
            </a:blip>
            <a:stretch>
              <a:fillRect/>
            </a:stretch>
          </a:blipFill>
          <a:ln>
            <a:noFill/>
          </a:ln>
        </p:spPr>
      </p:sp>
      <p:sp>
        <p:nvSpPr>
          <p:cNvPr id="107" name="Google Shape;107;p13"/>
          <p:cNvSpPr txBox="1"/>
          <p:nvPr/>
        </p:nvSpPr>
        <p:spPr>
          <a:xfrm>
            <a:off x="7850225" y="1296472"/>
            <a:ext cx="9445500" cy="4271400"/>
          </a:xfrm>
          <a:prstGeom prst="rect">
            <a:avLst/>
          </a:prstGeom>
          <a:noFill/>
          <a:ln>
            <a:noFill/>
          </a:ln>
        </p:spPr>
        <p:txBody>
          <a:bodyPr spcFirstLastPara="1" wrap="square" lIns="0" tIns="0" rIns="0" bIns="0" anchor="t" anchorCtr="0">
            <a:spAutoFit/>
          </a:bodyPr>
          <a:lstStyle/>
          <a:p>
            <a:pPr marL="0" marR="0" lvl="0" indent="0" algn="l" rtl="0">
              <a:lnSpc>
                <a:spcPct val="124721"/>
              </a:lnSpc>
              <a:spcBef>
                <a:spcPts val="0"/>
              </a:spcBef>
              <a:spcAft>
                <a:spcPts val="0"/>
              </a:spcAft>
              <a:buNone/>
            </a:pPr>
            <a:r>
              <a:rPr lang="en-US" sz="5562" b="1" i="0" u="none" strike="noStrike" cap="none">
                <a:solidFill>
                  <a:srgbClr val="1B1B27"/>
                </a:solidFill>
                <a:latin typeface="Raleway"/>
                <a:ea typeface="Raleway"/>
                <a:cs typeface="Raleway"/>
                <a:sym typeface="Raleway"/>
              </a:rPr>
              <a:t>Advancements in Self-Healing Software Systems: The Rise of AI-Driven Resilience</a:t>
            </a:r>
            <a:endParaRPr b="1"/>
          </a:p>
        </p:txBody>
      </p:sp>
      <p:sp>
        <p:nvSpPr>
          <p:cNvPr id="108" name="Google Shape;108;p13"/>
          <p:cNvSpPr txBox="1"/>
          <p:nvPr/>
        </p:nvSpPr>
        <p:spPr>
          <a:xfrm>
            <a:off x="7850237" y="6805910"/>
            <a:ext cx="3579900" cy="18015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 Presentation By: </a:t>
            </a:r>
            <a:endParaRPr/>
          </a:p>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	IBRAHIM BASHEER K</a:t>
            </a:r>
            <a:endParaRPr/>
          </a:p>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	TLY22CS027</a:t>
            </a:r>
            <a:endParaRPr/>
          </a:p>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	S7 CSE</a:t>
            </a:r>
            <a:endParaRPr/>
          </a:p>
        </p:txBody>
      </p:sp>
      <p:sp>
        <p:nvSpPr>
          <p:cNvPr id="109" name="Google Shape;109;p13"/>
          <p:cNvSpPr txBox="1"/>
          <p:nvPr/>
        </p:nvSpPr>
        <p:spPr>
          <a:xfrm>
            <a:off x="13407097" y="6805909"/>
            <a:ext cx="3579900" cy="8781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 Guided By: </a:t>
            </a:r>
            <a:endParaRPr/>
          </a:p>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	Mrs. SHEJINA V</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110"/>
        <p:cNvGrpSpPr/>
        <p:nvPr/>
      </p:nvGrpSpPr>
      <p:grpSpPr>
        <a:xfrm>
          <a:off x="0" y="0"/>
          <a:ext cx="0" cy="0"/>
          <a:chOff x="0" y="0"/>
          <a:chExt cx="0" cy="0"/>
        </a:xfrm>
      </p:grpSpPr>
      <p:sp>
        <p:nvSpPr>
          <p:cNvPr id="111" name="Google Shape;111;p14"/>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ECECF3"/>
          </a:solidFill>
          <a:ln>
            <a:noFill/>
          </a:ln>
        </p:spPr>
      </p:sp>
      <p:sp>
        <p:nvSpPr>
          <p:cNvPr id="112" name="Google Shape;112;p14"/>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FFFFF">
              <a:alpha val="89800"/>
            </a:srgbClr>
          </a:solidFill>
          <a:ln>
            <a:noFill/>
          </a:ln>
        </p:spPr>
      </p:sp>
      <p:sp>
        <p:nvSpPr>
          <p:cNvPr id="113" name="Google Shape;113;p14"/>
          <p:cNvSpPr txBox="1"/>
          <p:nvPr/>
        </p:nvSpPr>
        <p:spPr>
          <a:xfrm>
            <a:off x="992238" y="1486038"/>
            <a:ext cx="7088100" cy="834300"/>
          </a:xfrm>
          <a:prstGeom prst="rect">
            <a:avLst/>
          </a:prstGeom>
          <a:noFill/>
          <a:ln>
            <a:noFill/>
          </a:ln>
        </p:spPr>
        <p:txBody>
          <a:bodyPr spcFirstLastPara="1" wrap="square" lIns="0" tIns="0" rIns="0" bIns="0" anchor="t" anchorCtr="0">
            <a:spAutoFit/>
          </a:bodyPr>
          <a:lstStyle/>
          <a:p>
            <a:pPr marL="0" marR="0" lvl="0" indent="0" algn="l" rtl="0">
              <a:lnSpc>
                <a:spcPct val="124721"/>
              </a:lnSpc>
              <a:spcBef>
                <a:spcPts val="0"/>
              </a:spcBef>
              <a:spcAft>
                <a:spcPts val="0"/>
              </a:spcAft>
              <a:buNone/>
            </a:pPr>
            <a:r>
              <a:rPr lang="en-US" sz="5562" b="0" i="0" u="none" strike="noStrike" cap="none">
                <a:solidFill>
                  <a:srgbClr val="1B1B27"/>
                </a:solidFill>
                <a:latin typeface="Raleway"/>
                <a:ea typeface="Raleway"/>
                <a:cs typeface="Raleway"/>
                <a:sym typeface="Raleway"/>
              </a:rPr>
              <a:t>Abstract</a:t>
            </a:r>
            <a:endParaRPr/>
          </a:p>
        </p:txBody>
      </p:sp>
      <p:sp>
        <p:nvSpPr>
          <p:cNvPr id="114" name="Google Shape;114;p14"/>
          <p:cNvSpPr txBox="1"/>
          <p:nvPr/>
        </p:nvSpPr>
        <p:spPr>
          <a:xfrm>
            <a:off x="992238" y="4640610"/>
            <a:ext cx="16303500" cy="23634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This seminar explores self-healing software, a paradigm where systems autonomously detect, diagnose, and repair faults. We will examine how AI and ML are shifting software maintenance from a reactive, manual process to a proactive, automated one. The presentation covers core concepts, architectural patterns, AI-driven methodologies, and real-world case studies. We will also address challenges and look ahead to the future of truly autonomous, resilient systems, where systems not only self-diagnose but also evolve and adapt to new threats and requirements.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5"/>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ECECF3"/>
          </a:solidFill>
          <a:ln>
            <a:noFill/>
          </a:ln>
        </p:spPr>
      </p:sp>
      <p:sp>
        <p:nvSpPr>
          <p:cNvPr id="117" name="Google Shape;117;p15"/>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FFFFF">
              <a:alpha val="89800"/>
            </a:srgbClr>
          </a:solidFill>
          <a:ln>
            <a:noFill/>
          </a:ln>
        </p:spPr>
      </p:sp>
      <p:sp>
        <p:nvSpPr>
          <p:cNvPr id="118" name="Google Shape;118;p15"/>
          <p:cNvSpPr txBox="1"/>
          <p:nvPr/>
        </p:nvSpPr>
        <p:spPr>
          <a:xfrm>
            <a:off x="992238" y="1220933"/>
            <a:ext cx="7088100" cy="834300"/>
          </a:xfrm>
          <a:prstGeom prst="rect">
            <a:avLst/>
          </a:prstGeom>
          <a:noFill/>
          <a:ln>
            <a:noFill/>
          </a:ln>
        </p:spPr>
        <p:txBody>
          <a:bodyPr spcFirstLastPara="1" wrap="square" lIns="0" tIns="0" rIns="0" bIns="0" anchor="t" anchorCtr="0">
            <a:spAutoFit/>
          </a:bodyPr>
          <a:lstStyle/>
          <a:p>
            <a:pPr marL="0" marR="0" lvl="0" indent="0" algn="l" rtl="0">
              <a:lnSpc>
                <a:spcPct val="124721"/>
              </a:lnSpc>
              <a:spcBef>
                <a:spcPts val="0"/>
              </a:spcBef>
              <a:spcAft>
                <a:spcPts val="0"/>
              </a:spcAft>
              <a:buNone/>
            </a:pPr>
            <a:r>
              <a:rPr lang="en-US" sz="5562" b="0" i="0" u="none" strike="noStrike" cap="none">
                <a:solidFill>
                  <a:srgbClr val="1B1B27"/>
                </a:solidFill>
                <a:latin typeface="Raleway"/>
                <a:ea typeface="Raleway"/>
                <a:cs typeface="Raleway"/>
                <a:sym typeface="Raleway"/>
              </a:rPr>
              <a:t>Agenda</a:t>
            </a:r>
            <a:endParaRPr/>
          </a:p>
        </p:txBody>
      </p:sp>
      <p:sp>
        <p:nvSpPr>
          <p:cNvPr id="119" name="Google Shape;119;p15"/>
          <p:cNvSpPr txBox="1"/>
          <p:nvPr/>
        </p:nvSpPr>
        <p:spPr>
          <a:xfrm>
            <a:off x="992238" y="3344019"/>
            <a:ext cx="7806000" cy="549000"/>
          </a:xfrm>
          <a:prstGeom prst="rect">
            <a:avLst/>
          </a:prstGeom>
          <a:noFill/>
          <a:ln>
            <a:noFill/>
          </a:ln>
        </p:spPr>
        <p:txBody>
          <a:bodyPr spcFirstLastPara="1" wrap="square" lIns="0" tIns="0" rIns="0" bIns="0" anchor="t" anchorCtr="0">
            <a:spAutoFit/>
          </a:bodyPr>
          <a:lstStyle/>
          <a:p>
            <a:pPr marL="329901" marR="0" lvl="1" indent="-164950" algn="l" rtl="0">
              <a:lnSpc>
                <a:spcPct val="162871"/>
              </a:lnSpc>
              <a:spcBef>
                <a:spcPts val="0"/>
              </a:spcBef>
              <a:spcAft>
                <a:spcPts val="0"/>
              </a:spcAft>
              <a:buClr>
                <a:srgbClr val="3C3939"/>
              </a:buClr>
              <a:buSzPts val="2187"/>
              <a:buFont typeface="Arial"/>
              <a:buChar char="•"/>
            </a:pPr>
            <a:r>
              <a:rPr lang="en-US" sz="2187" b="0" i="0" u="none" strike="noStrike" cap="none">
                <a:solidFill>
                  <a:srgbClr val="3C3939"/>
                </a:solidFill>
                <a:latin typeface="Roboto"/>
                <a:ea typeface="Roboto"/>
                <a:cs typeface="Roboto"/>
                <a:sym typeface="Roboto"/>
              </a:rPr>
              <a:t>Introduction: What is Self-Healing Software?</a:t>
            </a:r>
            <a:endParaRPr/>
          </a:p>
        </p:txBody>
      </p:sp>
      <p:sp>
        <p:nvSpPr>
          <p:cNvPr id="120" name="Google Shape;120;p15"/>
          <p:cNvSpPr txBox="1"/>
          <p:nvPr/>
        </p:nvSpPr>
        <p:spPr>
          <a:xfrm>
            <a:off x="992238" y="3896766"/>
            <a:ext cx="7806000" cy="549000"/>
          </a:xfrm>
          <a:prstGeom prst="rect">
            <a:avLst/>
          </a:prstGeom>
          <a:noFill/>
          <a:ln>
            <a:noFill/>
          </a:ln>
        </p:spPr>
        <p:txBody>
          <a:bodyPr spcFirstLastPara="1" wrap="square" lIns="0" tIns="0" rIns="0" bIns="0" anchor="t" anchorCtr="0">
            <a:spAutoFit/>
          </a:bodyPr>
          <a:lstStyle/>
          <a:p>
            <a:pPr marL="329901" marR="0" lvl="1" indent="-164950" algn="l" rtl="0">
              <a:lnSpc>
                <a:spcPct val="162871"/>
              </a:lnSpc>
              <a:spcBef>
                <a:spcPts val="0"/>
              </a:spcBef>
              <a:spcAft>
                <a:spcPts val="0"/>
              </a:spcAft>
              <a:buClr>
                <a:srgbClr val="3C3939"/>
              </a:buClr>
              <a:buSzPts val="2187"/>
              <a:buFont typeface="Arial"/>
              <a:buChar char="•"/>
            </a:pPr>
            <a:r>
              <a:rPr lang="en-US" sz="2187" b="0" i="0" u="none" strike="noStrike" cap="none">
                <a:solidFill>
                  <a:srgbClr val="3C3939"/>
                </a:solidFill>
                <a:latin typeface="Roboto"/>
                <a:ea typeface="Roboto"/>
                <a:cs typeface="Roboto"/>
                <a:sym typeface="Roboto"/>
              </a:rPr>
              <a:t>Problem Definition: Why This is a Critical Field</a:t>
            </a:r>
            <a:endParaRPr/>
          </a:p>
        </p:txBody>
      </p:sp>
      <p:sp>
        <p:nvSpPr>
          <p:cNvPr id="121" name="Google Shape;121;p15"/>
          <p:cNvSpPr txBox="1"/>
          <p:nvPr/>
        </p:nvSpPr>
        <p:spPr>
          <a:xfrm>
            <a:off x="992238" y="4449515"/>
            <a:ext cx="7806000" cy="549000"/>
          </a:xfrm>
          <a:prstGeom prst="rect">
            <a:avLst/>
          </a:prstGeom>
          <a:noFill/>
          <a:ln>
            <a:noFill/>
          </a:ln>
        </p:spPr>
        <p:txBody>
          <a:bodyPr spcFirstLastPara="1" wrap="square" lIns="0" tIns="0" rIns="0" bIns="0" anchor="t" anchorCtr="0">
            <a:spAutoFit/>
          </a:bodyPr>
          <a:lstStyle/>
          <a:p>
            <a:pPr marL="329901" marR="0" lvl="1" indent="-164950" algn="l" rtl="0">
              <a:lnSpc>
                <a:spcPct val="162871"/>
              </a:lnSpc>
              <a:spcBef>
                <a:spcPts val="0"/>
              </a:spcBef>
              <a:spcAft>
                <a:spcPts val="0"/>
              </a:spcAft>
              <a:buClr>
                <a:srgbClr val="3C3939"/>
              </a:buClr>
              <a:buSzPts val="2187"/>
              <a:buFont typeface="Arial"/>
              <a:buChar char="•"/>
            </a:pPr>
            <a:r>
              <a:rPr lang="en-US" sz="2187" b="0" i="0" u="none" strike="noStrike" cap="none">
                <a:solidFill>
                  <a:srgbClr val="3C3939"/>
                </a:solidFill>
                <a:latin typeface="Roboto"/>
                <a:ea typeface="Roboto"/>
                <a:cs typeface="Roboto"/>
                <a:sym typeface="Roboto"/>
              </a:rPr>
              <a:t>Objective: The Core Goals of Self-Healing</a:t>
            </a:r>
            <a:endParaRPr/>
          </a:p>
        </p:txBody>
      </p:sp>
      <p:sp>
        <p:nvSpPr>
          <p:cNvPr id="122" name="Google Shape;122;p15"/>
          <p:cNvSpPr txBox="1"/>
          <p:nvPr/>
        </p:nvSpPr>
        <p:spPr>
          <a:xfrm>
            <a:off x="992238" y="5002262"/>
            <a:ext cx="7806000" cy="549000"/>
          </a:xfrm>
          <a:prstGeom prst="rect">
            <a:avLst/>
          </a:prstGeom>
          <a:noFill/>
          <a:ln>
            <a:noFill/>
          </a:ln>
        </p:spPr>
        <p:txBody>
          <a:bodyPr spcFirstLastPara="1" wrap="square" lIns="0" tIns="0" rIns="0" bIns="0" anchor="t" anchorCtr="0">
            <a:spAutoFit/>
          </a:bodyPr>
          <a:lstStyle/>
          <a:p>
            <a:pPr marL="329901" marR="0" lvl="1" indent="-164950" algn="l" rtl="0">
              <a:lnSpc>
                <a:spcPct val="162871"/>
              </a:lnSpc>
              <a:spcBef>
                <a:spcPts val="0"/>
              </a:spcBef>
              <a:spcAft>
                <a:spcPts val="0"/>
              </a:spcAft>
              <a:buClr>
                <a:srgbClr val="3C3939"/>
              </a:buClr>
              <a:buSzPts val="2187"/>
              <a:buFont typeface="Arial"/>
              <a:buChar char="•"/>
            </a:pPr>
            <a:r>
              <a:rPr lang="en-US" sz="2187" b="0" i="0" u="none" strike="noStrike" cap="none">
                <a:solidFill>
                  <a:srgbClr val="3C3939"/>
                </a:solidFill>
                <a:latin typeface="Roboto"/>
                <a:ea typeface="Roboto"/>
                <a:cs typeface="Roboto"/>
                <a:sym typeface="Roboto"/>
              </a:rPr>
              <a:t>Historical Evolution: Path to Autonomy</a:t>
            </a:r>
            <a:endParaRPr/>
          </a:p>
        </p:txBody>
      </p:sp>
      <p:sp>
        <p:nvSpPr>
          <p:cNvPr id="123" name="Google Shape;123;p15"/>
          <p:cNvSpPr txBox="1"/>
          <p:nvPr/>
        </p:nvSpPr>
        <p:spPr>
          <a:xfrm>
            <a:off x="992238" y="5555010"/>
            <a:ext cx="7806000" cy="549000"/>
          </a:xfrm>
          <a:prstGeom prst="rect">
            <a:avLst/>
          </a:prstGeom>
          <a:noFill/>
          <a:ln>
            <a:noFill/>
          </a:ln>
        </p:spPr>
        <p:txBody>
          <a:bodyPr spcFirstLastPara="1" wrap="square" lIns="0" tIns="0" rIns="0" bIns="0" anchor="t" anchorCtr="0">
            <a:spAutoFit/>
          </a:bodyPr>
          <a:lstStyle/>
          <a:p>
            <a:pPr marL="329901" marR="0" lvl="1" indent="-164950" algn="l" rtl="0">
              <a:lnSpc>
                <a:spcPct val="162871"/>
              </a:lnSpc>
              <a:spcBef>
                <a:spcPts val="0"/>
              </a:spcBef>
              <a:spcAft>
                <a:spcPts val="0"/>
              </a:spcAft>
              <a:buClr>
                <a:srgbClr val="3C3939"/>
              </a:buClr>
              <a:buSzPts val="2187"/>
              <a:buFont typeface="Arial"/>
              <a:buChar char="•"/>
            </a:pPr>
            <a:r>
              <a:rPr lang="en-US" sz="2187" b="0" i="0" u="none" strike="noStrike" cap="none">
                <a:solidFill>
                  <a:srgbClr val="3C3939"/>
                </a:solidFill>
                <a:latin typeface="Roboto"/>
                <a:ea typeface="Roboto"/>
                <a:cs typeface="Roboto"/>
                <a:sym typeface="Roboto"/>
              </a:rPr>
              <a:t>Foundational Concepts: Fault Tolerance Strategies</a:t>
            </a:r>
            <a:endParaRPr/>
          </a:p>
        </p:txBody>
      </p:sp>
      <p:sp>
        <p:nvSpPr>
          <p:cNvPr id="124" name="Google Shape;124;p15"/>
          <p:cNvSpPr txBox="1"/>
          <p:nvPr/>
        </p:nvSpPr>
        <p:spPr>
          <a:xfrm>
            <a:off x="982713" y="6118650"/>
            <a:ext cx="7806000" cy="549000"/>
          </a:xfrm>
          <a:prstGeom prst="rect">
            <a:avLst/>
          </a:prstGeom>
          <a:noFill/>
          <a:ln>
            <a:noFill/>
          </a:ln>
        </p:spPr>
        <p:txBody>
          <a:bodyPr spcFirstLastPara="1" wrap="square" lIns="0" tIns="0" rIns="0" bIns="0" anchor="t" anchorCtr="0">
            <a:spAutoFit/>
          </a:bodyPr>
          <a:lstStyle/>
          <a:p>
            <a:pPr marL="329901" marR="0" lvl="1" indent="-164950" algn="l" rtl="0">
              <a:lnSpc>
                <a:spcPct val="162871"/>
              </a:lnSpc>
              <a:spcBef>
                <a:spcPts val="0"/>
              </a:spcBef>
              <a:spcAft>
                <a:spcPts val="0"/>
              </a:spcAft>
              <a:buClr>
                <a:srgbClr val="3C3939"/>
              </a:buClr>
              <a:buSzPts val="2187"/>
              <a:buFont typeface="Arial"/>
              <a:buChar char="•"/>
            </a:pPr>
            <a:r>
              <a:rPr lang="en-US" sz="2187" b="0" i="0" u="none" strike="noStrike" cap="none">
                <a:solidFill>
                  <a:srgbClr val="3C3939"/>
                </a:solidFill>
                <a:latin typeface="Roboto"/>
                <a:ea typeface="Roboto"/>
                <a:cs typeface="Roboto"/>
                <a:sym typeface="Roboto"/>
              </a:rPr>
              <a:t>Methodology: The AI-Driven Architecture</a:t>
            </a:r>
            <a:endParaRPr/>
          </a:p>
        </p:txBody>
      </p:sp>
      <p:sp>
        <p:nvSpPr>
          <p:cNvPr id="125" name="Google Shape;125;p15"/>
          <p:cNvSpPr txBox="1"/>
          <p:nvPr/>
        </p:nvSpPr>
        <p:spPr>
          <a:xfrm>
            <a:off x="982713" y="6688038"/>
            <a:ext cx="7806000" cy="416400"/>
          </a:xfrm>
          <a:prstGeom prst="rect">
            <a:avLst/>
          </a:prstGeom>
          <a:noFill/>
          <a:ln>
            <a:noFill/>
          </a:ln>
        </p:spPr>
        <p:txBody>
          <a:bodyPr spcFirstLastPara="1" wrap="square" lIns="0" tIns="0" rIns="0" bIns="0" anchor="t" anchorCtr="0">
            <a:spAutoFit/>
          </a:bodyPr>
          <a:lstStyle/>
          <a:p>
            <a:pPr marL="329901" marR="0" lvl="1" indent="-164950" algn="l" rtl="0">
              <a:lnSpc>
                <a:spcPct val="162871"/>
              </a:lnSpc>
              <a:spcBef>
                <a:spcPts val="0"/>
              </a:spcBef>
              <a:spcAft>
                <a:spcPts val="0"/>
              </a:spcAft>
              <a:buClr>
                <a:srgbClr val="3C3939"/>
              </a:buClr>
              <a:buSzPts val="2187"/>
              <a:buFont typeface="Arial"/>
              <a:buChar char="•"/>
            </a:pPr>
            <a:r>
              <a:rPr lang="en-US" sz="2187" b="0" i="0" u="none" strike="noStrike" cap="none">
                <a:solidFill>
                  <a:srgbClr val="3C3939"/>
                </a:solidFill>
                <a:latin typeface="Roboto"/>
                <a:ea typeface="Roboto"/>
                <a:cs typeface="Roboto"/>
                <a:sym typeface="Roboto"/>
              </a:rPr>
              <a:t>Case Studies</a:t>
            </a:r>
            <a:endParaRPr/>
          </a:p>
        </p:txBody>
      </p:sp>
      <p:sp>
        <p:nvSpPr>
          <p:cNvPr id="126" name="Google Shape;126;p15"/>
          <p:cNvSpPr txBox="1"/>
          <p:nvPr/>
        </p:nvSpPr>
        <p:spPr>
          <a:xfrm>
            <a:off x="982713" y="7157208"/>
            <a:ext cx="7806000" cy="416400"/>
          </a:xfrm>
          <a:prstGeom prst="rect">
            <a:avLst/>
          </a:prstGeom>
          <a:noFill/>
          <a:ln>
            <a:noFill/>
          </a:ln>
        </p:spPr>
        <p:txBody>
          <a:bodyPr spcFirstLastPara="1" wrap="square" lIns="0" tIns="0" rIns="0" bIns="0" anchor="t" anchorCtr="0">
            <a:spAutoFit/>
          </a:bodyPr>
          <a:lstStyle/>
          <a:p>
            <a:pPr marL="329901" marR="0" lvl="1" indent="-164950" algn="l" rtl="0">
              <a:lnSpc>
                <a:spcPct val="162871"/>
              </a:lnSpc>
              <a:spcBef>
                <a:spcPts val="0"/>
              </a:spcBef>
              <a:spcAft>
                <a:spcPts val="0"/>
              </a:spcAft>
              <a:buClr>
                <a:srgbClr val="3C3939"/>
              </a:buClr>
              <a:buSzPts val="2187"/>
              <a:buFont typeface="Arial"/>
              <a:buChar char="•"/>
            </a:pPr>
            <a:r>
              <a:rPr lang="en-US" sz="2187" b="0" i="0" u="none" strike="noStrike" cap="none">
                <a:solidFill>
                  <a:srgbClr val="3C3939"/>
                </a:solidFill>
                <a:latin typeface="Roboto"/>
                <a:ea typeface="Roboto"/>
                <a:cs typeface="Roboto"/>
                <a:sym typeface="Roboto"/>
              </a:rPr>
              <a:t>Challenges</a:t>
            </a:r>
            <a:endParaRPr/>
          </a:p>
        </p:txBody>
      </p:sp>
      <p:sp>
        <p:nvSpPr>
          <p:cNvPr id="127" name="Google Shape;127;p15"/>
          <p:cNvSpPr txBox="1"/>
          <p:nvPr/>
        </p:nvSpPr>
        <p:spPr>
          <a:xfrm>
            <a:off x="1014668" y="7706087"/>
            <a:ext cx="7806000" cy="416400"/>
          </a:xfrm>
          <a:prstGeom prst="rect">
            <a:avLst/>
          </a:prstGeom>
          <a:noFill/>
          <a:ln>
            <a:noFill/>
          </a:ln>
        </p:spPr>
        <p:txBody>
          <a:bodyPr spcFirstLastPara="1" wrap="square" lIns="0" tIns="0" rIns="0" bIns="0" anchor="t" anchorCtr="0">
            <a:spAutoFit/>
          </a:bodyPr>
          <a:lstStyle/>
          <a:p>
            <a:pPr marL="329901" marR="0" lvl="1" indent="-164950" algn="l" rtl="0">
              <a:lnSpc>
                <a:spcPct val="162871"/>
              </a:lnSpc>
              <a:spcBef>
                <a:spcPts val="0"/>
              </a:spcBef>
              <a:spcAft>
                <a:spcPts val="0"/>
              </a:spcAft>
              <a:buClr>
                <a:srgbClr val="3C3939"/>
              </a:buClr>
              <a:buSzPts val="2187"/>
              <a:buFont typeface="Arial"/>
              <a:buChar char="•"/>
            </a:pPr>
            <a:r>
              <a:rPr lang="en-US" sz="2187" b="0" i="0" u="none" strike="noStrike" cap="none">
                <a:solidFill>
                  <a:srgbClr val="3C3939"/>
                </a:solidFill>
                <a:latin typeface="Roboto"/>
                <a:ea typeface="Roboto"/>
                <a:cs typeface="Roboto"/>
                <a:sym typeface="Roboto"/>
              </a:rPr>
              <a:t>Future Directions</a:t>
            </a:r>
            <a:endParaRPr/>
          </a:p>
        </p:txBody>
      </p:sp>
      <p:sp>
        <p:nvSpPr>
          <p:cNvPr id="128" name="Google Shape;128;p15"/>
          <p:cNvSpPr txBox="1"/>
          <p:nvPr/>
        </p:nvSpPr>
        <p:spPr>
          <a:xfrm>
            <a:off x="1022042" y="8269727"/>
            <a:ext cx="7806000" cy="416400"/>
          </a:xfrm>
          <a:prstGeom prst="rect">
            <a:avLst/>
          </a:prstGeom>
          <a:noFill/>
          <a:ln>
            <a:noFill/>
          </a:ln>
        </p:spPr>
        <p:txBody>
          <a:bodyPr spcFirstLastPara="1" wrap="square" lIns="0" tIns="0" rIns="0" bIns="0" anchor="t" anchorCtr="0">
            <a:spAutoFit/>
          </a:bodyPr>
          <a:lstStyle/>
          <a:p>
            <a:pPr marL="329901" marR="0" lvl="1" indent="-164950" algn="l" rtl="0">
              <a:lnSpc>
                <a:spcPct val="162871"/>
              </a:lnSpc>
              <a:spcBef>
                <a:spcPts val="0"/>
              </a:spcBef>
              <a:spcAft>
                <a:spcPts val="0"/>
              </a:spcAft>
              <a:buClr>
                <a:srgbClr val="3C3939"/>
              </a:buClr>
              <a:buSzPts val="2187"/>
              <a:buFont typeface="Arial"/>
              <a:buChar char="•"/>
            </a:pPr>
            <a:r>
              <a:rPr lang="en-US" sz="2187" b="0" i="0" u="none" strike="noStrike" cap="none">
                <a:solidFill>
                  <a:srgbClr val="3C3939"/>
                </a:solidFill>
                <a:latin typeface="Roboto"/>
                <a:ea typeface="Roboto"/>
                <a:cs typeface="Roboto"/>
                <a:sym typeface="Roboto"/>
              </a:rPr>
              <a:t>Conclusion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6"/>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ECECF3"/>
          </a:solidFill>
          <a:ln>
            <a:noFill/>
          </a:ln>
        </p:spPr>
      </p:sp>
      <p:sp>
        <p:nvSpPr>
          <p:cNvPr id="131" name="Google Shape;131;p16"/>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FFFFF">
              <a:alpha val="89800"/>
            </a:srgbClr>
          </a:solidFill>
          <a:ln>
            <a:noFill/>
          </a:ln>
        </p:spPr>
      </p:sp>
      <p:sp>
        <p:nvSpPr>
          <p:cNvPr id="132" name="Google Shape;132;p16"/>
          <p:cNvSpPr txBox="1"/>
          <p:nvPr/>
        </p:nvSpPr>
        <p:spPr>
          <a:xfrm>
            <a:off x="973188" y="557138"/>
            <a:ext cx="14386200" cy="914400"/>
          </a:xfrm>
          <a:prstGeom prst="rect">
            <a:avLst/>
          </a:prstGeom>
          <a:noFill/>
          <a:ln>
            <a:noFill/>
          </a:ln>
        </p:spPr>
        <p:txBody>
          <a:bodyPr spcFirstLastPara="1" wrap="square" lIns="0" tIns="0" rIns="0" bIns="0" anchor="t" anchorCtr="0">
            <a:spAutoFit/>
          </a:bodyPr>
          <a:lstStyle/>
          <a:p>
            <a:pPr marL="0" marR="0" lvl="0" indent="0" algn="l" rtl="0">
              <a:lnSpc>
                <a:spcPct val="124721"/>
              </a:lnSpc>
              <a:spcBef>
                <a:spcPts val="0"/>
              </a:spcBef>
              <a:spcAft>
                <a:spcPts val="0"/>
              </a:spcAft>
              <a:buNone/>
            </a:pPr>
            <a:r>
              <a:rPr lang="en-US" sz="5562" b="0" i="0" u="none" strike="noStrike" cap="none">
                <a:solidFill>
                  <a:srgbClr val="1B1B27"/>
                </a:solidFill>
                <a:latin typeface="Raleway"/>
                <a:ea typeface="Raleway"/>
                <a:cs typeface="Raleway"/>
                <a:sym typeface="Raleway"/>
              </a:rPr>
              <a:t>Introduction: What is Self-Healing Software?</a:t>
            </a:r>
            <a:endParaRPr/>
          </a:p>
        </p:txBody>
      </p:sp>
      <p:sp>
        <p:nvSpPr>
          <p:cNvPr id="133" name="Google Shape;133;p16"/>
          <p:cNvSpPr/>
          <p:nvPr/>
        </p:nvSpPr>
        <p:spPr>
          <a:xfrm>
            <a:off x="973188" y="3408312"/>
            <a:ext cx="5283613" cy="4923473"/>
          </a:xfrm>
          <a:custGeom>
            <a:avLst/>
            <a:gdLst/>
            <a:ahLst/>
            <a:cxnLst/>
            <a:rect l="l" t="t" r="r" b="b"/>
            <a:pathLst>
              <a:path w="7044817" h="6564630" extrusionOk="0">
                <a:moveTo>
                  <a:pt x="0" y="269240"/>
                </a:moveTo>
                <a:cubicBezTo>
                  <a:pt x="0" y="120523"/>
                  <a:pt x="120650" y="0"/>
                  <a:pt x="269367" y="0"/>
                </a:cubicBezTo>
                <a:lnTo>
                  <a:pt x="6775450" y="0"/>
                </a:lnTo>
                <a:lnTo>
                  <a:pt x="6775450" y="25400"/>
                </a:lnTo>
                <a:lnTo>
                  <a:pt x="6775450" y="0"/>
                </a:lnTo>
                <a:cubicBezTo>
                  <a:pt x="6924167" y="0"/>
                  <a:pt x="7044817" y="120523"/>
                  <a:pt x="7044817" y="269240"/>
                </a:cubicBezTo>
                <a:lnTo>
                  <a:pt x="7019417" y="269240"/>
                </a:lnTo>
                <a:lnTo>
                  <a:pt x="7044817" y="269240"/>
                </a:lnTo>
                <a:lnTo>
                  <a:pt x="7044817" y="6295390"/>
                </a:lnTo>
                <a:lnTo>
                  <a:pt x="7019417" y="6295390"/>
                </a:lnTo>
                <a:lnTo>
                  <a:pt x="7044817" y="6295390"/>
                </a:lnTo>
                <a:cubicBezTo>
                  <a:pt x="7044817" y="6444107"/>
                  <a:pt x="6924167" y="6564630"/>
                  <a:pt x="6775450" y="6564630"/>
                </a:cubicBezTo>
                <a:lnTo>
                  <a:pt x="6775450" y="6539230"/>
                </a:lnTo>
                <a:lnTo>
                  <a:pt x="6775450" y="6564630"/>
                </a:lnTo>
                <a:lnTo>
                  <a:pt x="269367" y="6564630"/>
                </a:lnTo>
                <a:lnTo>
                  <a:pt x="269367" y="6539230"/>
                </a:lnTo>
                <a:lnTo>
                  <a:pt x="269367" y="6564630"/>
                </a:lnTo>
                <a:cubicBezTo>
                  <a:pt x="120650" y="6564503"/>
                  <a:pt x="0" y="6443980"/>
                  <a:pt x="0" y="6295263"/>
                </a:cubicBezTo>
                <a:lnTo>
                  <a:pt x="0" y="269240"/>
                </a:lnTo>
                <a:lnTo>
                  <a:pt x="25400" y="269240"/>
                </a:lnTo>
                <a:lnTo>
                  <a:pt x="0" y="269240"/>
                </a:lnTo>
                <a:moveTo>
                  <a:pt x="50800" y="269240"/>
                </a:moveTo>
                <a:lnTo>
                  <a:pt x="50800" y="6295390"/>
                </a:lnTo>
                <a:lnTo>
                  <a:pt x="25400" y="6295390"/>
                </a:lnTo>
                <a:lnTo>
                  <a:pt x="50800" y="6295390"/>
                </a:lnTo>
                <a:cubicBezTo>
                  <a:pt x="50800" y="6416040"/>
                  <a:pt x="148590" y="6513830"/>
                  <a:pt x="269367" y="6513830"/>
                </a:cubicBezTo>
                <a:lnTo>
                  <a:pt x="6775450" y="6513830"/>
                </a:lnTo>
                <a:cubicBezTo>
                  <a:pt x="6896100" y="6513830"/>
                  <a:pt x="6994017" y="6416040"/>
                  <a:pt x="6994017" y="6295390"/>
                </a:cubicBezTo>
                <a:lnTo>
                  <a:pt x="6994017" y="269240"/>
                </a:lnTo>
                <a:cubicBezTo>
                  <a:pt x="6993890" y="148590"/>
                  <a:pt x="6896100" y="50800"/>
                  <a:pt x="6775450" y="50800"/>
                </a:cubicBezTo>
                <a:lnTo>
                  <a:pt x="269367" y="50800"/>
                </a:lnTo>
                <a:lnTo>
                  <a:pt x="269367" y="25400"/>
                </a:lnTo>
                <a:lnTo>
                  <a:pt x="269367" y="50800"/>
                </a:lnTo>
                <a:cubicBezTo>
                  <a:pt x="148590" y="50800"/>
                  <a:pt x="50800" y="148590"/>
                  <a:pt x="50800" y="269240"/>
                </a:cubicBezTo>
                <a:close/>
              </a:path>
            </a:pathLst>
          </a:custGeom>
          <a:solidFill>
            <a:srgbClr val="C7C7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6"/>
          <p:cNvSpPr/>
          <p:nvPr/>
        </p:nvSpPr>
        <p:spPr>
          <a:xfrm>
            <a:off x="954138" y="3427362"/>
            <a:ext cx="152400" cy="4885277"/>
          </a:xfrm>
          <a:custGeom>
            <a:avLst/>
            <a:gdLst/>
            <a:ahLst/>
            <a:cxnLst/>
            <a:rect l="l" t="t" r="r" b="b"/>
            <a:pathLst>
              <a:path w="203200" h="6513703" extrusionOk="0">
                <a:moveTo>
                  <a:pt x="0" y="101600"/>
                </a:moveTo>
                <a:cubicBezTo>
                  <a:pt x="0" y="45466"/>
                  <a:pt x="45466" y="0"/>
                  <a:pt x="101600" y="0"/>
                </a:cubicBezTo>
                <a:cubicBezTo>
                  <a:pt x="157734" y="0"/>
                  <a:pt x="203200" y="45466"/>
                  <a:pt x="203200" y="101600"/>
                </a:cubicBezTo>
                <a:lnTo>
                  <a:pt x="203200" y="6412103"/>
                </a:lnTo>
                <a:cubicBezTo>
                  <a:pt x="203200" y="6468237"/>
                  <a:pt x="157734" y="6513703"/>
                  <a:pt x="101600" y="6513703"/>
                </a:cubicBezTo>
                <a:cubicBezTo>
                  <a:pt x="45466" y="6513703"/>
                  <a:pt x="0" y="6468237"/>
                  <a:pt x="0" y="6412103"/>
                </a:cubicBezTo>
                <a:close/>
              </a:path>
            </a:pathLst>
          </a:cu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6"/>
          <p:cNvSpPr txBox="1"/>
          <p:nvPr/>
        </p:nvSpPr>
        <p:spPr>
          <a:xfrm>
            <a:off x="1428155" y="3720405"/>
            <a:ext cx="35439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Definition</a:t>
            </a:r>
            <a:endParaRPr/>
          </a:p>
        </p:txBody>
      </p:sp>
      <p:sp>
        <p:nvSpPr>
          <p:cNvPr id="136" name="Google Shape;136;p16"/>
          <p:cNvSpPr txBox="1"/>
          <p:nvPr/>
        </p:nvSpPr>
        <p:spPr>
          <a:xfrm>
            <a:off x="1428155" y="4266754"/>
            <a:ext cx="4488000" cy="32706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A system that can recognize it is operating incorrectly and, without human intervention, takes corrective action to restore itself to a normal state. This encompasses automatic detection, diagnosis, and remediation.</a:t>
            </a:r>
            <a:endParaRPr/>
          </a:p>
        </p:txBody>
      </p:sp>
      <p:sp>
        <p:nvSpPr>
          <p:cNvPr id="137" name="Google Shape;137;p16"/>
          <p:cNvSpPr/>
          <p:nvPr/>
        </p:nvSpPr>
        <p:spPr>
          <a:xfrm>
            <a:off x="6502152" y="3408312"/>
            <a:ext cx="5283613" cy="4923473"/>
          </a:xfrm>
          <a:custGeom>
            <a:avLst/>
            <a:gdLst/>
            <a:ahLst/>
            <a:cxnLst/>
            <a:rect l="l" t="t" r="r" b="b"/>
            <a:pathLst>
              <a:path w="7044817" h="6564630" extrusionOk="0">
                <a:moveTo>
                  <a:pt x="0" y="269240"/>
                </a:moveTo>
                <a:cubicBezTo>
                  <a:pt x="0" y="120523"/>
                  <a:pt x="120650" y="0"/>
                  <a:pt x="269367" y="0"/>
                </a:cubicBezTo>
                <a:lnTo>
                  <a:pt x="6775450" y="0"/>
                </a:lnTo>
                <a:lnTo>
                  <a:pt x="6775450" y="25400"/>
                </a:lnTo>
                <a:lnTo>
                  <a:pt x="6775450" y="0"/>
                </a:lnTo>
                <a:cubicBezTo>
                  <a:pt x="6924167" y="0"/>
                  <a:pt x="7044817" y="120523"/>
                  <a:pt x="7044817" y="269240"/>
                </a:cubicBezTo>
                <a:lnTo>
                  <a:pt x="7019417" y="269240"/>
                </a:lnTo>
                <a:lnTo>
                  <a:pt x="7044817" y="269240"/>
                </a:lnTo>
                <a:lnTo>
                  <a:pt x="7044817" y="6295390"/>
                </a:lnTo>
                <a:lnTo>
                  <a:pt x="7019417" y="6295390"/>
                </a:lnTo>
                <a:lnTo>
                  <a:pt x="7044817" y="6295390"/>
                </a:lnTo>
                <a:cubicBezTo>
                  <a:pt x="7044817" y="6444107"/>
                  <a:pt x="6924167" y="6564630"/>
                  <a:pt x="6775450" y="6564630"/>
                </a:cubicBezTo>
                <a:lnTo>
                  <a:pt x="6775450" y="6539230"/>
                </a:lnTo>
                <a:lnTo>
                  <a:pt x="6775450" y="6564630"/>
                </a:lnTo>
                <a:lnTo>
                  <a:pt x="269367" y="6564630"/>
                </a:lnTo>
                <a:lnTo>
                  <a:pt x="269367" y="6539230"/>
                </a:lnTo>
                <a:lnTo>
                  <a:pt x="269367" y="6564630"/>
                </a:lnTo>
                <a:cubicBezTo>
                  <a:pt x="120650" y="6564503"/>
                  <a:pt x="0" y="6443980"/>
                  <a:pt x="0" y="6295263"/>
                </a:cubicBezTo>
                <a:lnTo>
                  <a:pt x="0" y="269240"/>
                </a:lnTo>
                <a:lnTo>
                  <a:pt x="25400" y="269240"/>
                </a:lnTo>
                <a:lnTo>
                  <a:pt x="0" y="269240"/>
                </a:lnTo>
                <a:moveTo>
                  <a:pt x="50800" y="269240"/>
                </a:moveTo>
                <a:lnTo>
                  <a:pt x="50800" y="6295390"/>
                </a:lnTo>
                <a:lnTo>
                  <a:pt x="25400" y="6295390"/>
                </a:lnTo>
                <a:lnTo>
                  <a:pt x="50800" y="6295390"/>
                </a:lnTo>
                <a:cubicBezTo>
                  <a:pt x="50800" y="6416040"/>
                  <a:pt x="148590" y="6513830"/>
                  <a:pt x="269367" y="6513830"/>
                </a:cubicBezTo>
                <a:lnTo>
                  <a:pt x="6775450" y="6513830"/>
                </a:lnTo>
                <a:cubicBezTo>
                  <a:pt x="6896100" y="6513830"/>
                  <a:pt x="6994017" y="6416040"/>
                  <a:pt x="6994017" y="6295390"/>
                </a:cubicBezTo>
                <a:lnTo>
                  <a:pt x="6994017" y="269240"/>
                </a:lnTo>
                <a:cubicBezTo>
                  <a:pt x="6993890" y="148590"/>
                  <a:pt x="6896100" y="50800"/>
                  <a:pt x="6775450" y="50800"/>
                </a:cubicBezTo>
                <a:lnTo>
                  <a:pt x="269367" y="50800"/>
                </a:lnTo>
                <a:lnTo>
                  <a:pt x="269367" y="25400"/>
                </a:lnTo>
                <a:lnTo>
                  <a:pt x="269367" y="50800"/>
                </a:lnTo>
                <a:cubicBezTo>
                  <a:pt x="148590" y="50800"/>
                  <a:pt x="50800" y="148590"/>
                  <a:pt x="50800" y="269240"/>
                </a:cubicBezTo>
                <a:close/>
              </a:path>
            </a:pathLst>
          </a:custGeom>
          <a:solidFill>
            <a:srgbClr val="C7C7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6"/>
          <p:cNvSpPr/>
          <p:nvPr/>
        </p:nvSpPr>
        <p:spPr>
          <a:xfrm>
            <a:off x="6483102" y="3427362"/>
            <a:ext cx="152400" cy="4885277"/>
          </a:xfrm>
          <a:custGeom>
            <a:avLst/>
            <a:gdLst/>
            <a:ahLst/>
            <a:cxnLst/>
            <a:rect l="l" t="t" r="r" b="b"/>
            <a:pathLst>
              <a:path w="203200" h="6513703" extrusionOk="0">
                <a:moveTo>
                  <a:pt x="0" y="101600"/>
                </a:moveTo>
                <a:cubicBezTo>
                  <a:pt x="0" y="45466"/>
                  <a:pt x="45466" y="0"/>
                  <a:pt x="101600" y="0"/>
                </a:cubicBezTo>
                <a:cubicBezTo>
                  <a:pt x="157734" y="0"/>
                  <a:pt x="203200" y="45466"/>
                  <a:pt x="203200" y="101600"/>
                </a:cubicBezTo>
                <a:lnTo>
                  <a:pt x="203200" y="6412103"/>
                </a:lnTo>
                <a:cubicBezTo>
                  <a:pt x="203200" y="6468237"/>
                  <a:pt x="157734" y="6513703"/>
                  <a:pt x="101600" y="6513703"/>
                </a:cubicBezTo>
                <a:cubicBezTo>
                  <a:pt x="45466" y="6513703"/>
                  <a:pt x="0" y="6468237"/>
                  <a:pt x="0" y="6412103"/>
                </a:cubicBezTo>
                <a:close/>
              </a:path>
            </a:pathLst>
          </a:cu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6"/>
          <p:cNvSpPr txBox="1"/>
          <p:nvPr/>
        </p:nvSpPr>
        <p:spPr>
          <a:xfrm>
            <a:off x="6957120" y="3720405"/>
            <a:ext cx="35439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Biological Analogy</a:t>
            </a:r>
            <a:endParaRPr/>
          </a:p>
        </p:txBody>
      </p:sp>
      <p:sp>
        <p:nvSpPr>
          <p:cNvPr id="140" name="Google Shape;140;p16"/>
          <p:cNvSpPr txBox="1"/>
          <p:nvPr/>
        </p:nvSpPr>
        <p:spPr>
          <a:xfrm>
            <a:off x="6957120" y="4266754"/>
            <a:ext cx="4488000" cy="28170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It mimics a biological immune system, autonomously responding to threats and recovering from failures to maintain its "health" and functional integrity, much like how the body repairs itself.</a:t>
            </a:r>
            <a:endParaRPr/>
          </a:p>
        </p:txBody>
      </p:sp>
      <p:sp>
        <p:nvSpPr>
          <p:cNvPr id="141" name="Google Shape;141;p16"/>
          <p:cNvSpPr/>
          <p:nvPr/>
        </p:nvSpPr>
        <p:spPr>
          <a:xfrm>
            <a:off x="12031116" y="3408312"/>
            <a:ext cx="5283613" cy="4923473"/>
          </a:xfrm>
          <a:custGeom>
            <a:avLst/>
            <a:gdLst/>
            <a:ahLst/>
            <a:cxnLst/>
            <a:rect l="l" t="t" r="r" b="b"/>
            <a:pathLst>
              <a:path w="7044817" h="6564630" extrusionOk="0">
                <a:moveTo>
                  <a:pt x="0" y="269240"/>
                </a:moveTo>
                <a:cubicBezTo>
                  <a:pt x="0" y="120523"/>
                  <a:pt x="120650" y="0"/>
                  <a:pt x="269367" y="0"/>
                </a:cubicBezTo>
                <a:lnTo>
                  <a:pt x="6775450" y="0"/>
                </a:lnTo>
                <a:lnTo>
                  <a:pt x="6775450" y="25400"/>
                </a:lnTo>
                <a:lnTo>
                  <a:pt x="6775450" y="0"/>
                </a:lnTo>
                <a:cubicBezTo>
                  <a:pt x="6924167" y="0"/>
                  <a:pt x="7044817" y="120523"/>
                  <a:pt x="7044817" y="269240"/>
                </a:cubicBezTo>
                <a:lnTo>
                  <a:pt x="7019417" y="269240"/>
                </a:lnTo>
                <a:lnTo>
                  <a:pt x="7044817" y="269240"/>
                </a:lnTo>
                <a:lnTo>
                  <a:pt x="7044817" y="6295390"/>
                </a:lnTo>
                <a:lnTo>
                  <a:pt x="7019417" y="6295390"/>
                </a:lnTo>
                <a:lnTo>
                  <a:pt x="7044817" y="6295390"/>
                </a:lnTo>
                <a:cubicBezTo>
                  <a:pt x="7044817" y="6444107"/>
                  <a:pt x="6924167" y="6564630"/>
                  <a:pt x="6775450" y="6564630"/>
                </a:cubicBezTo>
                <a:lnTo>
                  <a:pt x="6775450" y="6539230"/>
                </a:lnTo>
                <a:lnTo>
                  <a:pt x="6775450" y="6564630"/>
                </a:lnTo>
                <a:lnTo>
                  <a:pt x="269367" y="6564630"/>
                </a:lnTo>
                <a:lnTo>
                  <a:pt x="269367" y="6539230"/>
                </a:lnTo>
                <a:lnTo>
                  <a:pt x="269367" y="6564630"/>
                </a:lnTo>
                <a:cubicBezTo>
                  <a:pt x="120650" y="6564503"/>
                  <a:pt x="0" y="6443980"/>
                  <a:pt x="0" y="6295263"/>
                </a:cubicBezTo>
                <a:lnTo>
                  <a:pt x="0" y="269240"/>
                </a:lnTo>
                <a:lnTo>
                  <a:pt x="25400" y="269240"/>
                </a:lnTo>
                <a:lnTo>
                  <a:pt x="0" y="269240"/>
                </a:lnTo>
                <a:moveTo>
                  <a:pt x="50800" y="269240"/>
                </a:moveTo>
                <a:lnTo>
                  <a:pt x="50800" y="6295390"/>
                </a:lnTo>
                <a:lnTo>
                  <a:pt x="25400" y="6295390"/>
                </a:lnTo>
                <a:lnTo>
                  <a:pt x="50800" y="6295390"/>
                </a:lnTo>
                <a:cubicBezTo>
                  <a:pt x="50800" y="6416040"/>
                  <a:pt x="148590" y="6513830"/>
                  <a:pt x="269367" y="6513830"/>
                </a:cubicBezTo>
                <a:lnTo>
                  <a:pt x="6775450" y="6513830"/>
                </a:lnTo>
                <a:cubicBezTo>
                  <a:pt x="6896100" y="6513830"/>
                  <a:pt x="6994017" y="6416040"/>
                  <a:pt x="6994017" y="6295390"/>
                </a:cubicBezTo>
                <a:lnTo>
                  <a:pt x="6994017" y="269240"/>
                </a:lnTo>
                <a:cubicBezTo>
                  <a:pt x="6993890" y="148590"/>
                  <a:pt x="6896100" y="50800"/>
                  <a:pt x="6775450" y="50800"/>
                </a:cubicBezTo>
                <a:lnTo>
                  <a:pt x="269367" y="50800"/>
                </a:lnTo>
                <a:lnTo>
                  <a:pt x="269367" y="25400"/>
                </a:lnTo>
                <a:lnTo>
                  <a:pt x="269367" y="50800"/>
                </a:lnTo>
                <a:cubicBezTo>
                  <a:pt x="148590" y="50800"/>
                  <a:pt x="50800" y="148590"/>
                  <a:pt x="50800" y="269240"/>
                </a:cubicBezTo>
                <a:close/>
              </a:path>
            </a:pathLst>
          </a:custGeom>
          <a:solidFill>
            <a:srgbClr val="C7C7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6"/>
          <p:cNvSpPr/>
          <p:nvPr/>
        </p:nvSpPr>
        <p:spPr>
          <a:xfrm>
            <a:off x="12012066" y="3427362"/>
            <a:ext cx="152400" cy="4885277"/>
          </a:xfrm>
          <a:custGeom>
            <a:avLst/>
            <a:gdLst/>
            <a:ahLst/>
            <a:cxnLst/>
            <a:rect l="l" t="t" r="r" b="b"/>
            <a:pathLst>
              <a:path w="203200" h="6513703" extrusionOk="0">
                <a:moveTo>
                  <a:pt x="0" y="101600"/>
                </a:moveTo>
                <a:cubicBezTo>
                  <a:pt x="0" y="45466"/>
                  <a:pt x="45466" y="0"/>
                  <a:pt x="101600" y="0"/>
                </a:cubicBezTo>
                <a:cubicBezTo>
                  <a:pt x="157734" y="0"/>
                  <a:pt x="203200" y="45466"/>
                  <a:pt x="203200" y="101600"/>
                </a:cubicBezTo>
                <a:lnTo>
                  <a:pt x="203200" y="6412103"/>
                </a:lnTo>
                <a:cubicBezTo>
                  <a:pt x="203200" y="6468237"/>
                  <a:pt x="157734" y="6513703"/>
                  <a:pt x="101600" y="6513703"/>
                </a:cubicBezTo>
                <a:cubicBezTo>
                  <a:pt x="45466" y="6513703"/>
                  <a:pt x="0" y="6468237"/>
                  <a:pt x="0" y="6412103"/>
                </a:cubicBezTo>
                <a:close/>
              </a:path>
            </a:pathLst>
          </a:cu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6"/>
          <p:cNvSpPr txBox="1"/>
          <p:nvPr/>
        </p:nvSpPr>
        <p:spPr>
          <a:xfrm>
            <a:off x="12486085" y="3720405"/>
            <a:ext cx="35439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Core Principle</a:t>
            </a:r>
            <a:endParaRPr/>
          </a:p>
        </p:txBody>
      </p:sp>
      <p:sp>
        <p:nvSpPr>
          <p:cNvPr id="144" name="Google Shape;144;p16"/>
          <p:cNvSpPr txBox="1"/>
          <p:nvPr/>
        </p:nvSpPr>
        <p:spPr>
          <a:xfrm>
            <a:off x="12486085" y="4266754"/>
            <a:ext cx="4488000" cy="37242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A fundamental shift from traditional, reactive maintenance to a proactive, resilient, and autonomous form of remediation where the system dynamically fixes itself, often before human operators are even aware of an issue.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7"/>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ECECF3"/>
          </a:solidFill>
          <a:ln>
            <a:noFill/>
          </a:ln>
        </p:spPr>
      </p:sp>
      <p:sp>
        <p:nvSpPr>
          <p:cNvPr id="147" name="Google Shape;147;p17"/>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FFFFF">
              <a:alpha val="89800"/>
            </a:srgbClr>
          </a:solidFill>
          <a:ln>
            <a:noFill/>
          </a:ln>
        </p:spPr>
      </p:sp>
      <p:sp>
        <p:nvSpPr>
          <p:cNvPr id="148" name="Google Shape;148;p17"/>
          <p:cNvSpPr txBox="1"/>
          <p:nvPr/>
        </p:nvSpPr>
        <p:spPr>
          <a:xfrm>
            <a:off x="992238" y="620316"/>
            <a:ext cx="16303500" cy="1800600"/>
          </a:xfrm>
          <a:prstGeom prst="rect">
            <a:avLst/>
          </a:prstGeom>
          <a:noFill/>
          <a:ln>
            <a:noFill/>
          </a:ln>
        </p:spPr>
        <p:txBody>
          <a:bodyPr spcFirstLastPara="1" wrap="square" lIns="0" tIns="0" rIns="0" bIns="0" anchor="t" anchorCtr="0">
            <a:spAutoFit/>
          </a:bodyPr>
          <a:lstStyle/>
          <a:p>
            <a:pPr marL="0" marR="0" lvl="0" indent="0" algn="l" rtl="0">
              <a:lnSpc>
                <a:spcPct val="124721"/>
              </a:lnSpc>
              <a:spcBef>
                <a:spcPts val="0"/>
              </a:spcBef>
              <a:spcAft>
                <a:spcPts val="0"/>
              </a:spcAft>
              <a:buNone/>
            </a:pPr>
            <a:r>
              <a:rPr lang="en-US" sz="5562" b="0" i="0" u="none" strike="noStrike" cap="none">
                <a:solidFill>
                  <a:srgbClr val="1B1B27"/>
                </a:solidFill>
                <a:latin typeface="Raleway"/>
                <a:ea typeface="Raleway"/>
                <a:cs typeface="Raleway"/>
                <a:sym typeface="Raleway"/>
              </a:rPr>
              <a:t>Problem Definition: Why We Need Self-Healing Systems</a:t>
            </a:r>
            <a:endParaRPr/>
          </a:p>
        </p:txBody>
      </p:sp>
      <p:sp>
        <p:nvSpPr>
          <p:cNvPr id="149" name="Google Shape;149;p17"/>
          <p:cNvSpPr/>
          <p:nvPr/>
        </p:nvSpPr>
        <p:spPr>
          <a:xfrm>
            <a:off x="992238" y="3752552"/>
            <a:ext cx="141732" cy="141732"/>
          </a:xfrm>
          <a:custGeom>
            <a:avLst/>
            <a:gdLst/>
            <a:ahLst/>
            <a:cxnLst/>
            <a:rect l="l" t="t" r="r" b="b"/>
            <a:pathLst>
              <a:path w="188976" h="188976" extrusionOk="0">
                <a:moveTo>
                  <a:pt x="0" y="94488"/>
                </a:moveTo>
                <a:cubicBezTo>
                  <a:pt x="0" y="42291"/>
                  <a:pt x="42291" y="0"/>
                  <a:pt x="94488" y="0"/>
                </a:cubicBezTo>
                <a:cubicBezTo>
                  <a:pt x="146685" y="0"/>
                  <a:pt x="188976" y="42291"/>
                  <a:pt x="188976" y="94488"/>
                </a:cubicBezTo>
                <a:cubicBezTo>
                  <a:pt x="188976" y="146685"/>
                  <a:pt x="146685" y="188976"/>
                  <a:pt x="94488" y="188976"/>
                </a:cubicBezTo>
                <a:cubicBezTo>
                  <a:pt x="42291" y="188976"/>
                  <a:pt x="0" y="146685"/>
                  <a:pt x="0" y="94488"/>
                </a:cubicBezTo>
                <a:close/>
              </a:path>
            </a:pathLst>
          </a:cu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7"/>
          <p:cNvSpPr txBox="1"/>
          <p:nvPr/>
        </p:nvSpPr>
        <p:spPr>
          <a:xfrm>
            <a:off x="1417439" y="3573364"/>
            <a:ext cx="49407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Increasing System Complexity</a:t>
            </a:r>
            <a:endParaRPr/>
          </a:p>
        </p:txBody>
      </p:sp>
      <p:sp>
        <p:nvSpPr>
          <p:cNvPr id="151" name="Google Shape;151;p17"/>
          <p:cNvSpPr txBox="1"/>
          <p:nvPr/>
        </p:nvSpPr>
        <p:spPr>
          <a:xfrm>
            <a:off x="1417439" y="4119711"/>
            <a:ext cx="7549200" cy="19098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Modern architectures involving microservices, serverless computing, and the Internet of Things (IoT) have become too intricate and distributed for effective manual management and debugging.</a:t>
            </a:r>
            <a:endParaRPr/>
          </a:p>
        </p:txBody>
      </p:sp>
      <p:sp>
        <p:nvSpPr>
          <p:cNvPr id="152" name="Google Shape;152;p17"/>
          <p:cNvSpPr/>
          <p:nvPr/>
        </p:nvSpPr>
        <p:spPr>
          <a:xfrm>
            <a:off x="9321105" y="3752552"/>
            <a:ext cx="141732" cy="141732"/>
          </a:xfrm>
          <a:custGeom>
            <a:avLst/>
            <a:gdLst/>
            <a:ahLst/>
            <a:cxnLst/>
            <a:rect l="l" t="t" r="r" b="b"/>
            <a:pathLst>
              <a:path w="188976" h="188976" extrusionOk="0">
                <a:moveTo>
                  <a:pt x="0" y="94488"/>
                </a:moveTo>
                <a:cubicBezTo>
                  <a:pt x="0" y="42291"/>
                  <a:pt x="42291" y="0"/>
                  <a:pt x="94488" y="0"/>
                </a:cubicBezTo>
                <a:cubicBezTo>
                  <a:pt x="146685" y="0"/>
                  <a:pt x="188976" y="42291"/>
                  <a:pt x="188976" y="94488"/>
                </a:cubicBezTo>
                <a:cubicBezTo>
                  <a:pt x="188976" y="146685"/>
                  <a:pt x="146685" y="188976"/>
                  <a:pt x="94488" y="188976"/>
                </a:cubicBezTo>
                <a:cubicBezTo>
                  <a:pt x="42291" y="188976"/>
                  <a:pt x="0" y="146685"/>
                  <a:pt x="0" y="94488"/>
                </a:cubicBezTo>
                <a:close/>
              </a:path>
            </a:pathLst>
          </a:cu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7"/>
          <p:cNvSpPr txBox="1"/>
          <p:nvPr/>
        </p:nvSpPr>
        <p:spPr>
          <a:xfrm>
            <a:off x="9746308" y="3573364"/>
            <a:ext cx="35439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High Cost of Failure</a:t>
            </a:r>
            <a:endParaRPr/>
          </a:p>
        </p:txBody>
      </p:sp>
      <p:sp>
        <p:nvSpPr>
          <p:cNvPr id="154" name="Google Shape;154;p17"/>
          <p:cNvSpPr txBox="1"/>
          <p:nvPr/>
        </p:nvSpPr>
        <p:spPr>
          <a:xfrm>
            <a:off x="9746308" y="4119711"/>
            <a:ext cx="7549500" cy="19098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System downtime leads to major financial losses (e.g., millions per hour for large enterprises), severe reputational damage, and significant safety risks in critical sectors like healthcare, finance, and autonomous vehicles.</a:t>
            </a:r>
            <a:endParaRPr/>
          </a:p>
        </p:txBody>
      </p:sp>
      <p:sp>
        <p:nvSpPr>
          <p:cNvPr id="155" name="Google Shape;155;p17"/>
          <p:cNvSpPr/>
          <p:nvPr/>
        </p:nvSpPr>
        <p:spPr>
          <a:xfrm>
            <a:off x="992238" y="6747122"/>
            <a:ext cx="141732" cy="141732"/>
          </a:xfrm>
          <a:custGeom>
            <a:avLst/>
            <a:gdLst/>
            <a:ahLst/>
            <a:cxnLst/>
            <a:rect l="l" t="t" r="r" b="b"/>
            <a:pathLst>
              <a:path w="188976" h="188976" extrusionOk="0">
                <a:moveTo>
                  <a:pt x="0" y="94488"/>
                </a:moveTo>
                <a:cubicBezTo>
                  <a:pt x="0" y="42291"/>
                  <a:pt x="42291" y="0"/>
                  <a:pt x="94488" y="0"/>
                </a:cubicBezTo>
                <a:cubicBezTo>
                  <a:pt x="146685" y="0"/>
                  <a:pt x="188976" y="42291"/>
                  <a:pt x="188976" y="94488"/>
                </a:cubicBezTo>
                <a:cubicBezTo>
                  <a:pt x="188976" y="146685"/>
                  <a:pt x="146685" y="188976"/>
                  <a:pt x="94488" y="188976"/>
                </a:cubicBezTo>
                <a:cubicBezTo>
                  <a:pt x="42291" y="188976"/>
                  <a:pt x="0" y="146685"/>
                  <a:pt x="0" y="94488"/>
                </a:cubicBezTo>
                <a:close/>
              </a:path>
            </a:pathLst>
          </a:cu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7"/>
          <p:cNvSpPr txBox="1"/>
          <p:nvPr/>
        </p:nvSpPr>
        <p:spPr>
          <a:xfrm>
            <a:off x="1417439" y="6567934"/>
            <a:ext cx="52380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Limitations of Manual Processes</a:t>
            </a:r>
            <a:endParaRPr/>
          </a:p>
        </p:txBody>
      </p:sp>
      <p:sp>
        <p:nvSpPr>
          <p:cNvPr id="157" name="Google Shape;157;p17"/>
          <p:cNvSpPr txBox="1"/>
          <p:nvPr/>
        </p:nvSpPr>
        <p:spPr>
          <a:xfrm>
            <a:off x="1417439" y="7114282"/>
            <a:ext cx="7549200" cy="19098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Traditional debugging and incident response are slow, heavily rely on human expertise, and cannot keep pace with the speed of modern DevOps and continuous deployment pipelines, leading to alert fatigue.</a:t>
            </a:r>
            <a:endParaRPr/>
          </a:p>
        </p:txBody>
      </p:sp>
      <p:sp>
        <p:nvSpPr>
          <p:cNvPr id="158" name="Google Shape;158;p17"/>
          <p:cNvSpPr/>
          <p:nvPr/>
        </p:nvSpPr>
        <p:spPr>
          <a:xfrm>
            <a:off x="9321105" y="6747122"/>
            <a:ext cx="141732" cy="141732"/>
          </a:xfrm>
          <a:custGeom>
            <a:avLst/>
            <a:gdLst/>
            <a:ahLst/>
            <a:cxnLst/>
            <a:rect l="l" t="t" r="r" b="b"/>
            <a:pathLst>
              <a:path w="188976" h="188976" extrusionOk="0">
                <a:moveTo>
                  <a:pt x="0" y="94488"/>
                </a:moveTo>
                <a:cubicBezTo>
                  <a:pt x="0" y="42291"/>
                  <a:pt x="42291" y="0"/>
                  <a:pt x="94488" y="0"/>
                </a:cubicBezTo>
                <a:cubicBezTo>
                  <a:pt x="146685" y="0"/>
                  <a:pt x="188976" y="42291"/>
                  <a:pt x="188976" y="94488"/>
                </a:cubicBezTo>
                <a:cubicBezTo>
                  <a:pt x="188976" y="146685"/>
                  <a:pt x="146685" y="188976"/>
                  <a:pt x="94488" y="188976"/>
                </a:cubicBezTo>
                <a:cubicBezTo>
                  <a:pt x="42291" y="188976"/>
                  <a:pt x="0" y="146685"/>
                  <a:pt x="0" y="94488"/>
                </a:cubicBezTo>
                <a:close/>
              </a:path>
            </a:pathLst>
          </a:cu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7"/>
          <p:cNvSpPr txBox="1"/>
          <p:nvPr/>
        </p:nvSpPr>
        <p:spPr>
          <a:xfrm>
            <a:off x="9746308" y="6567934"/>
            <a:ext cx="55821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Need for Uninterrupted Resilience</a:t>
            </a:r>
            <a:endParaRPr/>
          </a:p>
        </p:txBody>
      </p:sp>
      <p:sp>
        <p:nvSpPr>
          <p:cNvPr id="160" name="Google Shape;160;p17"/>
          <p:cNvSpPr txBox="1"/>
          <p:nvPr/>
        </p:nvSpPr>
        <p:spPr>
          <a:xfrm>
            <a:off x="9746308" y="7114282"/>
            <a:ext cx="7549500" cy="19098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24/7 availability and seamless performance are now standard business and user requirements. Self-healing enables systems to maintain these SLAs even in the face of unexpected failures or adversarial attacks.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8"/>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ECECF3"/>
          </a:solidFill>
          <a:ln>
            <a:noFill/>
          </a:ln>
        </p:spPr>
      </p:sp>
      <p:sp>
        <p:nvSpPr>
          <p:cNvPr id="163" name="Google Shape;163;p18"/>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FFFFF">
              <a:alpha val="89800"/>
            </a:srgbClr>
          </a:solidFill>
          <a:ln>
            <a:noFill/>
          </a:ln>
        </p:spPr>
      </p:sp>
      <p:sp>
        <p:nvSpPr>
          <p:cNvPr id="164" name="Google Shape;164;p18"/>
          <p:cNvSpPr txBox="1"/>
          <p:nvPr/>
        </p:nvSpPr>
        <p:spPr>
          <a:xfrm>
            <a:off x="992238" y="759619"/>
            <a:ext cx="9425400" cy="914400"/>
          </a:xfrm>
          <a:prstGeom prst="rect">
            <a:avLst/>
          </a:prstGeom>
          <a:noFill/>
          <a:ln>
            <a:noFill/>
          </a:ln>
        </p:spPr>
        <p:txBody>
          <a:bodyPr spcFirstLastPara="1" wrap="square" lIns="0" tIns="0" rIns="0" bIns="0" anchor="t" anchorCtr="0">
            <a:spAutoFit/>
          </a:bodyPr>
          <a:lstStyle/>
          <a:p>
            <a:pPr marL="0" marR="0" lvl="0" indent="0" algn="l" rtl="0">
              <a:lnSpc>
                <a:spcPct val="124721"/>
              </a:lnSpc>
              <a:spcBef>
                <a:spcPts val="0"/>
              </a:spcBef>
              <a:spcAft>
                <a:spcPts val="0"/>
              </a:spcAft>
              <a:buNone/>
            </a:pPr>
            <a:r>
              <a:rPr lang="en-US" sz="5562" b="0" i="0" u="none" strike="noStrike" cap="none">
                <a:solidFill>
                  <a:srgbClr val="1B1B27"/>
                </a:solidFill>
                <a:latin typeface="Raleway"/>
                <a:ea typeface="Raleway"/>
                <a:cs typeface="Raleway"/>
                <a:sym typeface="Raleway"/>
              </a:rPr>
              <a:t>Objective: Defining the Goals</a:t>
            </a:r>
            <a:endParaRPr/>
          </a:p>
        </p:txBody>
      </p:sp>
      <p:sp>
        <p:nvSpPr>
          <p:cNvPr id="165" name="Google Shape;165;p18"/>
          <p:cNvSpPr txBox="1"/>
          <p:nvPr/>
        </p:nvSpPr>
        <p:spPr>
          <a:xfrm>
            <a:off x="992237" y="2136427"/>
            <a:ext cx="16303500" cy="912900"/>
          </a:xfrm>
          <a:prstGeom prst="rect">
            <a:avLst/>
          </a:prstGeom>
          <a:noFill/>
          <a:ln>
            <a:noFill/>
          </a:ln>
        </p:spPr>
        <p:txBody>
          <a:bodyPr spcFirstLastPara="1" wrap="square" lIns="0" tIns="0" rIns="0" bIns="0" anchor="t" anchorCtr="0">
            <a:spAutoFit/>
          </a:bodyPr>
          <a:lstStyle/>
          <a:p>
            <a:pPr marL="0" marR="0" lvl="0" indent="0" algn="l" rtl="0">
              <a:lnSpc>
                <a:spcPct val="162896"/>
              </a:lnSpc>
              <a:spcBef>
                <a:spcPts val="0"/>
              </a:spcBef>
              <a:spcAft>
                <a:spcPts val="0"/>
              </a:spcAft>
              <a:buNone/>
            </a:pPr>
            <a:r>
              <a:rPr lang="en-US" sz="2299" b="0" i="0" u="none" strike="noStrike" cap="none">
                <a:solidFill>
                  <a:srgbClr val="3C3939"/>
                </a:solidFill>
                <a:latin typeface="Roboto"/>
                <a:ea typeface="Roboto"/>
                <a:cs typeface="Roboto"/>
                <a:sym typeface="Roboto"/>
              </a:rPr>
              <a:t>The primary objective of self-healing software is to create systems that autonomously maintain their operational integrity, ensuring high availability, reliability, and security with minimal human oversight, thereby fostering true system resilience.</a:t>
            </a:r>
            <a:endParaRPr/>
          </a:p>
        </p:txBody>
      </p:sp>
      <p:sp>
        <p:nvSpPr>
          <p:cNvPr id="166" name="Google Shape;166;p18" descr="preencoded.png"/>
          <p:cNvSpPr/>
          <p:nvPr/>
        </p:nvSpPr>
        <p:spPr>
          <a:xfrm>
            <a:off x="992238" y="3467398"/>
            <a:ext cx="850582" cy="850582"/>
          </a:xfrm>
          <a:custGeom>
            <a:avLst/>
            <a:gdLst/>
            <a:ahLst/>
            <a:cxnLst/>
            <a:rect l="l" t="t" r="r" b="b"/>
            <a:pathLst>
              <a:path w="1134110" h="1134110" extrusionOk="0">
                <a:moveTo>
                  <a:pt x="0" y="0"/>
                </a:moveTo>
                <a:lnTo>
                  <a:pt x="1134110" y="0"/>
                </a:lnTo>
                <a:lnTo>
                  <a:pt x="1134110" y="1134110"/>
                </a:lnTo>
                <a:lnTo>
                  <a:pt x="0" y="1134110"/>
                </a:lnTo>
                <a:lnTo>
                  <a:pt x="0" y="0"/>
                </a:lnTo>
                <a:close/>
              </a:path>
            </a:pathLst>
          </a:custGeom>
          <a:blipFill rotWithShape="1">
            <a:blip r:embed="rId3">
              <a:alphaModFix/>
            </a:blip>
            <a:stretch>
              <a:fillRect/>
            </a:stretch>
          </a:blipFill>
          <a:ln>
            <a:noFill/>
          </a:ln>
        </p:spPr>
      </p:sp>
      <p:sp>
        <p:nvSpPr>
          <p:cNvPr id="167" name="Google Shape;167;p18"/>
          <p:cNvSpPr txBox="1"/>
          <p:nvPr/>
        </p:nvSpPr>
        <p:spPr>
          <a:xfrm>
            <a:off x="2197150" y="3677990"/>
            <a:ext cx="45294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Minimize System Downtime</a:t>
            </a:r>
            <a:endParaRPr/>
          </a:p>
        </p:txBody>
      </p:sp>
      <p:sp>
        <p:nvSpPr>
          <p:cNvPr id="168" name="Google Shape;168;p18"/>
          <p:cNvSpPr txBox="1"/>
          <p:nvPr/>
        </p:nvSpPr>
        <p:spPr>
          <a:xfrm>
            <a:off x="2197150" y="4224338"/>
            <a:ext cx="6769500" cy="14562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Achieve near-zero downtime by rapidly detecting and resolving issues, often before users are impacted, reducing Mean Time To Recovery (MTTR).</a:t>
            </a:r>
            <a:endParaRPr/>
          </a:p>
        </p:txBody>
      </p:sp>
      <p:sp>
        <p:nvSpPr>
          <p:cNvPr id="169" name="Google Shape;169;p18" descr="preencoded.png"/>
          <p:cNvSpPr/>
          <p:nvPr/>
        </p:nvSpPr>
        <p:spPr>
          <a:xfrm>
            <a:off x="9321105" y="3467398"/>
            <a:ext cx="850582" cy="850582"/>
          </a:xfrm>
          <a:custGeom>
            <a:avLst/>
            <a:gdLst/>
            <a:ahLst/>
            <a:cxnLst/>
            <a:rect l="l" t="t" r="r" b="b"/>
            <a:pathLst>
              <a:path w="1134110" h="1134110" extrusionOk="0">
                <a:moveTo>
                  <a:pt x="0" y="0"/>
                </a:moveTo>
                <a:lnTo>
                  <a:pt x="1134110" y="0"/>
                </a:lnTo>
                <a:lnTo>
                  <a:pt x="1134110" y="1134110"/>
                </a:lnTo>
                <a:lnTo>
                  <a:pt x="0" y="1134110"/>
                </a:lnTo>
                <a:lnTo>
                  <a:pt x="0" y="0"/>
                </a:lnTo>
                <a:close/>
              </a:path>
            </a:pathLst>
          </a:custGeom>
          <a:blipFill rotWithShape="1">
            <a:blip r:embed="rId4">
              <a:alphaModFix/>
            </a:blip>
            <a:stretch>
              <a:fillRect/>
            </a:stretch>
          </a:blipFill>
          <a:ln>
            <a:noFill/>
          </a:ln>
        </p:spPr>
      </p:sp>
      <p:sp>
        <p:nvSpPr>
          <p:cNvPr id="170" name="Google Shape;170;p18"/>
          <p:cNvSpPr txBox="1"/>
          <p:nvPr/>
        </p:nvSpPr>
        <p:spPr>
          <a:xfrm>
            <a:off x="10526017" y="3677990"/>
            <a:ext cx="44043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Enhance System Reliability</a:t>
            </a:r>
            <a:endParaRPr/>
          </a:p>
        </p:txBody>
      </p:sp>
      <p:sp>
        <p:nvSpPr>
          <p:cNvPr id="171" name="Google Shape;171;p18"/>
          <p:cNvSpPr txBox="1"/>
          <p:nvPr/>
        </p:nvSpPr>
        <p:spPr>
          <a:xfrm>
            <a:off x="10526017" y="4224338"/>
            <a:ext cx="6769800" cy="14562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Improve overall system robustness and predictability by proactively mitigating risks and automating error correction, leading to consistent performance.</a:t>
            </a:r>
            <a:endParaRPr/>
          </a:p>
        </p:txBody>
      </p:sp>
      <p:sp>
        <p:nvSpPr>
          <p:cNvPr id="172" name="Google Shape;172;p18" descr="preencoded.png"/>
          <p:cNvSpPr/>
          <p:nvPr/>
        </p:nvSpPr>
        <p:spPr>
          <a:xfrm>
            <a:off x="992238" y="6389191"/>
            <a:ext cx="850582" cy="850582"/>
          </a:xfrm>
          <a:custGeom>
            <a:avLst/>
            <a:gdLst/>
            <a:ahLst/>
            <a:cxnLst/>
            <a:rect l="l" t="t" r="r" b="b"/>
            <a:pathLst>
              <a:path w="1134110" h="1134110" extrusionOk="0">
                <a:moveTo>
                  <a:pt x="0" y="0"/>
                </a:moveTo>
                <a:lnTo>
                  <a:pt x="1134110" y="0"/>
                </a:lnTo>
                <a:lnTo>
                  <a:pt x="1134110" y="1134110"/>
                </a:lnTo>
                <a:lnTo>
                  <a:pt x="0" y="1134110"/>
                </a:lnTo>
                <a:lnTo>
                  <a:pt x="0" y="0"/>
                </a:lnTo>
                <a:close/>
              </a:path>
            </a:pathLst>
          </a:custGeom>
          <a:blipFill rotWithShape="1">
            <a:blip r:embed="rId5">
              <a:alphaModFix/>
            </a:blip>
            <a:stretch>
              <a:fillRect/>
            </a:stretch>
          </a:blipFill>
          <a:ln>
            <a:noFill/>
          </a:ln>
        </p:spPr>
      </p:sp>
      <p:sp>
        <p:nvSpPr>
          <p:cNvPr id="173" name="Google Shape;173;p18"/>
          <p:cNvSpPr txBox="1"/>
          <p:nvPr/>
        </p:nvSpPr>
        <p:spPr>
          <a:xfrm>
            <a:off x="2197150" y="6599784"/>
            <a:ext cx="6769500" cy="9144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Reduce Human Intervention and Maintenance Costs</a:t>
            </a:r>
            <a:endParaRPr/>
          </a:p>
        </p:txBody>
      </p:sp>
      <p:sp>
        <p:nvSpPr>
          <p:cNvPr id="174" name="Google Shape;174;p18"/>
          <p:cNvSpPr txBox="1"/>
          <p:nvPr/>
        </p:nvSpPr>
        <p:spPr>
          <a:xfrm>
            <a:off x="2197150" y="7589044"/>
            <a:ext cx="6769500" cy="19098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Automate routine operational tasks, freeing up engineers to focus on innovation rather than fire-fighting, and significantly lowering operational expenses.</a:t>
            </a:r>
            <a:endParaRPr/>
          </a:p>
        </p:txBody>
      </p:sp>
      <p:sp>
        <p:nvSpPr>
          <p:cNvPr id="175" name="Google Shape;175;p18" descr="preencoded.png"/>
          <p:cNvSpPr/>
          <p:nvPr/>
        </p:nvSpPr>
        <p:spPr>
          <a:xfrm>
            <a:off x="9321105" y="6389191"/>
            <a:ext cx="850582" cy="850582"/>
          </a:xfrm>
          <a:custGeom>
            <a:avLst/>
            <a:gdLst/>
            <a:ahLst/>
            <a:cxnLst/>
            <a:rect l="l" t="t" r="r" b="b"/>
            <a:pathLst>
              <a:path w="1134110" h="1134110" extrusionOk="0">
                <a:moveTo>
                  <a:pt x="0" y="0"/>
                </a:moveTo>
                <a:lnTo>
                  <a:pt x="1134110" y="0"/>
                </a:lnTo>
                <a:lnTo>
                  <a:pt x="1134110" y="1134110"/>
                </a:lnTo>
                <a:lnTo>
                  <a:pt x="0" y="1134110"/>
                </a:lnTo>
                <a:lnTo>
                  <a:pt x="0" y="0"/>
                </a:lnTo>
                <a:close/>
              </a:path>
            </a:pathLst>
          </a:custGeom>
          <a:blipFill rotWithShape="1">
            <a:blip r:embed="rId6">
              <a:alphaModFix/>
            </a:blip>
            <a:stretch>
              <a:fillRect/>
            </a:stretch>
          </a:blipFill>
          <a:ln>
            <a:noFill/>
          </a:ln>
        </p:spPr>
      </p:sp>
      <p:sp>
        <p:nvSpPr>
          <p:cNvPr id="176" name="Google Shape;176;p18"/>
          <p:cNvSpPr txBox="1"/>
          <p:nvPr/>
        </p:nvSpPr>
        <p:spPr>
          <a:xfrm>
            <a:off x="10526017" y="6599784"/>
            <a:ext cx="35439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Improve Security</a:t>
            </a:r>
            <a:endParaRPr/>
          </a:p>
        </p:txBody>
      </p:sp>
      <p:sp>
        <p:nvSpPr>
          <p:cNvPr id="177" name="Google Shape;177;p18"/>
          <p:cNvSpPr txBox="1"/>
          <p:nvPr/>
        </p:nvSpPr>
        <p:spPr>
          <a:xfrm>
            <a:off x="10526017" y="7146131"/>
            <a:ext cx="6769800" cy="19098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Autonomously detect and patch vulnerabilities or isolate compromised components in real-time, significantly enhancing the system's defensive posture against cyber threats.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1"/>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ECECF3"/>
          </a:solidFill>
          <a:ln>
            <a:noFill/>
          </a:ln>
        </p:spPr>
      </p:sp>
      <p:sp>
        <p:nvSpPr>
          <p:cNvPr id="453" name="Google Shape;453;p1"/>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FFFFF">
              <a:alpha val="89410"/>
            </a:srgbClr>
          </a:solidFill>
          <a:ln>
            <a:noFill/>
          </a:ln>
        </p:spPr>
      </p:sp>
      <p:sp>
        <p:nvSpPr>
          <p:cNvPr id="454" name="Google Shape;454;p1"/>
          <p:cNvSpPr txBox="1"/>
          <p:nvPr/>
        </p:nvSpPr>
        <p:spPr>
          <a:xfrm>
            <a:off x="922723" y="706931"/>
            <a:ext cx="15469200" cy="990900"/>
          </a:xfrm>
          <a:prstGeom prst="rect">
            <a:avLst/>
          </a:prstGeom>
          <a:noFill/>
          <a:ln>
            <a:noFill/>
          </a:ln>
        </p:spPr>
        <p:txBody>
          <a:bodyPr spcFirstLastPara="1" wrap="square" lIns="0" tIns="0" rIns="0" bIns="0" anchor="t" anchorCtr="0">
            <a:spAutoFit/>
          </a:bodyPr>
          <a:lstStyle/>
          <a:p>
            <a:pPr marL="0" marR="0" lvl="0" indent="0" algn="l" rtl="0">
              <a:lnSpc>
                <a:spcPct val="124098"/>
              </a:lnSpc>
              <a:spcBef>
                <a:spcPts val="0"/>
              </a:spcBef>
              <a:spcAft>
                <a:spcPts val="0"/>
              </a:spcAft>
              <a:buClr>
                <a:srgbClr val="1B1B27"/>
              </a:buClr>
              <a:buSzPts val="5187"/>
              <a:buFont typeface="Raleway"/>
              <a:buNone/>
            </a:pPr>
            <a:r>
              <a:rPr lang="en-US" sz="5187" b="0" i="0" u="none" strike="noStrike" cap="none">
                <a:solidFill>
                  <a:srgbClr val="1B1B27"/>
                </a:solidFill>
                <a:latin typeface="Raleway"/>
                <a:ea typeface="Raleway"/>
                <a:cs typeface="Raleway"/>
                <a:sym typeface="Raleway"/>
              </a:rPr>
              <a:t>Historical Evolution: The Path to Autonomy</a:t>
            </a:r>
            <a:endParaRPr sz="1800" b="0" i="0" u="none" strike="noStrike" cap="none">
              <a:solidFill>
                <a:schemeClr val="lt1"/>
              </a:solidFill>
              <a:latin typeface="Arial"/>
              <a:ea typeface="Arial"/>
              <a:cs typeface="Arial"/>
              <a:sym typeface="Arial"/>
            </a:endParaRPr>
          </a:p>
        </p:txBody>
      </p:sp>
      <p:sp>
        <p:nvSpPr>
          <p:cNvPr id="455" name="Google Shape;455;p1"/>
          <p:cNvSpPr/>
          <p:nvPr/>
        </p:nvSpPr>
        <p:spPr>
          <a:xfrm>
            <a:off x="922735" y="5819031"/>
            <a:ext cx="16442531" cy="28575"/>
          </a:xfrm>
          <a:custGeom>
            <a:avLst/>
            <a:gdLst/>
            <a:ahLst/>
            <a:cxnLst/>
            <a:rect l="l" t="t" r="r" b="b"/>
            <a:pathLst>
              <a:path w="21923375" h="38100" extrusionOk="0">
                <a:moveTo>
                  <a:pt x="0" y="19050"/>
                </a:moveTo>
                <a:cubicBezTo>
                  <a:pt x="0" y="8509"/>
                  <a:pt x="8509" y="0"/>
                  <a:pt x="19050" y="0"/>
                </a:cubicBezTo>
                <a:lnTo>
                  <a:pt x="21904325" y="0"/>
                </a:lnTo>
                <a:cubicBezTo>
                  <a:pt x="21914865" y="0"/>
                  <a:pt x="21923375" y="8509"/>
                  <a:pt x="21923375" y="19050"/>
                </a:cubicBezTo>
                <a:cubicBezTo>
                  <a:pt x="21923375" y="29591"/>
                  <a:pt x="21914865" y="38100"/>
                  <a:pt x="21904325" y="38100"/>
                </a:cubicBezTo>
                <a:lnTo>
                  <a:pt x="19050" y="38100"/>
                </a:lnTo>
                <a:cubicBezTo>
                  <a:pt x="8509" y="38100"/>
                  <a:pt x="0" y="29591"/>
                  <a:pt x="0" y="19050"/>
                </a:cubicBezTo>
                <a:close/>
              </a:path>
            </a:pathLst>
          </a:custGeom>
          <a:solidFill>
            <a:srgbClr val="C7C7D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lt1"/>
              </a:buClr>
              <a:buSzPts val="1800"/>
              <a:buFont typeface="Arial"/>
              <a:buNone/>
            </a:pPr>
            <a:endParaRPr sz="1800" b="0" i="0" u="none" strike="noStrike" cap="none">
              <a:solidFill>
                <a:schemeClr val="lt1"/>
              </a:solidFill>
              <a:latin typeface="Arial"/>
              <a:ea typeface="Arial"/>
              <a:cs typeface="Arial"/>
              <a:sym typeface="Arial"/>
            </a:endParaRPr>
          </a:p>
        </p:txBody>
      </p:sp>
      <p:sp>
        <p:nvSpPr>
          <p:cNvPr id="456" name="Google Shape;456;p1"/>
          <p:cNvSpPr/>
          <p:nvPr/>
        </p:nvSpPr>
        <p:spPr>
          <a:xfrm>
            <a:off x="4097834" y="5028232"/>
            <a:ext cx="28575" cy="790861"/>
          </a:xfrm>
          <a:custGeom>
            <a:avLst/>
            <a:gdLst/>
            <a:ahLst/>
            <a:cxnLst/>
            <a:rect l="l" t="t" r="r" b="b"/>
            <a:pathLst>
              <a:path w="38100" h="1054481" extrusionOk="0">
                <a:moveTo>
                  <a:pt x="0" y="19050"/>
                </a:moveTo>
                <a:cubicBezTo>
                  <a:pt x="0" y="8509"/>
                  <a:pt x="8509" y="0"/>
                  <a:pt x="19050" y="0"/>
                </a:cubicBezTo>
                <a:cubicBezTo>
                  <a:pt x="29591" y="0"/>
                  <a:pt x="38100" y="8509"/>
                  <a:pt x="38100" y="19050"/>
                </a:cubicBezTo>
                <a:lnTo>
                  <a:pt x="38100" y="1035431"/>
                </a:lnTo>
                <a:cubicBezTo>
                  <a:pt x="38100" y="1045972"/>
                  <a:pt x="29591" y="1054481"/>
                  <a:pt x="19050" y="1054481"/>
                </a:cubicBezTo>
                <a:cubicBezTo>
                  <a:pt x="8509" y="1054481"/>
                  <a:pt x="0" y="1045972"/>
                  <a:pt x="0" y="1035431"/>
                </a:cubicBezTo>
                <a:close/>
              </a:path>
            </a:pathLst>
          </a:custGeom>
          <a:solidFill>
            <a:srgbClr val="C7C7D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lt1"/>
              </a:buClr>
              <a:buSzPts val="1800"/>
              <a:buFont typeface="Arial"/>
              <a:buNone/>
            </a:pPr>
            <a:endParaRPr sz="1800" b="0" i="0" u="none" strike="noStrike" cap="none">
              <a:solidFill>
                <a:schemeClr val="lt1"/>
              </a:solidFill>
              <a:latin typeface="Arial"/>
              <a:ea typeface="Arial"/>
              <a:cs typeface="Arial"/>
              <a:sym typeface="Arial"/>
            </a:endParaRPr>
          </a:p>
        </p:txBody>
      </p:sp>
      <p:grpSp>
        <p:nvGrpSpPr>
          <p:cNvPr id="457" name="Google Shape;457;p1"/>
          <p:cNvGrpSpPr/>
          <p:nvPr/>
        </p:nvGrpSpPr>
        <p:grpSpPr>
          <a:xfrm>
            <a:off x="3810892" y="5517729"/>
            <a:ext cx="602647" cy="602647"/>
            <a:chOff x="0" y="0"/>
            <a:chExt cx="803529" cy="803529"/>
          </a:xfrm>
        </p:grpSpPr>
        <p:sp>
          <p:nvSpPr>
            <p:cNvPr id="458" name="Google Shape;458;p1"/>
            <p:cNvSpPr/>
            <p:nvPr/>
          </p:nvSpPr>
          <p:spPr>
            <a:xfrm>
              <a:off x="6350" y="6350"/>
              <a:ext cx="790829" cy="790829"/>
            </a:xfrm>
            <a:custGeom>
              <a:avLst/>
              <a:gdLst/>
              <a:ahLst/>
              <a:cxnLst/>
              <a:rect l="l" t="t" r="r" b="b"/>
              <a:pathLst>
                <a:path w="790829" h="790829" extrusionOk="0">
                  <a:moveTo>
                    <a:pt x="0" y="147701"/>
                  </a:moveTo>
                  <a:cubicBezTo>
                    <a:pt x="0" y="66040"/>
                    <a:pt x="66040" y="0"/>
                    <a:pt x="147701" y="0"/>
                  </a:cubicBezTo>
                  <a:lnTo>
                    <a:pt x="643128" y="0"/>
                  </a:lnTo>
                  <a:cubicBezTo>
                    <a:pt x="724662" y="0"/>
                    <a:pt x="790829" y="66040"/>
                    <a:pt x="790829" y="147701"/>
                  </a:cubicBezTo>
                  <a:lnTo>
                    <a:pt x="790829" y="643128"/>
                  </a:lnTo>
                  <a:cubicBezTo>
                    <a:pt x="790829" y="724662"/>
                    <a:pt x="724789" y="790829"/>
                    <a:pt x="643128" y="790829"/>
                  </a:cubicBezTo>
                  <a:lnTo>
                    <a:pt x="147701" y="790829"/>
                  </a:lnTo>
                  <a:cubicBezTo>
                    <a:pt x="66040" y="790829"/>
                    <a:pt x="0" y="724662"/>
                    <a:pt x="0" y="643128"/>
                  </a:cubicBezTo>
                  <a:close/>
                </a:path>
              </a:pathLst>
            </a:custGeom>
            <a:solidFill>
              <a:srgbClr val="E1E1EA"/>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lt1"/>
                </a:buClr>
                <a:buSzPts val="1800"/>
                <a:buFont typeface="Arial"/>
                <a:buNone/>
              </a:pPr>
              <a:endParaRPr sz="1800" b="0" i="0" u="none" strike="noStrike" cap="none">
                <a:solidFill>
                  <a:schemeClr val="lt1"/>
                </a:solidFill>
                <a:latin typeface="Arial"/>
                <a:ea typeface="Arial"/>
                <a:cs typeface="Arial"/>
                <a:sym typeface="Arial"/>
              </a:endParaRPr>
            </a:p>
          </p:txBody>
        </p:sp>
        <p:sp>
          <p:nvSpPr>
            <p:cNvPr id="459" name="Google Shape;459;p1"/>
            <p:cNvSpPr/>
            <p:nvPr/>
          </p:nvSpPr>
          <p:spPr>
            <a:xfrm>
              <a:off x="0" y="0"/>
              <a:ext cx="803529" cy="803529"/>
            </a:xfrm>
            <a:custGeom>
              <a:avLst/>
              <a:gdLst/>
              <a:ahLst/>
              <a:cxnLst/>
              <a:rect l="l" t="t" r="r" b="b"/>
              <a:pathLst>
                <a:path w="803529" h="803529" extrusionOk="0">
                  <a:moveTo>
                    <a:pt x="0" y="154051"/>
                  </a:moveTo>
                  <a:cubicBezTo>
                    <a:pt x="0" y="68961"/>
                    <a:pt x="68961" y="0"/>
                    <a:pt x="154051" y="0"/>
                  </a:cubicBezTo>
                  <a:lnTo>
                    <a:pt x="649478" y="0"/>
                  </a:lnTo>
                  <a:lnTo>
                    <a:pt x="649478" y="6350"/>
                  </a:lnTo>
                  <a:lnTo>
                    <a:pt x="649478" y="0"/>
                  </a:lnTo>
                  <a:cubicBezTo>
                    <a:pt x="734568" y="0"/>
                    <a:pt x="803529" y="68961"/>
                    <a:pt x="803529" y="154051"/>
                  </a:cubicBezTo>
                  <a:lnTo>
                    <a:pt x="797179" y="154051"/>
                  </a:lnTo>
                  <a:lnTo>
                    <a:pt x="803529" y="154051"/>
                  </a:lnTo>
                  <a:lnTo>
                    <a:pt x="803529" y="649478"/>
                  </a:lnTo>
                  <a:lnTo>
                    <a:pt x="797179" y="649478"/>
                  </a:lnTo>
                  <a:lnTo>
                    <a:pt x="803529" y="649478"/>
                  </a:lnTo>
                  <a:cubicBezTo>
                    <a:pt x="803529" y="734568"/>
                    <a:pt x="734568" y="803529"/>
                    <a:pt x="649478" y="803529"/>
                  </a:cubicBezTo>
                  <a:lnTo>
                    <a:pt x="649478" y="797179"/>
                  </a:lnTo>
                  <a:lnTo>
                    <a:pt x="649478" y="803529"/>
                  </a:lnTo>
                  <a:lnTo>
                    <a:pt x="154051" y="803529"/>
                  </a:lnTo>
                  <a:lnTo>
                    <a:pt x="154051" y="797179"/>
                  </a:lnTo>
                  <a:lnTo>
                    <a:pt x="154051" y="803529"/>
                  </a:lnTo>
                  <a:cubicBezTo>
                    <a:pt x="68961" y="803529"/>
                    <a:pt x="0" y="734568"/>
                    <a:pt x="0" y="649478"/>
                  </a:cubicBezTo>
                  <a:lnTo>
                    <a:pt x="0" y="154051"/>
                  </a:lnTo>
                  <a:lnTo>
                    <a:pt x="6350" y="154051"/>
                  </a:lnTo>
                  <a:lnTo>
                    <a:pt x="0" y="154051"/>
                  </a:lnTo>
                  <a:moveTo>
                    <a:pt x="12700" y="154051"/>
                  </a:moveTo>
                  <a:lnTo>
                    <a:pt x="12700" y="649478"/>
                  </a:lnTo>
                  <a:lnTo>
                    <a:pt x="6350" y="649478"/>
                  </a:lnTo>
                  <a:lnTo>
                    <a:pt x="12700" y="649478"/>
                  </a:lnTo>
                  <a:cubicBezTo>
                    <a:pt x="12700" y="727456"/>
                    <a:pt x="75946" y="790829"/>
                    <a:pt x="154051" y="790829"/>
                  </a:cubicBezTo>
                  <a:lnTo>
                    <a:pt x="649478" y="790829"/>
                  </a:lnTo>
                  <a:cubicBezTo>
                    <a:pt x="727456" y="790829"/>
                    <a:pt x="790829" y="727583"/>
                    <a:pt x="790829" y="649478"/>
                  </a:cubicBezTo>
                  <a:lnTo>
                    <a:pt x="790829" y="154051"/>
                  </a:lnTo>
                  <a:cubicBezTo>
                    <a:pt x="790829" y="75946"/>
                    <a:pt x="727456" y="12700"/>
                    <a:pt x="649478" y="12700"/>
                  </a:cubicBezTo>
                  <a:lnTo>
                    <a:pt x="154051" y="12700"/>
                  </a:lnTo>
                  <a:lnTo>
                    <a:pt x="154051" y="6350"/>
                  </a:lnTo>
                  <a:lnTo>
                    <a:pt x="154051" y="12700"/>
                  </a:lnTo>
                  <a:cubicBezTo>
                    <a:pt x="75946" y="12700"/>
                    <a:pt x="12700" y="75946"/>
                    <a:pt x="12700" y="154051"/>
                  </a:cubicBezTo>
                  <a:close/>
                </a:path>
              </a:pathLst>
            </a:custGeom>
            <a:solidFill>
              <a:srgbClr val="C7C7D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lt1"/>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460" name="Google Shape;460;p1"/>
          <p:cNvSpPr txBox="1"/>
          <p:nvPr/>
        </p:nvSpPr>
        <p:spPr>
          <a:xfrm>
            <a:off x="3914402" y="5619452"/>
            <a:ext cx="395400" cy="4467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3C3939"/>
              </a:buClr>
              <a:buSzPts val="3062"/>
              <a:buFont typeface="Raleway"/>
              <a:buNone/>
            </a:pPr>
            <a:r>
              <a:rPr lang="en-US" sz="3062" b="0" i="0" u="none" strike="noStrike" cap="none">
                <a:solidFill>
                  <a:srgbClr val="3C3939"/>
                </a:solidFill>
                <a:latin typeface="Raleway"/>
                <a:ea typeface="Raleway"/>
                <a:cs typeface="Raleway"/>
                <a:sym typeface="Raleway"/>
              </a:rPr>
              <a:t>1</a:t>
            </a:r>
            <a:endParaRPr sz="1800" b="0" i="0" u="none" strike="noStrike" cap="none">
              <a:solidFill>
                <a:schemeClr val="lt1"/>
              </a:solidFill>
              <a:latin typeface="Arial"/>
              <a:ea typeface="Arial"/>
              <a:cs typeface="Arial"/>
              <a:sym typeface="Arial"/>
            </a:endParaRPr>
          </a:p>
        </p:txBody>
      </p:sp>
      <p:sp>
        <p:nvSpPr>
          <p:cNvPr id="461" name="Google Shape;461;p1"/>
          <p:cNvSpPr txBox="1"/>
          <p:nvPr/>
        </p:nvSpPr>
        <p:spPr>
          <a:xfrm>
            <a:off x="2363241" y="2489150"/>
            <a:ext cx="3788700" cy="404700"/>
          </a:xfrm>
          <a:prstGeom prst="rect">
            <a:avLst/>
          </a:prstGeom>
          <a:noFill/>
          <a:ln>
            <a:noFill/>
          </a:ln>
        </p:spPr>
        <p:txBody>
          <a:bodyPr spcFirstLastPara="1" wrap="square" lIns="0" tIns="0" rIns="0" bIns="0" anchor="t" anchorCtr="0">
            <a:spAutoFit/>
          </a:bodyPr>
          <a:lstStyle/>
          <a:p>
            <a:pPr marL="0" marR="0" lvl="0" indent="0" algn="ctr" rtl="0">
              <a:lnSpc>
                <a:spcPct val="124395"/>
              </a:lnSpc>
              <a:spcBef>
                <a:spcPts val="0"/>
              </a:spcBef>
              <a:spcAft>
                <a:spcPts val="0"/>
              </a:spcAft>
              <a:buClr>
                <a:srgbClr val="3C3939"/>
              </a:buClr>
              <a:buSzPts val="2562"/>
              <a:buFont typeface="Raleway"/>
              <a:buNone/>
            </a:pPr>
            <a:r>
              <a:rPr lang="en-US" sz="2562" b="0" i="0" u="none" strike="noStrike" cap="none">
                <a:solidFill>
                  <a:srgbClr val="3C3939"/>
                </a:solidFill>
                <a:latin typeface="Raleway"/>
                <a:ea typeface="Raleway"/>
                <a:cs typeface="Raleway"/>
                <a:sym typeface="Raleway"/>
              </a:rPr>
              <a:t>1970s - Fault Tolerance</a:t>
            </a:r>
            <a:endParaRPr sz="1800" b="0" i="0" u="none" strike="noStrike" cap="none">
              <a:solidFill>
                <a:schemeClr val="lt1"/>
              </a:solidFill>
              <a:latin typeface="Arial"/>
              <a:ea typeface="Arial"/>
              <a:cs typeface="Arial"/>
              <a:sym typeface="Arial"/>
            </a:endParaRPr>
          </a:p>
        </p:txBody>
      </p:sp>
      <p:sp>
        <p:nvSpPr>
          <p:cNvPr id="462" name="Google Shape;462;p1"/>
          <p:cNvSpPr txBox="1"/>
          <p:nvPr/>
        </p:nvSpPr>
        <p:spPr>
          <a:xfrm>
            <a:off x="1186309" y="2992339"/>
            <a:ext cx="5852100" cy="1772100"/>
          </a:xfrm>
          <a:prstGeom prst="rect">
            <a:avLst/>
          </a:prstGeom>
          <a:noFill/>
          <a:ln>
            <a:noFill/>
          </a:ln>
        </p:spPr>
        <p:txBody>
          <a:bodyPr spcFirstLastPara="1" wrap="square" lIns="0" tIns="0" rIns="0" bIns="0" anchor="t" anchorCtr="0">
            <a:spAutoFit/>
          </a:bodyPr>
          <a:lstStyle/>
          <a:p>
            <a:pPr marL="0" marR="0" lvl="0" indent="0" algn="ctr" rtl="0">
              <a:lnSpc>
                <a:spcPct val="160620"/>
              </a:lnSpc>
              <a:spcBef>
                <a:spcPts val="0"/>
              </a:spcBef>
              <a:spcAft>
                <a:spcPts val="0"/>
              </a:spcAft>
              <a:buClr>
                <a:srgbClr val="3C3939"/>
              </a:buClr>
              <a:buSzPts val="2062"/>
              <a:buFont typeface="Roboto"/>
              <a:buNone/>
            </a:pPr>
            <a:r>
              <a:rPr lang="en-US" sz="2062" b="0" i="0" u="none" strike="noStrike" cap="none">
                <a:solidFill>
                  <a:srgbClr val="3C3939"/>
                </a:solidFill>
                <a:latin typeface="Roboto"/>
                <a:ea typeface="Roboto"/>
                <a:cs typeface="Roboto"/>
                <a:sym typeface="Roboto"/>
              </a:rPr>
              <a:t>The concept begins with research into fault-tolerant computing, employing hardware redundancy and basic failover mechanisms to survive single-point failures.</a:t>
            </a:r>
            <a:endParaRPr sz="1800" b="0" i="0" u="none" strike="noStrike" cap="none">
              <a:solidFill>
                <a:schemeClr val="lt1"/>
              </a:solidFill>
              <a:latin typeface="Arial"/>
              <a:ea typeface="Arial"/>
              <a:cs typeface="Arial"/>
              <a:sym typeface="Arial"/>
            </a:endParaRPr>
          </a:p>
        </p:txBody>
      </p:sp>
      <p:sp>
        <p:nvSpPr>
          <p:cNvPr id="463" name="Google Shape;463;p1"/>
          <p:cNvSpPr/>
          <p:nvPr/>
        </p:nvSpPr>
        <p:spPr>
          <a:xfrm>
            <a:off x="7452271" y="5818956"/>
            <a:ext cx="28575" cy="790861"/>
          </a:xfrm>
          <a:custGeom>
            <a:avLst/>
            <a:gdLst/>
            <a:ahLst/>
            <a:cxnLst/>
            <a:rect l="l" t="t" r="r" b="b"/>
            <a:pathLst>
              <a:path w="38100" h="1054481" extrusionOk="0">
                <a:moveTo>
                  <a:pt x="0" y="19050"/>
                </a:moveTo>
                <a:cubicBezTo>
                  <a:pt x="0" y="8509"/>
                  <a:pt x="8509" y="0"/>
                  <a:pt x="19050" y="0"/>
                </a:cubicBezTo>
                <a:cubicBezTo>
                  <a:pt x="29591" y="0"/>
                  <a:pt x="38100" y="8509"/>
                  <a:pt x="38100" y="19050"/>
                </a:cubicBezTo>
                <a:lnTo>
                  <a:pt x="38100" y="1035431"/>
                </a:lnTo>
                <a:cubicBezTo>
                  <a:pt x="38100" y="1045972"/>
                  <a:pt x="29591" y="1054481"/>
                  <a:pt x="19050" y="1054481"/>
                </a:cubicBezTo>
                <a:cubicBezTo>
                  <a:pt x="8509" y="1054481"/>
                  <a:pt x="0" y="1045972"/>
                  <a:pt x="0" y="1035431"/>
                </a:cubicBezTo>
                <a:close/>
              </a:path>
            </a:pathLst>
          </a:custGeom>
          <a:solidFill>
            <a:srgbClr val="C7C7D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lt1"/>
              </a:buClr>
              <a:buSzPts val="1800"/>
              <a:buFont typeface="Arial"/>
              <a:buNone/>
            </a:pPr>
            <a:endParaRPr sz="1800" b="0" i="0" u="none" strike="noStrike" cap="none">
              <a:solidFill>
                <a:schemeClr val="lt1"/>
              </a:solidFill>
              <a:latin typeface="Arial"/>
              <a:ea typeface="Arial"/>
              <a:cs typeface="Arial"/>
              <a:sym typeface="Arial"/>
            </a:endParaRPr>
          </a:p>
        </p:txBody>
      </p:sp>
      <p:grpSp>
        <p:nvGrpSpPr>
          <p:cNvPr id="464" name="Google Shape;464;p1"/>
          <p:cNvGrpSpPr/>
          <p:nvPr/>
        </p:nvGrpSpPr>
        <p:grpSpPr>
          <a:xfrm>
            <a:off x="7165330" y="5517729"/>
            <a:ext cx="602647" cy="602647"/>
            <a:chOff x="0" y="0"/>
            <a:chExt cx="803529" cy="803529"/>
          </a:xfrm>
        </p:grpSpPr>
        <p:sp>
          <p:nvSpPr>
            <p:cNvPr id="465" name="Google Shape;465;p1"/>
            <p:cNvSpPr/>
            <p:nvPr/>
          </p:nvSpPr>
          <p:spPr>
            <a:xfrm>
              <a:off x="6350" y="6350"/>
              <a:ext cx="790829" cy="790829"/>
            </a:xfrm>
            <a:custGeom>
              <a:avLst/>
              <a:gdLst/>
              <a:ahLst/>
              <a:cxnLst/>
              <a:rect l="l" t="t" r="r" b="b"/>
              <a:pathLst>
                <a:path w="790829" h="790829" extrusionOk="0">
                  <a:moveTo>
                    <a:pt x="0" y="147701"/>
                  </a:moveTo>
                  <a:cubicBezTo>
                    <a:pt x="0" y="66040"/>
                    <a:pt x="66040" y="0"/>
                    <a:pt x="147701" y="0"/>
                  </a:cubicBezTo>
                  <a:lnTo>
                    <a:pt x="643128" y="0"/>
                  </a:lnTo>
                  <a:cubicBezTo>
                    <a:pt x="724662" y="0"/>
                    <a:pt x="790829" y="66040"/>
                    <a:pt x="790829" y="147701"/>
                  </a:cubicBezTo>
                  <a:lnTo>
                    <a:pt x="790829" y="643128"/>
                  </a:lnTo>
                  <a:cubicBezTo>
                    <a:pt x="790829" y="724662"/>
                    <a:pt x="724789" y="790829"/>
                    <a:pt x="643128" y="790829"/>
                  </a:cubicBezTo>
                  <a:lnTo>
                    <a:pt x="147701" y="790829"/>
                  </a:lnTo>
                  <a:cubicBezTo>
                    <a:pt x="66040" y="790829"/>
                    <a:pt x="0" y="724662"/>
                    <a:pt x="0" y="643128"/>
                  </a:cubicBezTo>
                  <a:close/>
                </a:path>
              </a:pathLst>
            </a:custGeom>
            <a:solidFill>
              <a:srgbClr val="E1E1EA"/>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lt1"/>
                </a:buClr>
                <a:buSzPts val="1800"/>
                <a:buFont typeface="Arial"/>
                <a:buNone/>
              </a:pPr>
              <a:endParaRPr sz="1800" b="0" i="0" u="none" strike="noStrike" cap="none">
                <a:solidFill>
                  <a:schemeClr val="lt1"/>
                </a:solidFill>
                <a:latin typeface="Arial"/>
                <a:ea typeface="Arial"/>
                <a:cs typeface="Arial"/>
                <a:sym typeface="Arial"/>
              </a:endParaRPr>
            </a:p>
          </p:txBody>
        </p:sp>
        <p:sp>
          <p:nvSpPr>
            <p:cNvPr id="466" name="Google Shape;466;p1"/>
            <p:cNvSpPr/>
            <p:nvPr/>
          </p:nvSpPr>
          <p:spPr>
            <a:xfrm>
              <a:off x="0" y="0"/>
              <a:ext cx="803529" cy="803529"/>
            </a:xfrm>
            <a:custGeom>
              <a:avLst/>
              <a:gdLst/>
              <a:ahLst/>
              <a:cxnLst/>
              <a:rect l="l" t="t" r="r" b="b"/>
              <a:pathLst>
                <a:path w="803529" h="803529" extrusionOk="0">
                  <a:moveTo>
                    <a:pt x="0" y="154051"/>
                  </a:moveTo>
                  <a:cubicBezTo>
                    <a:pt x="0" y="68961"/>
                    <a:pt x="68961" y="0"/>
                    <a:pt x="154051" y="0"/>
                  </a:cubicBezTo>
                  <a:lnTo>
                    <a:pt x="649478" y="0"/>
                  </a:lnTo>
                  <a:lnTo>
                    <a:pt x="649478" y="6350"/>
                  </a:lnTo>
                  <a:lnTo>
                    <a:pt x="649478" y="0"/>
                  </a:lnTo>
                  <a:cubicBezTo>
                    <a:pt x="734568" y="0"/>
                    <a:pt x="803529" y="68961"/>
                    <a:pt x="803529" y="154051"/>
                  </a:cubicBezTo>
                  <a:lnTo>
                    <a:pt x="797179" y="154051"/>
                  </a:lnTo>
                  <a:lnTo>
                    <a:pt x="803529" y="154051"/>
                  </a:lnTo>
                  <a:lnTo>
                    <a:pt x="803529" y="649478"/>
                  </a:lnTo>
                  <a:lnTo>
                    <a:pt x="797179" y="649478"/>
                  </a:lnTo>
                  <a:lnTo>
                    <a:pt x="803529" y="649478"/>
                  </a:lnTo>
                  <a:cubicBezTo>
                    <a:pt x="803529" y="734568"/>
                    <a:pt x="734568" y="803529"/>
                    <a:pt x="649478" y="803529"/>
                  </a:cubicBezTo>
                  <a:lnTo>
                    <a:pt x="649478" y="797179"/>
                  </a:lnTo>
                  <a:lnTo>
                    <a:pt x="649478" y="803529"/>
                  </a:lnTo>
                  <a:lnTo>
                    <a:pt x="154051" y="803529"/>
                  </a:lnTo>
                  <a:lnTo>
                    <a:pt x="154051" y="797179"/>
                  </a:lnTo>
                  <a:lnTo>
                    <a:pt x="154051" y="803529"/>
                  </a:lnTo>
                  <a:cubicBezTo>
                    <a:pt x="68961" y="803529"/>
                    <a:pt x="0" y="734568"/>
                    <a:pt x="0" y="649478"/>
                  </a:cubicBezTo>
                  <a:lnTo>
                    <a:pt x="0" y="154051"/>
                  </a:lnTo>
                  <a:lnTo>
                    <a:pt x="6350" y="154051"/>
                  </a:lnTo>
                  <a:lnTo>
                    <a:pt x="0" y="154051"/>
                  </a:lnTo>
                  <a:moveTo>
                    <a:pt x="12700" y="154051"/>
                  </a:moveTo>
                  <a:lnTo>
                    <a:pt x="12700" y="649478"/>
                  </a:lnTo>
                  <a:lnTo>
                    <a:pt x="6350" y="649478"/>
                  </a:lnTo>
                  <a:lnTo>
                    <a:pt x="12700" y="649478"/>
                  </a:lnTo>
                  <a:cubicBezTo>
                    <a:pt x="12700" y="727456"/>
                    <a:pt x="75946" y="790829"/>
                    <a:pt x="154051" y="790829"/>
                  </a:cubicBezTo>
                  <a:lnTo>
                    <a:pt x="649478" y="790829"/>
                  </a:lnTo>
                  <a:cubicBezTo>
                    <a:pt x="727456" y="790829"/>
                    <a:pt x="790829" y="727583"/>
                    <a:pt x="790829" y="649478"/>
                  </a:cubicBezTo>
                  <a:lnTo>
                    <a:pt x="790829" y="154051"/>
                  </a:lnTo>
                  <a:cubicBezTo>
                    <a:pt x="790829" y="75946"/>
                    <a:pt x="727456" y="12700"/>
                    <a:pt x="649478" y="12700"/>
                  </a:cubicBezTo>
                  <a:lnTo>
                    <a:pt x="154051" y="12700"/>
                  </a:lnTo>
                  <a:lnTo>
                    <a:pt x="154051" y="6350"/>
                  </a:lnTo>
                  <a:lnTo>
                    <a:pt x="154051" y="12700"/>
                  </a:lnTo>
                  <a:cubicBezTo>
                    <a:pt x="75946" y="12700"/>
                    <a:pt x="12700" y="75946"/>
                    <a:pt x="12700" y="154051"/>
                  </a:cubicBezTo>
                  <a:close/>
                </a:path>
              </a:pathLst>
            </a:custGeom>
            <a:solidFill>
              <a:srgbClr val="C7C7D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lt1"/>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467" name="Google Shape;467;p1"/>
          <p:cNvSpPr txBox="1"/>
          <p:nvPr/>
        </p:nvSpPr>
        <p:spPr>
          <a:xfrm>
            <a:off x="7268840" y="5619452"/>
            <a:ext cx="395400" cy="4467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3C3939"/>
              </a:buClr>
              <a:buSzPts val="3062"/>
              <a:buFont typeface="Raleway"/>
              <a:buNone/>
            </a:pPr>
            <a:r>
              <a:rPr lang="en-US" sz="3062" b="0" i="0" u="none" strike="noStrike" cap="none">
                <a:solidFill>
                  <a:srgbClr val="3C3939"/>
                </a:solidFill>
                <a:latin typeface="Raleway"/>
                <a:ea typeface="Raleway"/>
                <a:cs typeface="Raleway"/>
                <a:sym typeface="Raleway"/>
              </a:rPr>
              <a:t>2</a:t>
            </a:r>
            <a:endParaRPr sz="1800" b="0" i="0" u="none" strike="noStrike" cap="none">
              <a:solidFill>
                <a:schemeClr val="lt1"/>
              </a:solidFill>
              <a:latin typeface="Arial"/>
              <a:ea typeface="Arial"/>
              <a:cs typeface="Arial"/>
              <a:sym typeface="Arial"/>
            </a:endParaRPr>
          </a:p>
        </p:txBody>
      </p:sp>
      <p:sp>
        <p:nvSpPr>
          <p:cNvPr id="468" name="Google Shape;468;p1"/>
          <p:cNvSpPr txBox="1"/>
          <p:nvPr/>
        </p:nvSpPr>
        <p:spPr>
          <a:xfrm>
            <a:off x="5151239" y="6854429"/>
            <a:ext cx="4630800" cy="430800"/>
          </a:xfrm>
          <a:prstGeom prst="rect">
            <a:avLst/>
          </a:prstGeom>
          <a:noFill/>
          <a:ln>
            <a:noFill/>
          </a:ln>
        </p:spPr>
        <p:txBody>
          <a:bodyPr spcFirstLastPara="1" wrap="square" lIns="0" tIns="0" rIns="0" bIns="0" anchor="t" anchorCtr="0">
            <a:spAutoFit/>
          </a:bodyPr>
          <a:lstStyle/>
          <a:p>
            <a:pPr marL="0" marR="0" lvl="0" indent="0" algn="ctr" rtl="0">
              <a:lnSpc>
                <a:spcPct val="124395"/>
              </a:lnSpc>
              <a:spcBef>
                <a:spcPts val="0"/>
              </a:spcBef>
              <a:spcAft>
                <a:spcPts val="0"/>
              </a:spcAft>
              <a:buClr>
                <a:srgbClr val="3C3939"/>
              </a:buClr>
              <a:buSzPts val="2562"/>
              <a:buFont typeface="Raleway"/>
              <a:buNone/>
            </a:pPr>
            <a:r>
              <a:rPr lang="en-US" sz="2562" b="0" i="0" u="none" strike="noStrike" cap="none">
                <a:solidFill>
                  <a:srgbClr val="3C3939"/>
                </a:solidFill>
                <a:latin typeface="Raleway"/>
                <a:ea typeface="Raleway"/>
                <a:cs typeface="Raleway"/>
                <a:sym typeface="Raleway"/>
              </a:rPr>
              <a:t>1990s - Autonomic Computing</a:t>
            </a:r>
            <a:endParaRPr sz="1800" b="0" i="0" u="none" strike="noStrike" cap="none">
              <a:solidFill>
                <a:schemeClr val="lt1"/>
              </a:solidFill>
              <a:latin typeface="Arial"/>
              <a:ea typeface="Arial"/>
              <a:cs typeface="Arial"/>
              <a:sym typeface="Arial"/>
            </a:endParaRPr>
          </a:p>
        </p:txBody>
      </p:sp>
      <p:sp>
        <p:nvSpPr>
          <p:cNvPr id="469" name="Google Shape;469;p1"/>
          <p:cNvSpPr txBox="1"/>
          <p:nvPr/>
        </p:nvSpPr>
        <p:spPr>
          <a:xfrm>
            <a:off x="4540598" y="7357616"/>
            <a:ext cx="5852100" cy="1772100"/>
          </a:xfrm>
          <a:prstGeom prst="rect">
            <a:avLst/>
          </a:prstGeom>
          <a:noFill/>
          <a:ln>
            <a:noFill/>
          </a:ln>
        </p:spPr>
        <p:txBody>
          <a:bodyPr spcFirstLastPara="1" wrap="square" lIns="0" tIns="0" rIns="0" bIns="0" anchor="t" anchorCtr="0">
            <a:spAutoFit/>
          </a:bodyPr>
          <a:lstStyle/>
          <a:p>
            <a:pPr marL="0" marR="0" lvl="0" indent="0" algn="ctr" rtl="0">
              <a:lnSpc>
                <a:spcPct val="160620"/>
              </a:lnSpc>
              <a:spcBef>
                <a:spcPts val="0"/>
              </a:spcBef>
              <a:spcAft>
                <a:spcPts val="0"/>
              </a:spcAft>
              <a:buClr>
                <a:srgbClr val="3C3939"/>
              </a:buClr>
              <a:buSzPts val="2062"/>
              <a:buFont typeface="Roboto"/>
              <a:buNone/>
            </a:pPr>
            <a:r>
              <a:rPr lang="en-US" sz="2062" b="0" i="0" u="none" strike="noStrike" cap="none">
                <a:solidFill>
                  <a:srgbClr val="3C3939"/>
                </a:solidFill>
                <a:latin typeface="Roboto"/>
                <a:ea typeface="Roboto"/>
                <a:cs typeface="Roboto"/>
                <a:sym typeface="Roboto"/>
              </a:rPr>
              <a:t>IBM's Autonomic Computing Initiative (ACI) introduced the concept of self-managing systems (self-healing, self-optimizing, self-configuring), laying the theoretical groundwork.</a:t>
            </a:r>
            <a:endParaRPr sz="1800" b="0" i="0" u="none" strike="noStrike" cap="none">
              <a:solidFill>
                <a:schemeClr val="lt1"/>
              </a:solidFill>
              <a:latin typeface="Arial"/>
              <a:ea typeface="Arial"/>
              <a:cs typeface="Arial"/>
              <a:sym typeface="Arial"/>
            </a:endParaRPr>
          </a:p>
        </p:txBody>
      </p:sp>
      <p:sp>
        <p:nvSpPr>
          <p:cNvPr id="470" name="Google Shape;470;p1"/>
          <p:cNvSpPr/>
          <p:nvPr/>
        </p:nvSpPr>
        <p:spPr>
          <a:xfrm>
            <a:off x="10806707" y="5028232"/>
            <a:ext cx="28575" cy="790861"/>
          </a:xfrm>
          <a:custGeom>
            <a:avLst/>
            <a:gdLst/>
            <a:ahLst/>
            <a:cxnLst/>
            <a:rect l="l" t="t" r="r" b="b"/>
            <a:pathLst>
              <a:path w="38100" h="1054481" extrusionOk="0">
                <a:moveTo>
                  <a:pt x="0" y="19050"/>
                </a:moveTo>
                <a:cubicBezTo>
                  <a:pt x="0" y="8509"/>
                  <a:pt x="8509" y="0"/>
                  <a:pt x="19050" y="0"/>
                </a:cubicBezTo>
                <a:cubicBezTo>
                  <a:pt x="29591" y="0"/>
                  <a:pt x="38100" y="8509"/>
                  <a:pt x="38100" y="19050"/>
                </a:cubicBezTo>
                <a:lnTo>
                  <a:pt x="38100" y="1035431"/>
                </a:lnTo>
                <a:cubicBezTo>
                  <a:pt x="38100" y="1045972"/>
                  <a:pt x="29591" y="1054481"/>
                  <a:pt x="19050" y="1054481"/>
                </a:cubicBezTo>
                <a:cubicBezTo>
                  <a:pt x="8509" y="1054481"/>
                  <a:pt x="0" y="1045972"/>
                  <a:pt x="0" y="1035431"/>
                </a:cubicBezTo>
                <a:close/>
              </a:path>
            </a:pathLst>
          </a:custGeom>
          <a:solidFill>
            <a:srgbClr val="C7C7D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lt1"/>
              </a:buClr>
              <a:buSzPts val="1800"/>
              <a:buFont typeface="Arial"/>
              <a:buNone/>
            </a:pPr>
            <a:endParaRPr sz="1800" b="0" i="0" u="none" strike="noStrike" cap="none">
              <a:solidFill>
                <a:schemeClr val="lt1"/>
              </a:solidFill>
              <a:latin typeface="Arial"/>
              <a:ea typeface="Arial"/>
              <a:cs typeface="Arial"/>
              <a:sym typeface="Arial"/>
            </a:endParaRPr>
          </a:p>
        </p:txBody>
      </p:sp>
      <p:grpSp>
        <p:nvGrpSpPr>
          <p:cNvPr id="471" name="Google Shape;471;p1"/>
          <p:cNvGrpSpPr/>
          <p:nvPr/>
        </p:nvGrpSpPr>
        <p:grpSpPr>
          <a:xfrm>
            <a:off x="10519768" y="5517729"/>
            <a:ext cx="602647" cy="602647"/>
            <a:chOff x="0" y="0"/>
            <a:chExt cx="803529" cy="803529"/>
          </a:xfrm>
        </p:grpSpPr>
        <p:sp>
          <p:nvSpPr>
            <p:cNvPr id="472" name="Google Shape;472;p1"/>
            <p:cNvSpPr/>
            <p:nvPr/>
          </p:nvSpPr>
          <p:spPr>
            <a:xfrm>
              <a:off x="6350" y="6350"/>
              <a:ext cx="790829" cy="790829"/>
            </a:xfrm>
            <a:custGeom>
              <a:avLst/>
              <a:gdLst/>
              <a:ahLst/>
              <a:cxnLst/>
              <a:rect l="l" t="t" r="r" b="b"/>
              <a:pathLst>
                <a:path w="790829" h="790829" extrusionOk="0">
                  <a:moveTo>
                    <a:pt x="0" y="147701"/>
                  </a:moveTo>
                  <a:cubicBezTo>
                    <a:pt x="0" y="66040"/>
                    <a:pt x="66040" y="0"/>
                    <a:pt x="147701" y="0"/>
                  </a:cubicBezTo>
                  <a:lnTo>
                    <a:pt x="643128" y="0"/>
                  </a:lnTo>
                  <a:cubicBezTo>
                    <a:pt x="724662" y="0"/>
                    <a:pt x="790829" y="66040"/>
                    <a:pt x="790829" y="147701"/>
                  </a:cubicBezTo>
                  <a:lnTo>
                    <a:pt x="790829" y="643128"/>
                  </a:lnTo>
                  <a:cubicBezTo>
                    <a:pt x="790829" y="724662"/>
                    <a:pt x="724789" y="790829"/>
                    <a:pt x="643128" y="790829"/>
                  </a:cubicBezTo>
                  <a:lnTo>
                    <a:pt x="147701" y="790829"/>
                  </a:lnTo>
                  <a:cubicBezTo>
                    <a:pt x="66040" y="790829"/>
                    <a:pt x="0" y="724662"/>
                    <a:pt x="0" y="643128"/>
                  </a:cubicBezTo>
                  <a:close/>
                </a:path>
              </a:pathLst>
            </a:custGeom>
            <a:solidFill>
              <a:srgbClr val="E1E1EA"/>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lt1"/>
                </a:buClr>
                <a:buSzPts val="1800"/>
                <a:buFont typeface="Arial"/>
                <a:buNone/>
              </a:pPr>
              <a:endParaRPr sz="1800" b="0" i="0" u="none" strike="noStrike" cap="none">
                <a:solidFill>
                  <a:schemeClr val="lt1"/>
                </a:solidFill>
                <a:latin typeface="Arial"/>
                <a:ea typeface="Arial"/>
                <a:cs typeface="Arial"/>
                <a:sym typeface="Arial"/>
              </a:endParaRPr>
            </a:p>
          </p:txBody>
        </p:sp>
        <p:sp>
          <p:nvSpPr>
            <p:cNvPr id="473" name="Google Shape;473;p1"/>
            <p:cNvSpPr/>
            <p:nvPr/>
          </p:nvSpPr>
          <p:spPr>
            <a:xfrm>
              <a:off x="0" y="0"/>
              <a:ext cx="803529" cy="803529"/>
            </a:xfrm>
            <a:custGeom>
              <a:avLst/>
              <a:gdLst/>
              <a:ahLst/>
              <a:cxnLst/>
              <a:rect l="l" t="t" r="r" b="b"/>
              <a:pathLst>
                <a:path w="803529" h="803529" extrusionOk="0">
                  <a:moveTo>
                    <a:pt x="0" y="154051"/>
                  </a:moveTo>
                  <a:cubicBezTo>
                    <a:pt x="0" y="68961"/>
                    <a:pt x="68961" y="0"/>
                    <a:pt x="154051" y="0"/>
                  </a:cubicBezTo>
                  <a:lnTo>
                    <a:pt x="649478" y="0"/>
                  </a:lnTo>
                  <a:lnTo>
                    <a:pt x="649478" y="6350"/>
                  </a:lnTo>
                  <a:lnTo>
                    <a:pt x="649478" y="0"/>
                  </a:lnTo>
                  <a:cubicBezTo>
                    <a:pt x="734568" y="0"/>
                    <a:pt x="803529" y="68961"/>
                    <a:pt x="803529" y="154051"/>
                  </a:cubicBezTo>
                  <a:lnTo>
                    <a:pt x="797179" y="154051"/>
                  </a:lnTo>
                  <a:lnTo>
                    <a:pt x="803529" y="154051"/>
                  </a:lnTo>
                  <a:lnTo>
                    <a:pt x="803529" y="649478"/>
                  </a:lnTo>
                  <a:lnTo>
                    <a:pt x="797179" y="649478"/>
                  </a:lnTo>
                  <a:lnTo>
                    <a:pt x="803529" y="649478"/>
                  </a:lnTo>
                  <a:cubicBezTo>
                    <a:pt x="803529" y="734568"/>
                    <a:pt x="734568" y="803529"/>
                    <a:pt x="649478" y="803529"/>
                  </a:cubicBezTo>
                  <a:lnTo>
                    <a:pt x="649478" y="797179"/>
                  </a:lnTo>
                  <a:lnTo>
                    <a:pt x="649478" y="803529"/>
                  </a:lnTo>
                  <a:lnTo>
                    <a:pt x="154051" y="803529"/>
                  </a:lnTo>
                  <a:lnTo>
                    <a:pt x="154051" y="797179"/>
                  </a:lnTo>
                  <a:lnTo>
                    <a:pt x="154051" y="803529"/>
                  </a:lnTo>
                  <a:cubicBezTo>
                    <a:pt x="68961" y="803529"/>
                    <a:pt x="0" y="734568"/>
                    <a:pt x="0" y="649478"/>
                  </a:cubicBezTo>
                  <a:lnTo>
                    <a:pt x="0" y="154051"/>
                  </a:lnTo>
                  <a:lnTo>
                    <a:pt x="6350" y="154051"/>
                  </a:lnTo>
                  <a:lnTo>
                    <a:pt x="0" y="154051"/>
                  </a:lnTo>
                  <a:moveTo>
                    <a:pt x="12700" y="154051"/>
                  </a:moveTo>
                  <a:lnTo>
                    <a:pt x="12700" y="649478"/>
                  </a:lnTo>
                  <a:lnTo>
                    <a:pt x="6350" y="649478"/>
                  </a:lnTo>
                  <a:lnTo>
                    <a:pt x="12700" y="649478"/>
                  </a:lnTo>
                  <a:cubicBezTo>
                    <a:pt x="12700" y="727456"/>
                    <a:pt x="75946" y="790829"/>
                    <a:pt x="154051" y="790829"/>
                  </a:cubicBezTo>
                  <a:lnTo>
                    <a:pt x="649478" y="790829"/>
                  </a:lnTo>
                  <a:cubicBezTo>
                    <a:pt x="727456" y="790829"/>
                    <a:pt x="790829" y="727583"/>
                    <a:pt x="790829" y="649478"/>
                  </a:cubicBezTo>
                  <a:lnTo>
                    <a:pt x="790829" y="154051"/>
                  </a:lnTo>
                  <a:cubicBezTo>
                    <a:pt x="790829" y="75946"/>
                    <a:pt x="727456" y="12700"/>
                    <a:pt x="649478" y="12700"/>
                  </a:cubicBezTo>
                  <a:lnTo>
                    <a:pt x="154051" y="12700"/>
                  </a:lnTo>
                  <a:lnTo>
                    <a:pt x="154051" y="6350"/>
                  </a:lnTo>
                  <a:lnTo>
                    <a:pt x="154051" y="12700"/>
                  </a:lnTo>
                  <a:cubicBezTo>
                    <a:pt x="75946" y="12700"/>
                    <a:pt x="12700" y="75946"/>
                    <a:pt x="12700" y="154051"/>
                  </a:cubicBezTo>
                  <a:close/>
                </a:path>
              </a:pathLst>
            </a:custGeom>
            <a:solidFill>
              <a:srgbClr val="C7C7D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lt1"/>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474" name="Google Shape;474;p1"/>
          <p:cNvSpPr txBox="1"/>
          <p:nvPr/>
        </p:nvSpPr>
        <p:spPr>
          <a:xfrm>
            <a:off x="10623278" y="5619452"/>
            <a:ext cx="395400" cy="4467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3C3939"/>
              </a:buClr>
              <a:buSzPts val="3062"/>
              <a:buFont typeface="Raleway"/>
              <a:buNone/>
            </a:pPr>
            <a:r>
              <a:rPr lang="en-US" sz="3062" b="0" i="0" u="none" strike="noStrike" cap="none">
                <a:solidFill>
                  <a:srgbClr val="3C3939"/>
                </a:solidFill>
                <a:latin typeface="Raleway"/>
                <a:ea typeface="Raleway"/>
                <a:cs typeface="Raleway"/>
                <a:sym typeface="Raleway"/>
              </a:rPr>
              <a:t>3</a:t>
            </a:r>
            <a:endParaRPr sz="1800" b="0" i="0" u="none" strike="noStrike" cap="none">
              <a:solidFill>
                <a:schemeClr val="lt1"/>
              </a:solidFill>
              <a:latin typeface="Arial"/>
              <a:ea typeface="Arial"/>
              <a:cs typeface="Arial"/>
              <a:sym typeface="Arial"/>
            </a:endParaRPr>
          </a:p>
        </p:txBody>
      </p:sp>
      <p:sp>
        <p:nvSpPr>
          <p:cNvPr id="475" name="Google Shape;475;p1"/>
          <p:cNvSpPr txBox="1"/>
          <p:nvPr/>
        </p:nvSpPr>
        <p:spPr>
          <a:xfrm>
            <a:off x="8565951" y="2067520"/>
            <a:ext cx="4510200" cy="430800"/>
          </a:xfrm>
          <a:prstGeom prst="rect">
            <a:avLst/>
          </a:prstGeom>
          <a:noFill/>
          <a:ln>
            <a:noFill/>
          </a:ln>
        </p:spPr>
        <p:txBody>
          <a:bodyPr spcFirstLastPara="1" wrap="square" lIns="0" tIns="0" rIns="0" bIns="0" anchor="t" anchorCtr="0">
            <a:spAutoFit/>
          </a:bodyPr>
          <a:lstStyle/>
          <a:p>
            <a:pPr marL="0" marR="0" lvl="0" indent="0" algn="ctr" rtl="0">
              <a:lnSpc>
                <a:spcPct val="124395"/>
              </a:lnSpc>
              <a:spcBef>
                <a:spcPts val="0"/>
              </a:spcBef>
              <a:spcAft>
                <a:spcPts val="0"/>
              </a:spcAft>
              <a:buClr>
                <a:srgbClr val="3C3939"/>
              </a:buClr>
              <a:buSzPts val="2562"/>
              <a:buFont typeface="Raleway"/>
              <a:buNone/>
            </a:pPr>
            <a:r>
              <a:rPr lang="en-US" sz="2562" b="0" i="0" u="none" strike="noStrike" cap="none">
                <a:solidFill>
                  <a:srgbClr val="3C3939"/>
                </a:solidFill>
                <a:latin typeface="Raleway"/>
                <a:ea typeface="Raleway"/>
                <a:cs typeface="Raleway"/>
                <a:sym typeface="Raleway"/>
              </a:rPr>
              <a:t>2010s - The AI/ML Revolution</a:t>
            </a:r>
            <a:endParaRPr sz="1800" b="0" i="0" u="none" strike="noStrike" cap="none">
              <a:solidFill>
                <a:schemeClr val="lt1"/>
              </a:solidFill>
              <a:latin typeface="Arial"/>
              <a:ea typeface="Arial"/>
              <a:cs typeface="Arial"/>
              <a:sym typeface="Arial"/>
            </a:endParaRPr>
          </a:p>
        </p:txBody>
      </p:sp>
      <p:sp>
        <p:nvSpPr>
          <p:cNvPr id="476" name="Google Shape;476;p1"/>
          <p:cNvSpPr txBox="1"/>
          <p:nvPr/>
        </p:nvSpPr>
        <p:spPr>
          <a:xfrm>
            <a:off x="7895035" y="2570709"/>
            <a:ext cx="5852100" cy="2193900"/>
          </a:xfrm>
          <a:prstGeom prst="rect">
            <a:avLst/>
          </a:prstGeom>
          <a:noFill/>
          <a:ln>
            <a:noFill/>
          </a:ln>
        </p:spPr>
        <p:txBody>
          <a:bodyPr spcFirstLastPara="1" wrap="square" lIns="0" tIns="0" rIns="0" bIns="0" anchor="t" anchorCtr="0">
            <a:spAutoFit/>
          </a:bodyPr>
          <a:lstStyle/>
          <a:p>
            <a:pPr marL="0" marR="0" lvl="0" indent="0" algn="ctr" rtl="0">
              <a:lnSpc>
                <a:spcPct val="160620"/>
              </a:lnSpc>
              <a:spcBef>
                <a:spcPts val="0"/>
              </a:spcBef>
              <a:spcAft>
                <a:spcPts val="0"/>
              </a:spcAft>
              <a:buClr>
                <a:srgbClr val="3C3939"/>
              </a:buClr>
              <a:buSzPts val="2062"/>
              <a:buFont typeface="Roboto"/>
              <a:buNone/>
            </a:pPr>
            <a:r>
              <a:rPr lang="en-US" sz="2062" b="0" i="0" u="none" strike="noStrike" cap="none">
                <a:solidFill>
                  <a:srgbClr val="3C3939"/>
                </a:solidFill>
                <a:latin typeface="Roboto"/>
                <a:ea typeface="Roboto"/>
                <a:cs typeface="Roboto"/>
                <a:sym typeface="Roboto"/>
              </a:rPr>
              <a:t>The rise of machine learning enables sophisticated predictive analytics, real-time anomaly detection, and automated root cause analysis, shifting systems towards proactive healing.</a:t>
            </a:r>
            <a:endParaRPr sz="1800" b="0" i="0" u="none" strike="noStrike" cap="none">
              <a:solidFill>
                <a:schemeClr val="lt1"/>
              </a:solidFill>
              <a:latin typeface="Arial"/>
              <a:ea typeface="Arial"/>
              <a:cs typeface="Arial"/>
              <a:sym typeface="Arial"/>
            </a:endParaRPr>
          </a:p>
        </p:txBody>
      </p:sp>
      <p:sp>
        <p:nvSpPr>
          <p:cNvPr id="477" name="Google Shape;477;p1"/>
          <p:cNvSpPr/>
          <p:nvPr/>
        </p:nvSpPr>
        <p:spPr>
          <a:xfrm>
            <a:off x="14161145" y="5818956"/>
            <a:ext cx="28575" cy="790861"/>
          </a:xfrm>
          <a:custGeom>
            <a:avLst/>
            <a:gdLst/>
            <a:ahLst/>
            <a:cxnLst/>
            <a:rect l="l" t="t" r="r" b="b"/>
            <a:pathLst>
              <a:path w="38100" h="1054481" extrusionOk="0">
                <a:moveTo>
                  <a:pt x="0" y="19050"/>
                </a:moveTo>
                <a:cubicBezTo>
                  <a:pt x="0" y="8509"/>
                  <a:pt x="8509" y="0"/>
                  <a:pt x="19050" y="0"/>
                </a:cubicBezTo>
                <a:cubicBezTo>
                  <a:pt x="29591" y="0"/>
                  <a:pt x="38100" y="8509"/>
                  <a:pt x="38100" y="19050"/>
                </a:cubicBezTo>
                <a:lnTo>
                  <a:pt x="38100" y="1035431"/>
                </a:lnTo>
                <a:cubicBezTo>
                  <a:pt x="38100" y="1045972"/>
                  <a:pt x="29591" y="1054481"/>
                  <a:pt x="19050" y="1054481"/>
                </a:cubicBezTo>
                <a:cubicBezTo>
                  <a:pt x="8509" y="1054481"/>
                  <a:pt x="0" y="1045972"/>
                  <a:pt x="0" y="1035431"/>
                </a:cubicBezTo>
                <a:close/>
              </a:path>
            </a:pathLst>
          </a:custGeom>
          <a:solidFill>
            <a:srgbClr val="C7C7D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lt1"/>
              </a:buClr>
              <a:buSzPts val="1800"/>
              <a:buFont typeface="Arial"/>
              <a:buNone/>
            </a:pPr>
            <a:endParaRPr sz="1800" b="0" i="0" u="none" strike="noStrike" cap="none">
              <a:solidFill>
                <a:schemeClr val="lt1"/>
              </a:solidFill>
              <a:latin typeface="Arial"/>
              <a:ea typeface="Arial"/>
              <a:cs typeface="Arial"/>
              <a:sym typeface="Arial"/>
            </a:endParaRPr>
          </a:p>
        </p:txBody>
      </p:sp>
      <p:grpSp>
        <p:nvGrpSpPr>
          <p:cNvPr id="478" name="Google Shape;478;p1"/>
          <p:cNvGrpSpPr/>
          <p:nvPr/>
        </p:nvGrpSpPr>
        <p:grpSpPr>
          <a:xfrm>
            <a:off x="13874204" y="5517729"/>
            <a:ext cx="602647" cy="602647"/>
            <a:chOff x="0" y="0"/>
            <a:chExt cx="803529" cy="803529"/>
          </a:xfrm>
        </p:grpSpPr>
        <p:sp>
          <p:nvSpPr>
            <p:cNvPr id="479" name="Google Shape;479;p1"/>
            <p:cNvSpPr/>
            <p:nvPr/>
          </p:nvSpPr>
          <p:spPr>
            <a:xfrm>
              <a:off x="6350" y="6350"/>
              <a:ext cx="790829" cy="790829"/>
            </a:xfrm>
            <a:custGeom>
              <a:avLst/>
              <a:gdLst/>
              <a:ahLst/>
              <a:cxnLst/>
              <a:rect l="l" t="t" r="r" b="b"/>
              <a:pathLst>
                <a:path w="790829" h="790829" extrusionOk="0">
                  <a:moveTo>
                    <a:pt x="0" y="147701"/>
                  </a:moveTo>
                  <a:cubicBezTo>
                    <a:pt x="0" y="66040"/>
                    <a:pt x="66040" y="0"/>
                    <a:pt x="147701" y="0"/>
                  </a:cubicBezTo>
                  <a:lnTo>
                    <a:pt x="643128" y="0"/>
                  </a:lnTo>
                  <a:cubicBezTo>
                    <a:pt x="724662" y="0"/>
                    <a:pt x="790829" y="66040"/>
                    <a:pt x="790829" y="147701"/>
                  </a:cubicBezTo>
                  <a:lnTo>
                    <a:pt x="790829" y="643128"/>
                  </a:lnTo>
                  <a:cubicBezTo>
                    <a:pt x="790829" y="724662"/>
                    <a:pt x="724789" y="790829"/>
                    <a:pt x="643128" y="790829"/>
                  </a:cubicBezTo>
                  <a:lnTo>
                    <a:pt x="147701" y="790829"/>
                  </a:lnTo>
                  <a:cubicBezTo>
                    <a:pt x="66040" y="790829"/>
                    <a:pt x="0" y="724662"/>
                    <a:pt x="0" y="643128"/>
                  </a:cubicBezTo>
                  <a:close/>
                </a:path>
              </a:pathLst>
            </a:custGeom>
            <a:solidFill>
              <a:srgbClr val="E1E1EA"/>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lt1"/>
                </a:buClr>
                <a:buSzPts val="1800"/>
                <a:buFont typeface="Arial"/>
                <a:buNone/>
              </a:pPr>
              <a:endParaRPr sz="1800" b="0" i="0" u="none" strike="noStrike" cap="none">
                <a:solidFill>
                  <a:schemeClr val="lt1"/>
                </a:solidFill>
                <a:latin typeface="Arial"/>
                <a:ea typeface="Arial"/>
                <a:cs typeface="Arial"/>
                <a:sym typeface="Arial"/>
              </a:endParaRPr>
            </a:p>
          </p:txBody>
        </p:sp>
        <p:sp>
          <p:nvSpPr>
            <p:cNvPr id="480" name="Google Shape;480;p1"/>
            <p:cNvSpPr/>
            <p:nvPr/>
          </p:nvSpPr>
          <p:spPr>
            <a:xfrm>
              <a:off x="0" y="0"/>
              <a:ext cx="803529" cy="803529"/>
            </a:xfrm>
            <a:custGeom>
              <a:avLst/>
              <a:gdLst/>
              <a:ahLst/>
              <a:cxnLst/>
              <a:rect l="l" t="t" r="r" b="b"/>
              <a:pathLst>
                <a:path w="803529" h="803529" extrusionOk="0">
                  <a:moveTo>
                    <a:pt x="0" y="154051"/>
                  </a:moveTo>
                  <a:cubicBezTo>
                    <a:pt x="0" y="68961"/>
                    <a:pt x="68961" y="0"/>
                    <a:pt x="154051" y="0"/>
                  </a:cubicBezTo>
                  <a:lnTo>
                    <a:pt x="649478" y="0"/>
                  </a:lnTo>
                  <a:lnTo>
                    <a:pt x="649478" y="6350"/>
                  </a:lnTo>
                  <a:lnTo>
                    <a:pt x="649478" y="0"/>
                  </a:lnTo>
                  <a:cubicBezTo>
                    <a:pt x="734568" y="0"/>
                    <a:pt x="803529" y="68961"/>
                    <a:pt x="803529" y="154051"/>
                  </a:cubicBezTo>
                  <a:lnTo>
                    <a:pt x="797179" y="154051"/>
                  </a:lnTo>
                  <a:lnTo>
                    <a:pt x="803529" y="154051"/>
                  </a:lnTo>
                  <a:lnTo>
                    <a:pt x="803529" y="649478"/>
                  </a:lnTo>
                  <a:lnTo>
                    <a:pt x="797179" y="649478"/>
                  </a:lnTo>
                  <a:lnTo>
                    <a:pt x="803529" y="649478"/>
                  </a:lnTo>
                  <a:cubicBezTo>
                    <a:pt x="803529" y="734568"/>
                    <a:pt x="734568" y="803529"/>
                    <a:pt x="649478" y="803529"/>
                  </a:cubicBezTo>
                  <a:lnTo>
                    <a:pt x="649478" y="797179"/>
                  </a:lnTo>
                  <a:lnTo>
                    <a:pt x="649478" y="803529"/>
                  </a:lnTo>
                  <a:lnTo>
                    <a:pt x="154051" y="803529"/>
                  </a:lnTo>
                  <a:lnTo>
                    <a:pt x="154051" y="797179"/>
                  </a:lnTo>
                  <a:lnTo>
                    <a:pt x="154051" y="803529"/>
                  </a:lnTo>
                  <a:cubicBezTo>
                    <a:pt x="68961" y="803529"/>
                    <a:pt x="0" y="734568"/>
                    <a:pt x="0" y="649478"/>
                  </a:cubicBezTo>
                  <a:lnTo>
                    <a:pt x="0" y="154051"/>
                  </a:lnTo>
                  <a:lnTo>
                    <a:pt x="6350" y="154051"/>
                  </a:lnTo>
                  <a:lnTo>
                    <a:pt x="0" y="154051"/>
                  </a:lnTo>
                  <a:moveTo>
                    <a:pt x="12700" y="154051"/>
                  </a:moveTo>
                  <a:lnTo>
                    <a:pt x="12700" y="649478"/>
                  </a:lnTo>
                  <a:lnTo>
                    <a:pt x="6350" y="649478"/>
                  </a:lnTo>
                  <a:lnTo>
                    <a:pt x="12700" y="649478"/>
                  </a:lnTo>
                  <a:cubicBezTo>
                    <a:pt x="12700" y="727456"/>
                    <a:pt x="75946" y="790829"/>
                    <a:pt x="154051" y="790829"/>
                  </a:cubicBezTo>
                  <a:lnTo>
                    <a:pt x="649478" y="790829"/>
                  </a:lnTo>
                  <a:cubicBezTo>
                    <a:pt x="727456" y="790829"/>
                    <a:pt x="790829" y="727583"/>
                    <a:pt x="790829" y="649478"/>
                  </a:cubicBezTo>
                  <a:lnTo>
                    <a:pt x="790829" y="154051"/>
                  </a:lnTo>
                  <a:cubicBezTo>
                    <a:pt x="790829" y="75946"/>
                    <a:pt x="727456" y="12700"/>
                    <a:pt x="649478" y="12700"/>
                  </a:cubicBezTo>
                  <a:lnTo>
                    <a:pt x="154051" y="12700"/>
                  </a:lnTo>
                  <a:lnTo>
                    <a:pt x="154051" y="6350"/>
                  </a:lnTo>
                  <a:lnTo>
                    <a:pt x="154051" y="12700"/>
                  </a:lnTo>
                  <a:cubicBezTo>
                    <a:pt x="75946" y="12700"/>
                    <a:pt x="12700" y="75946"/>
                    <a:pt x="12700" y="154051"/>
                  </a:cubicBezTo>
                  <a:close/>
                </a:path>
              </a:pathLst>
            </a:custGeom>
            <a:solidFill>
              <a:srgbClr val="C7C7D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lt1"/>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481" name="Google Shape;481;p1"/>
          <p:cNvSpPr txBox="1"/>
          <p:nvPr/>
        </p:nvSpPr>
        <p:spPr>
          <a:xfrm>
            <a:off x="13977714" y="5619452"/>
            <a:ext cx="395400" cy="4467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3C3939"/>
              </a:buClr>
              <a:buSzPts val="3062"/>
              <a:buFont typeface="Raleway"/>
              <a:buNone/>
            </a:pPr>
            <a:r>
              <a:rPr lang="en-US" sz="3062" b="0" i="0" u="none" strike="noStrike" cap="none">
                <a:solidFill>
                  <a:srgbClr val="3C3939"/>
                </a:solidFill>
                <a:latin typeface="Raleway"/>
                <a:ea typeface="Raleway"/>
                <a:cs typeface="Raleway"/>
                <a:sym typeface="Raleway"/>
              </a:rPr>
              <a:t>4</a:t>
            </a:r>
            <a:endParaRPr sz="1800" b="0" i="0" u="none" strike="noStrike" cap="none">
              <a:solidFill>
                <a:schemeClr val="lt1"/>
              </a:solidFill>
              <a:latin typeface="Arial"/>
              <a:ea typeface="Arial"/>
              <a:cs typeface="Arial"/>
              <a:sym typeface="Arial"/>
            </a:endParaRPr>
          </a:p>
        </p:txBody>
      </p:sp>
      <p:sp>
        <p:nvSpPr>
          <p:cNvPr id="482" name="Google Shape;482;p1"/>
          <p:cNvSpPr txBox="1"/>
          <p:nvPr/>
        </p:nvSpPr>
        <p:spPr>
          <a:xfrm>
            <a:off x="11958935" y="6854429"/>
            <a:ext cx="4433100" cy="430800"/>
          </a:xfrm>
          <a:prstGeom prst="rect">
            <a:avLst/>
          </a:prstGeom>
          <a:noFill/>
          <a:ln>
            <a:noFill/>
          </a:ln>
        </p:spPr>
        <p:txBody>
          <a:bodyPr spcFirstLastPara="1" wrap="square" lIns="0" tIns="0" rIns="0" bIns="0" anchor="t" anchorCtr="0">
            <a:spAutoFit/>
          </a:bodyPr>
          <a:lstStyle/>
          <a:p>
            <a:pPr marL="0" marR="0" lvl="0" indent="0" algn="ctr" rtl="0">
              <a:lnSpc>
                <a:spcPct val="124395"/>
              </a:lnSpc>
              <a:spcBef>
                <a:spcPts val="0"/>
              </a:spcBef>
              <a:spcAft>
                <a:spcPts val="0"/>
              </a:spcAft>
              <a:buClr>
                <a:srgbClr val="3C3939"/>
              </a:buClr>
              <a:buSzPts val="2562"/>
              <a:buFont typeface="Raleway"/>
              <a:buNone/>
            </a:pPr>
            <a:r>
              <a:rPr lang="en-US" sz="2562" b="0" i="0" u="none" strike="noStrike" cap="none">
                <a:solidFill>
                  <a:srgbClr val="3C3939"/>
                </a:solidFill>
                <a:latin typeface="Raleway"/>
                <a:ea typeface="Raleway"/>
                <a:cs typeface="Raleway"/>
                <a:sym typeface="Raleway"/>
              </a:rPr>
              <a:t>2023+ - The Generative AI Era</a:t>
            </a:r>
            <a:endParaRPr sz="1800" b="0" i="0" u="none" strike="noStrike" cap="none">
              <a:solidFill>
                <a:schemeClr val="lt1"/>
              </a:solidFill>
              <a:latin typeface="Arial"/>
              <a:ea typeface="Arial"/>
              <a:cs typeface="Arial"/>
              <a:sym typeface="Arial"/>
            </a:endParaRPr>
          </a:p>
        </p:txBody>
      </p:sp>
      <p:sp>
        <p:nvSpPr>
          <p:cNvPr id="483" name="Google Shape;483;p1"/>
          <p:cNvSpPr txBox="1"/>
          <p:nvPr/>
        </p:nvSpPr>
        <p:spPr>
          <a:xfrm>
            <a:off x="11249471" y="7357616"/>
            <a:ext cx="5852100" cy="2193900"/>
          </a:xfrm>
          <a:prstGeom prst="rect">
            <a:avLst/>
          </a:prstGeom>
          <a:noFill/>
          <a:ln>
            <a:noFill/>
          </a:ln>
        </p:spPr>
        <p:txBody>
          <a:bodyPr spcFirstLastPara="1" wrap="square" lIns="0" tIns="0" rIns="0" bIns="0" anchor="t" anchorCtr="0">
            <a:spAutoFit/>
          </a:bodyPr>
          <a:lstStyle/>
          <a:p>
            <a:pPr marL="0" marR="0" lvl="0" indent="0" algn="ctr" rtl="0">
              <a:lnSpc>
                <a:spcPct val="160620"/>
              </a:lnSpc>
              <a:spcBef>
                <a:spcPts val="0"/>
              </a:spcBef>
              <a:spcAft>
                <a:spcPts val="0"/>
              </a:spcAft>
              <a:buClr>
                <a:srgbClr val="3C3939"/>
              </a:buClr>
              <a:buSzPts val="2062"/>
              <a:buFont typeface="Roboto"/>
              <a:buNone/>
            </a:pPr>
            <a:r>
              <a:rPr lang="en-US" sz="2062" b="0" i="0" u="none" strike="noStrike" cap="none">
                <a:solidFill>
                  <a:srgbClr val="3C3939"/>
                </a:solidFill>
                <a:latin typeface="Roboto"/>
                <a:ea typeface="Roboto"/>
                <a:cs typeface="Roboto"/>
                <a:sym typeface="Roboto"/>
              </a:rPr>
              <a:t>Large Language Models (LLMs) begin to demonstrate the ability to not only understand but also automatically generate and repair code, transforming possibilities for automated correction and adaptive self-healing.</a:t>
            </a:r>
            <a:endParaRPr sz="1800" b="0" i="0" u="none" strike="noStrike" cap="none">
              <a:solidFill>
                <a:schemeClr val="lt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1"/>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ECECF3"/>
          </a:solidFill>
          <a:ln>
            <a:noFill/>
          </a:ln>
        </p:spPr>
      </p:sp>
      <p:sp>
        <p:nvSpPr>
          <p:cNvPr id="491" name="Google Shape;491;p1"/>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FFFFF">
              <a:alpha val="89410"/>
            </a:srgbClr>
          </a:solidFill>
          <a:ln>
            <a:noFill/>
          </a:ln>
        </p:spPr>
      </p:sp>
      <p:sp>
        <p:nvSpPr>
          <p:cNvPr id="492" name="Google Shape;492;p1"/>
          <p:cNvSpPr txBox="1"/>
          <p:nvPr/>
        </p:nvSpPr>
        <p:spPr>
          <a:xfrm>
            <a:off x="992238" y="1323380"/>
            <a:ext cx="16303500" cy="1800600"/>
          </a:xfrm>
          <a:prstGeom prst="rect">
            <a:avLst/>
          </a:prstGeom>
          <a:noFill/>
          <a:ln>
            <a:noFill/>
          </a:ln>
        </p:spPr>
        <p:txBody>
          <a:bodyPr spcFirstLastPara="1" wrap="square" lIns="0" tIns="0" rIns="0" bIns="0" anchor="t" anchorCtr="0">
            <a:spAutoFit/>
          </a:bodyPr>
          <a:lstStyle/>
          <a:p>
            <a:pPr marL="0" marR="0" lvl="0" indent="0" algn="l" rtl="0">
              <a:lnSpc>
                <a:spcPct val="124721"/>
              </a:lnSpc>
              <a:spcBef>
                <a:spcPts val="0"/>
              </a:spcBef>
              <a:spcAft>
                <a:spcPts val="0"/>
              </a:spcAft>
              <a:buClr>
                <a:srgbClr val="1B1B27"/>
              </a:buClr>
              <a:buSzPts val="5562"/>
              <a:buFont typeface="Raleway"/>
              <a:buNone/>
            </a:pPr>
            <a:r>
              <a:rPr lang="en-US" sz="5562" b="0" i="0" u="none" strike="noStrike" cap="none">
                <a:solidFill>
                  <a:srgbClr val="1B1B27"/>
                </a:solidFill>
                <a:latin typeface="Raleway"/>
                <a:ea typeface="Raleway"/>
                <a:cs typeface="Raleway"/>
                <a:sym typeface="Raleway"/>
              </a:rPr>
              <a:t>Foundational Concepts: Fault Tolerance Strategies</a:t>
            </a:r>
            <a:endParaRPr sz="1800" b="0" i="0" u="none" strike="noStrike" cap="none">
              <a:solidFill>
                <a:schemeClr val="lt1"/>
              </a:solidFill>
              <a:latin typeface="Arial"/>
              <a:ea typeface="Arial"/>
              <a:cs typeface="Arial"/>
              <a:sym typeface="Arial"/>
            </a:endParaRPr>
          </a:p>
        </p:txBody>
      </p:sp>
      <p:sp>
        <p:nvSpPr>
          <p:cNvPr id="493" name="Google Shape;493;p1"/>
          <p:cNvSpPr/>
          <p:nvPr/>
        </p:nvSpPr>
        <p:spPr>
          <a:xfrm>
            <a:off x="992238" y="4078040"/>
            <a:ext cx="5245417" cy="152400"/>
          </a:xfrm>
          <a:custGeom>
            <a:avLst/>
            <a:gdLst/>
            <a:ahLst/>
            <a:cxnLst/>
            <a:rect l="l" t="t" r="r" b="b"/>
            <a:pathLst>
              <a:path w="6993890" h="203200" extrusionOk="0">
                <a:moveTo>
                  <a:pt x="0" y="101600"/>
                </a:moveTo>
                <a:cubicBezTo>
                  <a:pt x="0" y="45466"/>
                  <a:pt x="45466" y="0"/>
                  <a:pt x="101600" y="0"/>
                </a:cubicBezTo>
                <a:lnTo>
                  <a:pt x="6892290" y="0"/>
                </a:lnTo>
                <a:cubicBezTo>
                  <a:pt x="6948424" y="0"/>
                  <a:pt x="6993890" y="45466"/>
                  <a:pt x="6993890" y="101600"/>
                </a:cubicBezTo>
                <a:cubicBezTo>
                  <a:pt x="6993890" y="157734"/>
                  <a:pt x="6948424" y="203200"/>
                  <a:pt x="6892290" y="203200"/>
                </a:cubicBezTo>
                <a:lnTo>
                  <a:pt x="101600" y="203200"/>
                </a:lnTo>
                <a:cubicBezTo>
                  <a:pt x="45466" y="203200"/>
                  <a:pt x="0" y="157734"/>
                  <a:pt x="0" y="101600"/>
                </a:cubicBezTo>
                <a:close/>
              </a:path>
            </a:pathLst>
          </a:custGeom>
          <a:solidFill>
            <a:srgbClr val="1B1B27"/>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lt1"/>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4" name="Google Shape;494;p1"/>
          <p:cNvSpPr/>
          <p:nvPr/>
        </p:nvSpPr>
        <p:spPr>
          <a:xfrm>
            <a:off x="3189610" y="3690937"/>
            <a:ext cx="850582" cy="850582"/>
          </a:xfrm>
          <a:custGeom>
            <a:avLst/>
            <a:gdLst/>
            <a:ahLst/>
            <a:cxnLst/>
            <a:rect l="l" t="t" r="r" b="b"/>
            <a:pathLst>
              <a:path w="1134110" h="1134110" extrusionOk="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1B1B27"/>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lt1"/>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5" name="Google Shape;495;p1"/>
          <p:cNvSpPr txBox="1"/>
          <p:nvPr/>
        </p:nvSpPr>
        <p:spPr>
          <a:xfrm>
            <a:off x="3444701" y="3789312"/>
            <a:ext cx="340200" cy="539400"/>
          </a:xfrm>
          <a:prstGeom prst="rect">
            <a:avLst/>
          </a:prstGeom>
          <a:noFill/>
          <a:ln>
            <a:noFill/>
          </a:ln>
        </p:spPr>
        <p:txBody>
          <a:bodyPr spcFirstLastPara="1" wrap="square" lIns="0" tIns="0" rIns="0" bIns="0" anchor="t" anchorCtr="0">
            <a:spAutoFit/>
          </a:bodyPr>
          <a:lstStyle/>
          <a:p>
            <a:pPr marL="0" marR="0" lvl="0" indent="0" algn="l" rtl="0">
              <a:lnSpc>
                <a:spcPct val="161904"/>
              </a:lnSpc>
              <a:spcBef>
                <a:spcPts val="0"/>
              </a:spcBef>
              <a:spcAft>
                <a:spcPts val="0"/>
              </a:spcAft>
              <a:buClr>
                <a:srgbClr val="FFFFFF"/>
              </a:buClr>
              <a:buSzPts val="2625"/>
              <a:buFont typeface="Raleway"/>
              <a:buNone/>
            </a:pPr>
            <a:r>
              <a:rPr lang="en-US" sz="2625" b="0" i="0" u="none" strike="noStrike" cap="none">
                <a:solidFill>
                  <a:srgbClr val="FFFFFF"/>
                </a:solidFill>
                <a:latin typeface="Raleway"/>
                <a:ea typeface="Raleway"/>
                <a:cs typeface="Raleway"/>
                <a:sym typeface="Raleway"/>
              </a:rPr>
              <a:t>1</a:t>
            </a:r>
            <a:endParaRPr sz="1800" b="0" i="0" u="none" strike="noStrike" cap="none">
              <a:solidFill>
                <a:schemeClr val="lt1"/>
              </a:solidFill>
              <a:latin typeface="Arial"/>
              <a:ea typeface="Arial"/>
              <a:cs typeface="Arial"/>
              <a:sym typeface="Arial"/>
            </a:endParaRPr>
          </a:p>
        </p:txBody>
      </p:sp>
      <p:sp>
        <p:nvSpPr>
          <p:cNvPr id="496" name="Google Shape;496;p1"/>
          <p:cNvSpPr txBox="1"/>
          <p:nvPr/>
        </p:nvSpPr>
        <p:spPr>
          <a:xfrm>
            <a:off x="1313855" y="4796284"/>
            <a:ext cx="35439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Clr>
                <a:srgbClr val="3C3939"/>
              </a:buClr>
              <a:buSzPts val="2750"/>
              <a:buFont typeface="Raleway"/>
              <a:buNone/>
            </a:pPr>
            <a:r>
              <a:rPr lang="en-US" sz="2750" b="0" i="0" u="none" strike="noStrike" cap="none">
                <a:solidFill>
                  <a:srgbClr val="3C3939"/>
                </a:solidFill>
                <a:latin typeface="Raleway"/>
                <a:ea typeface="Raleway"/>
                <a:cs typeface="Raleway"/>
                <a:sym typeface="Raleway"/>
              </a:rPr>
              <a:t>Redundancy</a:t>
            </a:r>
            <a:endParaRPr sz="1800" b="0" i="0" u="none" strike="noStrike" cap="none">
              <a:solidFill>
                <a:schemeClr val="lt1"/>
              </a:solidFill>
              <a:latin typeface="Arial"/>
              <a:ea typeface="Arial"/>
              <a:cs typeface="Arial"/>
              <a:sym typeface="Arial"/>
            </a:endParaRPr>
          </a:p>
        </p:txBody>
      </p:sp>
      <p:sp>
        <p:nvSpPr>
          <p:cNvPr id="497" name="Google Shape;497;p1"/>
          <p:cNvSpPr txBox="1"/>
          <p:nvPr/>
        </p:nvSpPr>
        <p:spPr>
          <a:xfrm>
            <a:off x="1313855" y="5342632"/>
            <a:ext cx="4602300" cy="21933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Clr>
                <a:srgbClr val="3C3939"/>
              </a:buClr>
              <a:buSzPts val="2187"/>
              <a:buFont typeface="Roboto"/>
              <a:buNone/>
            </a:pPr>
            <a:r>
              <a:rPr lang="en-US" sz="2187" b="0" i="0" u="none" strike="noStrike" cap="none">
                <a:solidFill>
                  <a:srgbClr val="3C3939"/>
                </a:solidFill>
                <a:latin typeface="Roboto"/>
                <a:ea typeface="Roboto"/>
                <a:cs typeface="Roboto"/>
                <a:sym typeface="Roboto"/>
              </a:rPr>
              <a:t>Employing duplicate or backup components (servers, services, data stores) that can immediately take over if a primary component fails. </a:t>
            </a:r>
            <a:endParaRPr sz="1800" b="0" i="0" u="none" strike="noStrike" cap="none">
              <a:solidFill>
                <a:schemeClr val="lt1"/>
              </a:solidFill>
              <a:latin typeface="Arial"/>
              <a:ea typeface="Arial"/>
              <a:cs typeface="Arial"/>
              <a:sym typeface="Arial"/>
            </a:endParaRPr>
          </a:p>
        </p:txBody>
      </p:sp>
      <p:sp>
        <p:nvSpPr>
          <p:cNvPr id="498" name="Google Shape;498;p1"/>
          <p:cNvSpPr/>
          <p:nvPr/>
        </p:nvSpPr>
        <p:spPr>
          <a:xfrm>
            <a:off x="6521202" y="4078040"/>
            <a:ext cx="5245417" cy="152400"/>
          </a:xfrm>
          <a:custGeom>
            <a:avLst/>
            <a:gdLst/>
            <a:ahLst/>
            <a:cxnLst/>
            <a:rect l="l" t="t" r="r" b="b"/>
            <a:pathLst>
              <a:path w="6993890" h="203200" extrusionOk="0">
                <a:moveTo>
                  <a:pt x="0" y="101600"/>
                </a:moveTo>
                <a:cubicBezTo>
                  <a:pt x="0" y="45466"/>
                  <a:pt x="45466" y="0"/>
                  <a:pt x="101600" y="0"/>
                </a:cubicBezTo>
                <a:lnTo>
                  <a:pt x="6892290" y="0"/>
                </a:lnTo>
                <a:cubicBezTo>
                  <a:pt x="6948424" y="0"/>
                  <a:pt x="6993890" y="45466"/>
                  <a:pt x="6993890" y="101600"/>
                </a:cubicBezTo>
                <a:cubicBezTo>
                  <a:pt x="6993890" y="157734"/>
                  <a:pt x="6948424" y="203200"/>
                  <a:pt x="6892290" y="203200"/>
                </a:cubicBezTo>
                <a:lnTo>
                  <a:pt x="101600" y="203200"/>
                </a:lnTo>
                <a:cubicBezTo>
                  <a:pt x="45466" y="203200"/>
                  <a:pt x="0" y="157734"/>
                  <a:pt x="0" y="101600"/>
                </a:cubicBezTo>
                <a:close/>
              </a:path>
            </a:pathLst>
          </a:custGeom>
          <a:solidFill>
            <a:srgbClr val="1B1B27"/>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lt1"/>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9" name="Google Shape;499;p1"/>
          <p:cNvSpPr/>
          <p:nvPr/>
        </p:nvSpPr>
        <p:spPr>
          <a:xfrm>
            <a:off x="8718575" y="3690937"/>
            <a:ext cx="850582" cy="850582"/>
          </a:xfrm>
          <a:custGeom>
            <a:avLst/>
            <a:gdLst/>
            <a:ahLst/>
            <a:cxnLst/>
            <a:rect l="l" t="t" r="r" b="b"/>
            <a:pathLst>
              <a:path w="1134110" h="1134110" extrusionOk="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1B1B27"/>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lt1"/>
              </a:buClr>
              <a:buSzPts val="1800"/>
              <a:buFont typeface="Arial"/>
              <a:buNone/>
            </a:pPr>
            <a:endParaRPr sz="1800" b="0" i="0" u="none" strike="noStrike" cap="none">
              <a:solidFill>
                <a:schemeClr val="lt1"/>
              </a:solidFill>
              <a:latin typeface="Arial"/>
              <a:ea typeface="Arial"/>
              <a:cs typeface="Arial"/>
              <a:sym typeface="Arial"/>
            </a:endParaRPr>
          </a:p>
        </p:txBody>
      </p:sp>
      <p:sp>
        <p:nvSpPr>
          <p:cNvPr id="500" name="Google Shape;500;p1"/>
          <p:cNvSpPr txBox="1"/>
          <p:nvPr/>
        </p:nvSpPr>
        <p:spPr>
          <a:xfrm>
            <a:off x="8973666" y="3789312"/>
            <a:ext cx="340200" cy="539400"/>
          </a:xfrm>
          <a:prstGeom prst="rect">
            <a:avLst/>
          </a:prstGeom>
          <a:noFill/>
          <a:ln>
            <a:noFill/>
          </a:ln>
        </p:spPr>
        <p:txBody>
          <a:bodyPr spcFirstLastPara="1" wrap="square" lIns="0" tIns="0" rIns="0" bIns="0" anchor="t" anchorCtr="0">
            <a:spAutoFit/>
          </a:bodyPr>
          <a:lstStyle/>
          <a:p>
            <a:pPr marL="0" marR="0" lvl="0" indent="0" algn="l" rtl="0">
              <a:lnSpc>
                <a:spcPct val="161904"/>
              </a:lnSpc>
              <a:spcBef>
                <a:spcPts val="0"/>
              </a:spcBef>
              <a:spcAft>
                <a:spcPts val="0"/>
              </a:spcAft>
              <a:buClr>
                <a:srgbClr val="FFFFFF"/>
              </a:buClr>
              <a:buSzPts val="2625"/>
              <a:buFont typeface="Raleway"/>
              <a:buNone/>
            </a:pPr>
            <a:r>
              <a:rPr lang="en-US" sz="2625" b="0" i="0" u="none" strike="noStrike" cap="none">
                <a:solidFill>
                  <a:srgbClr val="FFFFFF"/>
                </a:solidFill>
                <a:latin typeface="Raleway"/>
                <a:ea typeface="Raleway"/>
                <a:cs typeface="Raleway"/>
                <a:sym typeface="Raleway"/>
              </a:rPr>
              <a:t>2</a:t>
            </a:r>
            <a:endParaRPr sz="1800" b="0" i="0" u="none" strike="noStrike" cap="none">
              <a:solidFill>
                <a:schemeClr val="lt1"/>
              </a:solidFill>
              <a:latin typeface="Arial"/>
              <a:ea typeface="Arial"/>
              <a:cs typeface="Arial"/>
              <a:sym typeface="Arial"/>
            </a:endParaRPr>
          </a:p>
        </p:txBody>
      </p:sp>
      <p:sp>
        <p:nvSpPr>
          <p:cNvPr id="501" name="Google Shape;501;p1"/>
          <p:cNvSpPr txBox="1"/>
          <p:nvPr/>
        </p:nvSpPr>
        <p:spPr>
          <a:xfrm>
            <a:off x="6842820" y="4796284"/>
            <a:ext cx="35439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Clr>
                <a:srgbClr val="3C3939"/>
              </a:buClr>
              <a:buSzPts val="2750"/>
              <a:buFont typeface="Raleway"/>
              <a:buNone/>
            </a:pPr>
            <a:r>
              <a:rPr lang="en-US" sz="2750" b="0" i="0" u="none" strike="noStrike" cap="none">
                <a:solidFill>
                  <a:srgbClr val="3C3939"/>
                </a:solidFill>
                <a:latin typeface="Raleway"/>
                <a:ea typeface="Raleway"/>
                <a:cs typeface="Raleway"/>
                <a:sym typeface="Raleway"/>
              </a:rPr>
              <a:t>Predictive Analytics</a:t>
            </a:r>
            <a:endParaRPr sz="1800" b="0" i="0" u="none" strike="noStrike" cap="none">
              <a:solidFill>
                <a:schemeClr val="lt1"/>
              </a:solidFill>
              <a:latin typeface="Arial"/>
              <a:ea typeface="Arial"/>
              <a:cs typeface="Arial"/>
              <a:sym typeface="Arial"/>
            </a:endParaRPr>
          </a:p>
        </p:txBody>
      </p:sp>
      <p:sp>
        <p:nvSpPr>
          <p:cNvPr id="502" name="Google Shape;502;p1"/>
          <p:cNvSpPr txBox="1"/>
          <p:nvPr/>
        </p:nvSpPr>
        <p:spPr>
          <a:xfrm>
            <a:off x="6842820" y="5342632"/>
            <a:ext cx="4602300" cy="21933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Clr>
                <a:srgbClr val="3C3939"/>
              </a:buClr>
              <a:buSzPts val="2187"/>
              <a:buFont typeface="Roboto"/>
              <a:buNone/>
            </a:pPr>
            <a:r>
              <a:rPr lang="en-US" sz="2187" b="0" i="0" u="none" strike="noStrike" cap="none">
                <a:solidFill>
                  <a:srgbClr val="3C3939"/>
                </a:solidFill>
                <a:latin typeface="Roboto"/>
                <a:ea typeface="Roboto"/>
                <a:cs typeface="Roboto"/>
                <a:sym typeface="Roboto"/>
              </a:rPr>
              <a:t>Utilizing machine learning algorithms to analyze historical and real-time system data, forecasting the likelihood of future failures. </a:t>
            </a:r>
            <a:endParaRPr sz="1800" b="0" i="0" u="none" strike="noStrike" cap="none">
              <a:solidFill>
                <a:schemeClr val="lt1"/>
              </a:solidFill>
              <a:latin typeface="Arial"/>
              <a:ea typeface="Arial"/>
              <a:cs typeface="Arial"/>
              <a:sym typeface="Arial"/>
            </a:endParaRPr>
          </a:p>
        </p:txBody>
      </p:sp>
      <p:sp>
        <p:nvSpPr>
          <p:cNvPr id="503" name="Google Shape;503;p1"/>
          <p:cNvSpPr/>
          <p:nvPr/>
        </p:nvSpPr>
        <p:spPr>
          <a:xfrm>
            <a:off x="12050166" y="4078040"/>
            <a:ext cx="5245417" cy="152400"/>
          </a:xfrm>
          <a:custGeom>
            <a:avLst/>
            <a:gdLst/>
            <a:ahLst/>
            <a:cxnLst/>
            <a:rect l="l" t="t" r="r" b="b"/>
            <a:pathLst>
              <a:path w="6993890" h="203200" extrusionOk="0">
                <a:moveTo>
                  <a:pt x="0" y="101600"/>
                </a:moveTo>
                <a:cubicBezTo>
                  <a:pt x="0" y="45466"/>
                  <a:pt x="45466" y="0"/>
                  <a:pt x="101600" y="0"/>
                </a:cubicBezTo>
                <a:lnTo>
                  <a:pt x="6892290" y="0"/>
                </a:lnTo>
                <a:cubicBezTo>
                  <a:pt x="6948424" y="0"/>
                  <a:pt x="6993890" y="45466"/>
                  <a:pt x="6993890" y="101600"/>
                </a:cubicBezTo>
                <a:cubicBezTo>
                  <a:pt x="6993890" y="157734"/>
                  <a:pt x="6948424" y="203200"/>
                  <a:pt x="6892290" y="203200"/>
                </a:cubicBezTo>
                <a:lnTo>
                  <a:pt x="101600" y="203200"/>
                </a:lnTo>
                <a:cubicBezTo>
                  <a:pt x="45466" y="203200"/>
                  <a:pt x="0" y="157734"/>
                  <a:pt x="0" y="101600"/>
                </a:cubicBezTo>
                <a:close/>
              </a:path>
            </a:pathLst>
          </a:custGeom>
          <a:solidFill>
            <a:srgbClr val="1B1B27"/>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lt1"/>
              </a:buClr>
              <a:buSzPts val="1800"/>
              <a:buFont typeface="Arial"/>
              <a:buNone/>
            </a:pPr>
            <a:endParaRPr sz="1800" b="0" i="0" u="none" strike="noStrike" cap="none">
              <a:solidFill>
                <a:schemeClr val="lt1"/>
              </a:solidFill>
              <a:latin typeface="Arial"/>
              <a:ea typeface="Arial"/>
              <a:cs typeface="Arial"/>
              <a:sym typeface="Arial"/>
            </a:endParaRPr>
          </a:p>
        </p:txBody>
      </p:sp>
      <p:sp>
        <p:nvSpPr>
          <p:cNvPr id="504" name="Google Shape;504;p1"/>
          <p:cNvSpPr/>
          <p:nvPr/>
        </p:nvSpPr>
        <p:spPr>
          <a:xfrm>
            <a:off x="14247540" y="3690937"/>
            <a:ext cx="850583" cy="850582"/>
          </a:xfrm>
          <a:custGeom>
            <a:avLst/>
            <a:gdLst/>
            <a:ahLst/>
            <a:cxnLst/>
            <a:rect l="l" t="t" r="r" b="b"/>
            <a:pathLst>
              <a:path w="1134110" h="1134110" extrusionOk="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1B1B27"/>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lt1"/>
              </a:buClr>
              <a:buSzPts val="1800"/>
              <a:buFont typeface="Arial"/>
              <a:buNone/>
            </a:pPr>
            <a:endParaRPr sz="1800" b="0" i="0" u="none" strike="noStrike" cap="none">
              <a:solidFill>
                <a:schemeClr val="lt1"/>
              </a:solidFill>
              <a:latin typeface="Arial"/>
              <a:ea typeface="Arial"/>
              <a:cs typeface="Arial"/>
              <a:sym typeface="Arial"/>
            </a:endParaRPr>
          </a:p>
        </p:txBody>
      </p:sp>
      <p:sp>
        <p:nvSpPr>
          <p:cNvPr id="505" name="Google Shape;505;p1"/>
          <p:cNvSpPr txBox="1"/>
          <p:nvPr/>
        </p:nvSpPr>
        <p:spPr>
          <a:xfrm>
            <a:off x="14502631" y="3789312"/>
            <a:ext cx="340200" cy="539400"/>
          </a:xfrm>
          <a:prstGeom prst="rect">
            <a:avLst/>
          </a:prstGeom>
          <a:noFill/>
          <a:ln>
            <a:noFill/>
          </a:ln>
        </p:spPr>
        <p:txBody>
          <a:bodyPr spcFirstLastPara="1" wrap="square" lIns="0" tIns="0" rIns="0" bIns="0" anchor="t" anchorCtr="0">
            <a:spAutoFit/>
          </a:bodyPr>
          <a:lstStyle/>
          <a:p>
            <a:pPr marL="0" marR="0" lvl="0" indent="0" algn="l" rtl="0">
              <a:lnSpc>
                <a:spcPct val="161904"/>
              </a:lnSpc>
              <a:spcBef>
                <a:spcPts val="0"/>
              </a:spcBef>
              <a:spcAft>
                <a:spcPts val="0"/>
              </a:spcAft>
              <a:buClr>
                <a:srgbClr val="FFFFFF"/>
              </a:buClr>
              <a:buSzPts val="2625"/>
              <a:buFont typeface="Raleway"/>
              <a:buNone/>
            </a:pPr>
            <a:r>
              <a:rPr lang="en-US" sz="2625" b="0" i="0" u="none" strike="noStrike" cap="none">
                <a:solidFill>
                  <a:srgbClr val="FFFFFF"/>
                </a:solidFill>
                <a:latin typeface="Raleway"/>
                <a:ea typeface="Raleway"/>
                <a:cs typeface="Raleway"/>
                <a:sym typeface="Raleway"/>
              </a:rPr>
              <a:t>3</a:t>
            </a:r>
            <a:endParaRPr sz="1800" b="0" i="0" u="none" strike="noStrike" cap="none">
              <a:solidFill>
                <a:schemeClr val="lt1"/>
              </a:solidFill>
              <a:latin typeface="Arial"/>
              <a:ea typeface="Arial"/>
              <a:cs typeface="Arial"/>
              <a:sym typeface="Arial"/>
            </a:endParaRPr>
          </a:p>
        </p:txBody>
      </p:sp>
      <p:sp>
        <p:nvSpPr>
          <p:cNvPr id="506" name="Google Shape;506;p1"/>
          <p:cNvSpPr txBox="1"/>
          <p:nvPr/>
        </p:nvSpPr>
        <p:spPr>
          <a:xfrm>
            <a:off x="12371784" y="4796284"/>
            <a:ext cx="42345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Clr>
                <a:srgbClr val="3C3939"/>
              </a:buClr>
              <a:buSzPts val="2750"/>
              <a:buFont typeface="Raleway"/>
              <a:buNone/>
            </a:pPr>
            <a:r>
              <a:rPr lang="en-US" sz="2750" b="0" i="0" u="none" strike="noStrike" cap="none">
                <a:solidFill>
                  <a:srgbClr val="3C3939"/>
                </a:solidFill>
                <a:latin typeface="Raleway"/>
                <a:ea typeface="Raleway"/>
                <a:cs typeface="Raleway"/>
                <a:sym typeface="Raleway"/>
              </a:rPr>
              <a:t>Automatic Error Detection</a:t>
            </a:r>
            <a:endParaRPr sz="1800" b="0" i="0" u="none" strike="noStrike" cap="none">
              <a:solidFill>
                <a:schemeClr val="lt1"/>
              </a:solidFill>
              <a:latin typeface="Arial"/>
              <a:ea typeface="Arial"/>
              <a:cs typeface="Arial"/>
              <a:sym typeface="Arial"/>
            </a:endParaRPr>
          </a:p>
        </p:txBody>
      </p:sp>
      <p:sp>
        <p:nvSpPr>
          <p:cNvPr id="507" name="Google Shape;507;p1"/>
          <p:cNvSpPr txBox="1"/>
          <p:nvPr/>
        </p:nvSpPr>
        <p:spPr>
          <a:xfrm>
            <a:off x="12371784" y="5342632"/>
            <a:ext cx="4602300" cy="32706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Clr>
                <a:srgbClr val="3C3939"/>
              </a:buClr>
              <a:buSzPts val="2187"/>
              <a:buFont typeface="Roboto"/>
              <a:buNone/>
            </a:pPr>
            <a:r>
              <a:rPr lang="en-US" sz="2187" b="0" i="0" u="none" strike="noStrike" cap="none">
                <a:solidFill>
                  <a:srgbClr val="3C3939"/>
                </a:solidFill>
                <a:latin typeface="Roboto"/>
                <a:ea typeface="Roboto"/>
                <a:cs typeface="Roboto"/>
                <a:sym typeface="Roboto"/>
              </a:rPr>
              <a:t>Establishing a baseline of "normal" system behavior using statistical methods and machine learning. Anomaly detection algorithms automatically flag deviations, pinpointing faults or potential issues rapidly.</a:t>
            </a:r>
            <a:endParaRPr sz="1800" b="0" i="0" u="none" strike="noStrike" cap="none">
              <a:solidFill>
                <a:schemeClr val="lt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2"/>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ECECF3"/>
          </a:solidFill>
          <a:ln>
            <a:noFill/>
          </a:ln>
        </p:spPr>
      </p:sp>
      <p:sp>
        <p:nvSpPr>
          <p:cNvPr id="510" name="Google Shape;510;p2"/>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FFFFF">
              <a:alpha val="89410"/>
            </a:srgbClr>
          </a:solidFill>
          <a:ln>
            <a:noFill/>
          </a:ln>
        </p:spPr>
      </p:sp>
      <p:sp>
        <p:nvSpPr>
          <p:cNvPr id="511" name="Google Shape;511;p2"/>
          <p:cNvSpPr txBox="1"/>
          <p:nvPr/>
        </p:nvSpPr>
        <p:spPr>
          <a:xfrm>
            <a:off x="710207" y="538906"/>
            <a:ext cx="8746800" cy="653100"/>
          </a:xfrm>
          <a:prstGeom prst="rect">
            <a:avLst/>
          </a:prstGeom>
          <a:noFill/>
          <a:ln>
            <a:noFill/>
          </a:ln>
        </p:spPr>
        <p:txBody>
          <a:bodyPr spcFirstLastPara="1" wrap="square" lIns="0" tIns="0" rIns="0" bIns="0" anchor="t" anchorCtr="0">
            <a:spAutoFit/>
          </a:bodyPr>
          <a:lstStyle/>
          <a:p>
            <a:pPr marL="0" marR="0" lvl="0" indent="0" algn="l" rtl="0">
              <a:lnSpc>
                <a:spcPct val="125400"/>
              </a:lnSpc>
              <a:spcBef>
                <a:spcPts val="0"/>
              </a:spcBef>
              <a:spcAft>
                <a:spcPts val="0"/>
              </a:spcAft>
              <a:buClr>
                <a:srgbClr val="1B1B27"/>
              </a:buClr>
              <a:buSzPts val="3937"/>
              <a:buFont typeface="Raleway"/>
              <a:buNone/>
            </a:pPr>
            <a:r>
              <a:rPr lang="en-US" sz="3937" b="0" i="0" u="none" strike="noStrike" cap="none">
                <a:solidFill>
                  <a:srgbClr val="1B1B27"/>
                </a:solidFill>
                <a:latin typeface="Raleway"/>
                <a:ea typeface="Raleway"/>
                <a:cs typeface="Raleway"/>
                <a:sym typeface="Raleway"/>
              </a:rPr>
              <a:t>Architecture Patterns for Self-Healing</a:t>
            </a:r>
            <a:endParaRPr sz="1800" b="0" i="0" u="none" strike="noStrike" cap="none">
              <a:solidFill>
                <a:schemeClr val="lt1"/>
              </a:solidFill>
              <a:latin typeface="Arial"/>
              <a:ea typeface="Arial"/>
              <a:cs typeface="Arial"/>
              <a:sym typeface="Arial"/>
            </a:endParaRPr>
          </a:p>
        </p:txBody>
      </p:sp>
      <p:sp>
        <p:nvSpPr>
          <p:cNvPr id="512" name="Google Shape;512;p2"/>
          <p:cNvSpPr txBox="1"/>
          <p:nvPr/>
        </p:nvSpPr>
        <p:spPr>
          <a:xfrm>
            <a:off x="9144000" y="8064500"/>
            <a:ext cx="8186400" cy="11937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Clr>
                <a:srgbClr val="3C3939"/>
              </a:buClr>
              <a:buSzPts val="2000"/>
              <a:buFont typeface="Roboto"/>
              <a:buNone/>
            </a:pPr>
            <a:r>
              <a:rPr lang="en-US" sz="2000" b="0" i="0" u="none" strike="noStrike" cap="none">
                <a:solidFill>
                  <a:srgbClr val="3C3939"/>
                </a:solidFill>
                <a:latin typeface="Roboto"/>
                <a:ea typeface="Roboto"/>
                <a:cs typeface="Roboto"/>
                <a:sym typeface="Roboto"/>
              </a:rPr>
              <a:t>The MAPE-K Model is a foundational reference model for autonomic control. Many self-healing systems are designed based on this continuous loop.</a:t>
            </a:r>
            <a:endParaRPr sz="1800" b="0" i="0" u="none" strike="noStrike" cap="none">
              <a:solidFill>
                <a:schemeClr val="lt1"/>
              </a:solidFill>
              <a:latin typeface="Arial"/>
              <a:ea typeface="Arial"/>
              <a:cs typeface="Arial"/>
              <a:sym typeface="Arial"/>
            </a:endParaRPr>
          </a:p>
        </p:txBody>
      </p:sp>
      <p:sp>
        <p:nvSpPr>
          <p:cNvPr id="513" name="Google Shape;513;p2"/>
          <p:cNvSpPr txBox="1"/>
          <p:nvPr/>
        </p:nvSpPr>
        <p:spPr>
          <a:xfrm>
            <a:off x="9144000" y="1487443"/>
            <a:ext cx="2536500" cy="446100"/>
          </a:xfrm>
          <a:prstGeom prst="rect">
            <a:avLst/>
          </a:prstGeom>
          <a:noFill/>
          <a:ln>
            <a:noFill/>
          </a:ln>
        </p:spPr>
        <p:txBody>
          <a:bodyPr spcFirstLastPara="1" wrap="square" lIns="0" tIns="0" rIns="0" bIns="0" anchor="t" anchorCtr="0">
            <a:spAutoFit/>
          </a:bodyPr>
          <a:lstStyle/>
          <a:p>
            <a:pPr marL="0" marR="0" lvl="0" indent="0" algn="l" rtl="0">
              <a:lnSpc>
                <a:spcPct val="125830"/>
              </a:lnSpc>
              <a:spcBef>
                <a:spcPts val="0"/>
              </a:spcBef>
              <a:spcAft>
                <a:spcPts val="0"/>
              </a:spcAft>
              <a:buClr>
                <a:srgbClr val="1B1B27"/>
              </a:buClr>
              <a:buSzPts val="2799"/>
              <a:buFont typeface="Raleway"/>
              <a:buNone/>
            </a:pPr>
            <a:r>
              <a:rPr lang="en-US" sz="2799" b="0" i="0" u="none" strike="noStrike" cap="none">
                <a:solidFill>
                  <a:srgbClr val="1B1B27"/>
                </a:solidFill>
                <a:latin typeface="Raleway"/>
                <a:ea typeface="Raleway"/>
                <a:cs typeface="Raleway"/>
                <a:sym typeface="Raleway"/>
              </a:rPr>
              <a:t>MAPE-K Model</a:t>
            </a:r>
            <a:endParaRPr sz="1800" b="0" i="0" u="none" strike="noStrike" cap="none">
              <a:solidFill>
                <a:schemeClr val="lt1"/>
              </a:solidFill>
              <a:latin typeface="Arial"/>
              <a:ea typeface="Arial"/>
              <a:cs typeface="Arial"/>
              <a:sym typeface="Arial"/>
            </a:endParaRPr>
          </a:p>
        </p:txBody>
      </p:sp>
      <p:sp>
        <p:nvSpPr>
          <p:cNvPr id="514" name="Google Shape;514;p2"/>
          <p:cNvSpPr txBox="1"/>
          <p:nvPr/>
        </p:nvSpPr>
        <p:spPr>
          <a:xfrm>
            <a:off x="9144000" y="2677870"/>
            <a:ext cx="8186400" cy="793800"/>
          </a:xfrm>
          <a:prstGeom prst="rect">
            <a:avLst/>
          </a:prstGeom>
          <a:noFill/>
          <a:ln>
            <a:noFill/>
          </a:ln>
        </p:spPr>
        <p:txBody>
          <a:bodyPr spcFirstLastPara="1" wrap="square" lIns="0" tIns="0" rIns="0" bIns="0" anchor="t" anchorCtr="0">
            <a:spAutoFit/>
          </a:bodyPr>
          <a:lstStyle/>
          <a:p>
            <a:pPr marL="301625" marR="0" lvl="1" indent="-150812" algn="l" rtl="0">
              <a:lnSpc>
                <a:spcPct val="160000"/>
              </a:lnSpc>
              <a:spcBef>
                <a:spcPts val="0"/>
              </a:spcBef>
              <a:spcAft>
                <a:spcPts val="0"/>
              </a:spcAft>
              <a:buClr>
                <a:srgbClr val="3C3939"/>
              </a:buClr>
              <a:buSzPts val="2000"/>
              <a:buFont typeface="Arial"/>
              <a:buChar char="•"/>
            </a:pPr>
            <a:r>
              <a:rPr lang="en-US" sz="2000" b="1" i="0" u="none" strike="noStrike" cap="none">
                <a:solidFill>
                  <a:srgbClr val="3C3939"/>
                </a:solidFill>
                <a:latin typeface="Roboto"/>
                <a:ea typeface="Roboto"/>
                <a:cs typeface="Roboto"/>
                <a:sym typeface="Roboto"/>
              </a:rPr>
              <a:t>Monitor:</a:t>
            </a:r>
            <a:r>
              <a:rPr lang="en-US" sz="2000" b="0" i="0" u="none" strike="noStrike" cap="none">
                <a:solidFill>
                  <a:srgbClr val="3C3939"/>
                </a:solidFill>
                <a:latin typeface="Roboto"/>
                <a:ea typeface="Roboto"/>
                <a:cs typeface="Roboto"/>
                <a:sym typeface="Roboto"/>
              </a:rPr>
              <a:t> Continuously collect data from the system's various components and environments.</a:t>
            </a:r>
            <a:endParaRPr sz="1800" b="0" i="0" u="none" strike="noStrike" cap="none">
              <a:solidFill>
                <a:schemeClr val="lt1"/>
              </a:solidFill>
              <a:latin typeface="Arial"/>
              <a:ea typeface="Arial"/>
              <a:cs typeface="Arial"/>
              <a:sym typeface="Arial"/>
            </a:endParaRPr>
          </a:p>
        </p:txBody>
      </p:sp>
      <p:sp>
        <p:nvSpPr>
          <p:cNvPr id="515" name="Google Shape;515;p2"/>
          <p:cNvSpPr txBox="1"/>
          <p:nvPr/>
        </p:nvSpPr>
        <p:spPr>
          <a:xfrm>
            <a:off x="9144000" y="3624020"/>
            <a:ext cx="8532300" cy="793800"/>
          </a:xfrm>
          <a:prstGeom prst="rect">
            <a:avLst/>
          </a:prstGeom>
          <a:noFill/>
          <a:ln>
            <a:noFill/>
          </a:ln>
        </p:spPr>
        <p:txBody>
          <a:bodyPr spcFirstLastPara="1" wrap="square" lIns="0" tIns="0" rIns="0" bIns="0" anchor="t" anchorCtr="0">
            <a:spAutoFit/>
          </a:bodyPr>
          <a:lstStyle/>
          <a:p>
            <a:pPr marL="301625" marR="0" lvl="1" indent="-150812" algn="l" rtl="0">
              <a:lnSpc>
                <a:spcPct val="160000"/>
              </a:lnSpc>
              <a:spcBef>
                <a:spcPts val="0"/>
              </a:spcBef>
              <a:spcAft>
                <a:spcPts val="0"/>
              </a:spcAft>
              <a:buClr>
                <a:srgbClr val="3C3939"/>
              </a:buClr>
              <a:buSzPts val="2000"/>
              <a:buFont typeface="Arial"/>
              <a:buChar char="•"/>
            </a:pPr>
            <a:r>
              <a:rPr lang="en-US" sz="2000" b="1" i="0" u="none" strike="noStrike" cap="none">
                <a:solidFill>
                  <a:srgbClr val="3C3939"/>
                </a:solidFill>
                <a:latin typeface="Roboto"/>
                <a:ea typeface="Roboto"/>
                <a:cs typeface="Roboto"/>
                <a:sym typeface="Roboto"/>
              </a:rPr>
              <a:t>Analyze:</a:t>
            </a:r>
            <a:r>
              <a:rPr lang="en-US" sz="2000" b="0" i="0" u="none" strike="noStrike" cap="none">
                <a:solidFill>
                  <a:srgbClr val="3C3939"/>
                </a:solidFill>
                <a:latin typeface="Roboto"/>
                <a:ea typeface="Roboto"/>
                <a:cs typeface="Roboto"/>
                <a:sym typeface="Roboto"/>
              </a:rPr>
              <a:t> Process collected data to detect anomalies, diagnose problems, and identify root causes using AI/ML.</a:t>
            </a:r>
            <a:endParaRPr sz="1800" b="0" i="0" u="none" strike="noStrike" cap="none">
              <a:solidFill>
                <a:schemeClr val="lt1"/>
              </a:solidFill>
              <a:latin typeface="Arial"/>
              <a:ea typeface="Arial"/>
              <a:cs typeface="Arial"/>
              <a:sym typeface="Arial"/>
            </a:endParaRPr>
          </a:p>
        </p:txBody>
      </p:sp>
      <p:sp>
        <p:nvSpPr>
          <p:cNvPr id="516" name="Google Shape;516;p2"/>
          <p:cNvSpPr txBox="1"/>
          <p:nvPr/>
        </p:nvSpPr>
        <p:spPr>
          <a:xfrm>
            <a:off x="9144000" y="4570170"/>
            <a:ext cx="8186400" cy="793800"/>
          </a:xfrm>
          <a:prstGeom prst="rect">
            <a:avLst/>
          </a:prstGeom>
          <a:noFill/>
          <a:ln>
            <a:noFill/>
          </a:ln>
        </p:spPr>
        <p:txBody>
          <a:bodyPr spcFirstLastPara="1" wrap="square" lIns="0" tIns="0" rIns="0" bIns="0" anchor="t" anchorCtr="0">
            <a:spAutoFit/>
          </a:bodyPr>
          <a:lstStyle/>
          <a:p>
            <a:pPr marL="301625" marR="0" lvl="1" indent="-150812" algn="l" rtl="0">
              <a:lnSpc>
                <a:spcPct val="160000"/>
              </a:lnSpc>
              <a:spcBef>
                <a:spcPts val="0"/>
              </a:spcBef>
              <a:spcAft>
                <a:spcPts val="0"/>
              </a:spcAft>
              <a:buClr>
                <a:srgbClr val="3C3939"/>
              </a:buClr>
              <a:buSzPts val="2000"/>
              <a:buFont typeface="Arial"/>
              <a:buChar char="•"/>
            </a:pPr>
            <a:r>
              <a:rPr lang="en-US" sz="2000" b="1" i="0" u="none" strike="noStrike" cap="none">
                <a:solidFill>
                  <a:srgbClr val="3C3939"/>
                </a:solidFill>
                <a:latin typeface="Roboto"/>
                <a:ea typeface="Roboto"/>
                <a:cs typeface="Roboto"/>
                <a:sym typeface="Roboto"/>
              </a:rPr>
              <a:t>Plan:</a:t>
            </a:r>
            <a:r>
              <a:rPr lang="en-US" sz="2000" b="0" i="0" u="none" strike="noStrike" cap="none">
                <a:solidFill>
                  <a:srgbClr val="3C3939"/>
                </a:solidFill>
                <a:latin typeface="Roboto"/>
                <a:ea typeface="Roboto"/>
                <a:cs typeface="Roboto"/>
                <a:sym typeface="Roboto"/>
              </a:rPr>
              <a:t> Based on analysis, decide on a precise course of action to fix the problem or prevent an impending failure.</a:t>
            </a:r>
            <a:endParaRPr sz="1800" b="0" i="0" u="none" strike="noStrike" cap="none">
              <a:solidFill>
                <a:schemeClr val="lt1"/>
              </a:solidFill>
              <a:latin typeface="Arial"/>
              <a:ea typeface="Arial"/>
              <a:cs typeface="Arial"/>
              <a:sym typeface="Arial"/>
            </a:endParaRPr>
          </a:p>
        </p:txBody>
      </p:sp>
      <p:sp>
        <p:nvSpPr>
          <p:cNvPr id="517" name="Google Shape;517;p2"/>
          <p:cNvSpPr txBox="1"/>
          <p:nvPr/>
        </p:nvSpPr>
        <p:spPr>
          <a:xfrm>
            <a:off x="9144000" y="5516319"/>
            <a:ext cx="8186400" cy="793800"/>
          </a:xfrm>
          <a:prstGeom prst="rect">
            <a:avLst/>
          </a:prstGeom>
          <a:noFill/>
          <a:ln>
            <a:noFill/>
          </a:ln>
        </p:spPr>
        <p:txBody>
          <a:bodyPr spcFirstLastPara="1" wrap="square" lIns="0" tIns="0" rIns="0" bIns="0" anchor="t" anchorCtr="0">
            <a:spAutoFit/>
          </a:bodyPr>
          <a:lstStyle/>
          <a:p>
            <a:pPr marL="301625" marR="0" lvl="1" indent="-150812" algn="l" rtl="0">
              <a:lnSpc>
                <a:spcPct val="160000"/>
              </a:lnSpc>
              <a:spcBef>
                <a:spcPts val="0"/>
              </a:spcBef>
              <a:spcAft>
                <a:spcPts val="0"/>
              </a:spcAft>
              <a:buClr>
                <a:srgbClr val="3C3939"/>
              </a:buClr>
              <a:buSzPts val="2000"/>
              <a:buFont typeface="Arial"/>
              <a:buChar char="•"/>
            </a:pPr>
            <a:r>
              <a:rPr lang="en-US" sz="2000" b="1" i="0" u="none" strike="noStrike" cap="none">
                <a:solidFill>
                  <a:srgbClr val="3C3939"/>
                </a:solidFill>
                <a:latin typeface="Roboto"/>
                <a:ea typeface="Roboto"/>
                <a:cs typeface="Roboto"/>
                <a:sym typeface="Roboto"/>
              </a:rPr>
              <a:t>Execute:</a:t>
            </a:r>
            <a:r>
              <a:rPr lang="en-US" sz="2000" b="0" i="0" u="none" strike="noStrike" cap="none">
                <a:solidFill>
                  <a:srgbClr val="3C3939"/>
                </a:solidFill>
                <a:latin typeface="Roboto"/>
                <a:ea typeface="Roboto"/>
                <a:cs typeface="Roboto"/>
                <a:sym typeface="Roboto"/>
              </a:rPr>
              <a:t> Implement the chosen plan, which could involve reconfiguring, restarting, or re-deploying components.</a:t>
            </a:r>
            <a:endParaRPr sz="1800" b="0" i="0" u="none" strike="noStrike" cap="none">
              <a:solidFill>
                <a:schemeClr val="lt1"/>
              </a:solidFill>
              <a:latin typeface="Arial"/>
              <a:ea typeface="Arial"/>
              <a:cs typeface="Arial"/>
              <a:sym typeface="Arial"/>
            </a:endParaRPr>
          </a:p>
        </p:txBody>
      </p:sp>
      <p:sp>
        <p:nvSpPr>
          <p:cNvPr id="518" name="Google Shape;518;p2"/>
          <p:cNvSpPr txBox="1"/>
          <p:nvPr/>
        </p:nvSpPr>
        <p:spPr>
          <a:xfrm>
            <a:off x="9144000" y="6463813"/>
            <a:ext cx="8346900" cy="1193700"/>
          </a:xfrm>
          <a:prstGeom prst="rect">
            <a:avLst/>
          </a:prstGeom>
          <a:noFill/>
          <a:ln>
            <a:noFill/>
          </a:ln>
        </p:spPr>
        <p:txBody>
          <a:bodyPr spcFirstLastPara="1" wrap="square" lIns="0" tIns="0" rIns="0" bIns="0" anchor="t" anchorCtr="0">
            <a:spAutoFit/>
          </a:bodyPr>
          <a:lstStyle/>
          <a:p>
            <a:pPr marL="301625" marR="0" lvl="1" indent="-150812" algn="l" rtl="0">
              <a:lnSpc>
                <a:spcPct val="160000"/>
              </a:lnSpc>
              <a:spcBef>
                <a:spcPts val="0"/>
              </a:spcBef>
              <a:spcAft>
                <a:spcPts val="0"/>
              </a:spcAft>
              <a:buClr>
                <a:srgbClr val="3C3939"/>
              </a:buClr>
              <a:buSzPts val="2000"/>
              <a:buFont typeface="Arial"/>
              <a:buChar char="•"/>
            </a:pPr>
            <a:r>
              <a:rPr lang="en-US" sz="2000" b="1" i="0" u="none" strike="noStrike" cap="none">
                <a:solidFill>
                  <a:srgbClr val="3C3939"/>
                </a:solidFill>
                <a:latin typeface="Roboto"/>
                <a:ea typeface="Roboto"/>
                <a:cs typeface="Roboto"/>
                <a:sym typeface="Roboto"/>
              </a:rPr>
              <a:t>Knowledge (K):</a:t>
            </a:r>
            <a:r>
              <a:rPr lang="en-US" sz="2000" b="0" i="0" u="none" strike="noStrike" cap="none">
                <a:solidFill>
                  <a:srgbClr val="3C3939"/>
                </a:solidFill>
                <a:latin typeface="Roboto"/>
                <a:ea typeface="Roboto"/>
                <a:cs typeface="Roboto"/>
                <a:sym typeface="Roboto"/>
              </a:rPr>
              <a:t> A shared knowledge base (e.g., policies, historical data, system models) informs and guides the other four steps, evolving over time.</a:t>
            </a:r>
            <a:endParaRPr sz="1800" b="0" i="0" u="none" strike="noStrike" cap="none">
              <a:solidFill>
                <a:schemeClr val="lt1"/>
              </a:solidFill>
              <a:latin typeface="Arial"/>
              <a:ea typeface="Arial"/>
              <a:cs typeface="Arial"/>
              <a:sym typeface="Arial"/>
            </a:endParaRPr>
          </a:p>
        </p:txBody>
      </p:sp>
      <p:pic>
        <p:nvPicPr>
          <p:cNvPr id="519" name="Google Shape;519;p2"/>
          <p:cNvPicPr preferRelativeResize="0"/>
          <p:nvPr/>
        </p:nvPicPr>
        <p:blipFill rotWithShape="1">
          <a:blip r:embed="rId3">
            <a:alphaModFix/>
          </a:blip>
          <a:srcRect/>
          <a:stretch/>
        </p:blipFill>
        <p:spPr>
          <a:xfrm>
            <a:off x="611692" y="1494623"/>
            <a:ext cx="8019048" cy="8152381"/>
          </a:xfrm>
          <a:prstGeom prst="rect">
            <a:avLst/>
          </a:prstGeom>
          <a:noFill/>
          <a:ln>
            <a:noFill/>
          </a:ln>
        </p:spPr>
      </p:pic>
      <p:sp>
        <p:nvSpPr>
          <p:cNvPr id="520" name="Google Shape;520;p2"/>
          <p:cNvSpPr txBox="1"/>
          <p:nvPr/>
        </p:nvSpPr>
        <p:spPr>
          <a:xfrm>
            <a:off x="6860" y="4084846"/>
            <a:ext cx="18288000" cy="4926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stStyle>
          <a:p>
            <a:pPr marL="0" lvl="0" indent="0" algn="l" rtl="0">
              <a:spcBef>
                <a:spcPts val="0"/>
              </a:spcBef>
              <a:spcAft>
                <a:spcPts val="0"/>
              </a:spcAft>
              <a:buNone/>
            </a:pPr>
            <a:endParaRPr sz="2000">
              <a:solidFill>
                <a:schemeClr val="lt1"/>
              </a:solidFill>
            </a:endParaRPr>
          </a:p>
        </p:txBody>
      </p:sp>
      <p:sp>
        <p:nvSpPr>
          <p:cNvPr id="521" name="Google Shape;521;p2"/>
          <p:cNvSpPr txBox="1"/>
          <p:nvPr/>
        </p:nvSpPr>
        <p:spPr>
          <a:xfrm>
            <a:off x="6860" y="4084846"/>
            <a:ext cx="18288000" cy="4926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stStyle>
          <a:p>
            <a:pPr marL="0" lvl="0" indent="0" algn="l" rtl="0">
              <a:spcBef>
                <a:spcPts val="0"/>
              </a:spcBef>
              <a:spcAft>
                <a:spcPts val="0"/>
              </a:spcAft>
              <a:buNone/>
            </a:pPr>
            <a:endParaRPr sz="20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2"/>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ECECF3"/>
          </a:solidFill>
          <a:ln>
            <a:noFill/>
          </a:ln>
        </p:spPr>
      </p:sp>
      <p:sp>
        <p:nvSpPr>
          <p:cNvPr id="244" name="Google Shape;244;p22"/>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FFFFF">
              <a:alpha val="89800"/>
            </a:srgbClr>
          </a:solidFill>
          <a:ln>
            <a:noFill/>
          </a:ln>
        </p:spPr>
      </p:sp>
      <p:sp>
        <p:nvSpPr>
          <p:cNvPr id="245" name="Google Shape;245;p22"/>
          <p:cNvSpPr txBox="1"/>
          <p:nvPr/>
        </p:nvSpPr>
        <p:spPr>
          <a:xfrm>
            <a:off x="896168" y="557138"/>
            <a:ext cx="12506100" cy="914400"/>
          </a:xfrm>
          <a:prstGeom prst="rect">
            <a:avLst/>
          </a:prstGeom>
          <a:noFill/>
          <a:ln>
            <a:noFill/>
          </a:ln>
        </p:spPr>
        <p:txBody>
          <a:bodyPr spcFirstLastPara="1" wrap="square" lIns="0" tIns="0" rIns="0" bIns="0" anchor="t" anchorCtr="0">
            <a:spAutoFit/>
          </a:bodyPr>
          <a:lstStyle/>
          <a:p>
            <a:pPr marL="0" marR="0" lvl="0" indent="0" algn="l" rtl="0">
              <a:lnSpc>
                <a:spcPct val="124721"/>
              </a:lnSpc>
              <a:spcBef>
                <a:spcPts val="0"/>
              </a:spcBef>
              <a:spcAft>
                <a:spcPts val="0"/>
              </a:spcAft>
              <a:buNone/>
            </a:pPr>
            <a:r>
              <a:rPr lang="en-US" sz="5562" b="0" i="0" u="none" strike="noStrike" cap="none">
                <a:solidFill>
                  <a:srgbClr val="1B1B27"/>
                </a:solidFill>
                <a:latin typeface="Raleway"/>
                <a:ea typeface="Raleway"/>
                <a:cs typeface="Raleway"/>
                <a:sym typeface="Raleway"/>
              </a:rPr>
              <a:t>The Foundation: Observability &amp; AIOps</a:t>
            </a:r>
            <a:endParaRPr/>
          </a:p>
        </p:txBody>
      </p:sp>
      <p:sp>
        <p:nvSpPr>
          <p:cNvPr id="246" name="Google Shape;246;p22"/>
          <p:cNvSpPr txBox="1"/>
          <p:nvPr/>
        </p:nvSpPr>
        <p:spPr>
          <a:xfrm>
            <a:off x="1028700" y="2596567"/>
            <a:ext cx="16303500" cy="10026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Self-healing is impossible without accurate, high-quality, and real-time telemetry. This data forms the non-negotiable foundation for autonomous remediation.</a:t>
            </a:r>
            <a:endParaRPr/>
          </a:p>
        </p:txBody>
      </p:sp>
      <p:sp>
        <p:nvSpPr>
          <p:cNvPr id="247" name="Google Shape;247;p22"/>
          <p:cNvSpPr txBox="1"/>
          <p:nvPr/>
        </p:nvSpPr>
        <p:spPr>
          <a:xfrm>
            <a:off x="992238" y="4064199"/>
            <a:ext cx="55719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1B1B27"/>
                </a:solidFill>
                <a:latin typeface="Raleway"/>
                <a:ea typeface="Raleway"/>
                <a:cs typeface="Raleway"/>
                <a:sym typeface="Raleway"/>
              </a:rPr>
              <a:t>The Need for High-Quality Signals</a:t>
            </a:r>
            <a:endParaRPr/>
          </a:p>
        </p:txBody>
      </p:sp>
      <p:sp>
        <p:nvSpPr>
          <p:cNvPr id="248" name="Google Shape;248;p22"/>
          <p:cNvSpPr txBox="1"/>
          <p:nvPr/>
        </p:nvSpPr>
        <p:spPr>
          <a:xfrm>
            <a:off x="992238" y="4723954"/>
            <a:ext cx="7806000" cy="1002600"/>
          </a:xfrm>
          <a:prstGeom prst="rect">
            <a:avLst/>
          </a:prstGeom>
          <a:noFill/>
          <a:ln>
            <a:noFill/>
          </a:ln>
        </p:spPr>
        <p:txBody>
          <a:bodyPr spcFirstLastPara="1" wrap="square" lIns="0" tIns="0" rIns="0" bIns="0" anchor="t" anchorCtr="0">
            <a:spAutoFit/>
          </a:bodyPr>
          <a:lstStyle/>
          <a:p>
            <a:pPr marL="329901" marR="0" lvl="1" indent="-164950" algn="l" rtl="0">
              <a:lnSpc>
                <a:spcPct val="162871"/>
              </a:lnSpc>
              <a:spcBef>
                <a:spcPts val="0"/>
              </a:spcBef>
              <a:spcAft>
                <a:spcPts val="0"/>
              </a:spcAft>
              <a:buClr>
                <a:srgbClr val="3C3939"/>
              </a:buClr>
              <a:buSzPts val="2187"/>
              <a:buFont typeface="Arial"/>
              <a:buChar char="•"/>
            </a:pPr>
            <a:r>
              <a:rPr lang="en-US" sz="2187" b="1" i="0" u="none" strike="noStrike" cap="none">
                <a:solidFill>
                  <a:srgbClr val="3C3939"/>
                </a:solidFill>
                <a:latin typeface="Roboto"/>
                <a:ea typeface="Roboto"/>
                <a:cs typeface="Roboto"/>
                <a:sym typeface="Roboto"/>
              </a:rPr>
              <a:t>Logs:</a:t>
            </a:r>
            <a:r>
              <a:rPr lang="en-US" sz="2187" b="0" i="0" u="none" strike="noStrike" cap="none">
                <a:solidFill>
                  <a:srgbClr val="3C3939"/>
                </a:solidFill>
                <a:latin typeface="Roboto"/>
                <a:ea typeface="Roboto"/>
                <a:cs typeface="Roboto"/>
                <a:sym typeface="Roboto"/>
              </a:rPr>
              <a:t> Granular event data and errors from applications and infrastructure components.</a:t>
            </a:r>
            <a:endParaRPr/>
          </a:p>
        </p:txBody>
      </p:sp>
      <p:sp>
        <p:nvSpPr>
          <p:cNvPr id="249" name="Google Shape;249;p22"/>
          <p:cNvSpPr txBox="1"/>
          <p:nvPr/>
        </p:nvSpPr>
        <p:spPr>
          <a:xfrm>
            <a:off x="992238" y="5730329"/>
            <a:ext cx="7806000" cy="1456200"/>
          </a:xfrm>
          <a:prstGeom prst="rect">
            <a:avLst/>
          </a:prstGeom>
          <a:noFill/>
          <a:ln>
            <a:noFill/>
          </a:ln>
        </p:spPr>
        <p:txBody>
          <a:bodyPr spcFirstLastPara="1" wrap="square" lIns="0" tIns="0" rIns="0" bIns="0" anchor="t" anchorCtr="0">
            <a:spAutoFit/>
          </a:bodyPr>
          <a:lstStyle/>
          <a:p>
            <a:pPr marL="329901" marR="0" lvl="1" indent="-164950" algn="l" rtl="0">
              <a:lnSpc>
                <a:spcPct val="162871"/>
              </a:lnSpc>
              <a:spcBef>
                <a:spcPts val="0"/>
              </a:spcBef>
              <a:spcAft>
                <a:spcPts val="0"/>
              </a:spcAft>
              <a:buClr>
                <a:srgbClr val="3C3939"/>
              </a:buClr>
              <a:buSzPts val="2187"/>
              <a:buFont typeface="Arial"/>
              <a:buChar char="•"/>
            </a:pPr>
            <a:r>
              <a:rPr lang="en-US" sz="2187" b="1" i="0" u="none" strike="noStrike" cap="none">
                <a:solidFill>
                  <a:srgbClr val="3C3939"/>
                </a:solidFill>
                <a:latin typeface="Roboto"/>
                <a:ea typeface="Roboto"/>
                <a:cs typeface="Roboto"/>
                <a:sym typeface="Roboto"/>
              </a:rPr>
              <a:t>Metrics:</a:t>
            </a:r>
            <a:r>
              <a:rPr lang="en-US" sz="2187" b="0" i="0" u="none" strike="noStrike" cap="none">
                <a:solidFill>
                  <a:srgbClr val="3C3939"/>
                </a:solidFill>
                <a:latin typeface="Roboto"/>
                <a:ea typeface="Roboto"/>
                <a:cs typeface="Roboto"/>
                <a:sym typeface="Roboto"/>
              </a:rPr>
              <a:t> Time-series data on system performance (e.g., CPU utilization, memory consumption, network latency, request rates).</a:t>
            </a:r>
            <a:endParaRPr/>
          </a:p>
        </p:txBody>
      </p:sp>
      <p:sp>
        <p:nvSpPr>
          <p:cNvPr id="250" name="Google Shape;250;p22"/>
          <p:cNvSpPr txBox="1"/>
          <p:nvPr/>
        </p:nvSpPr>
        <p:spPr>
          <a:xfrm>
            <a:off x="992238" y="7190334"/>
            <a:ext cx="7806000" cy="1456200"/>
          </a:xfrm>
          <a:prstGeom prst="rect">
            <a:avLst/>
          </a:prstGeom>
          <a:noFill/>
          <a:ln>
            <a:noFill/>
          </a:ln>
        </p:spPr>
        <p:txBody>
          <a:bodyPr spcFirstLastPara="1" wrap="square" lIns="0" tIns="0" rIns="0" bIns="0" anchor="t" anchorCtr="0">
            <a:spAutoFit/>
          </a:bodyPr>
          <a:lstStyle/>
          <a:p>
            <a:pPr marL="329901" marR="0" lvl="1" indent="-164950" algn="l" rtl="0">
              <a:lnSpc>
                <a:spcPct val="162871"/>
              </a:lnSpc>
              <a:spcBef>
                <a:spcPts val="0"/>
              </a:spcBef>
              <a:spcAft>
                <a:spcPts val="0"/>
              </a:spcAft>
              <a:buClr>
                <a:srgbClr val="3C3939"/>
              </a:buClr>
              <a:buSzPts val="2187"/>
              <a:buFont typeface="Arial"/>
              <a:buChar char="•"/>
            </a:pPr>
            <a:r>
              <a:rPr lang="en-US" sz="2187" b="1" i="0" u="none" strike="noStrike" cap="none">
                <a:solidFill>
                  <a:srgbClr val="3C3939"/>
                </a:solidFill>
                <a:latin typeface="Roboto"/>
                <a:ea typeface="Roboto"/>
                <a:cs typeface="Roboto"/>
                <a:sym typeface="Roboto"/>
              </a:rPr>
              <a:t>Traces:</a:t>
            </a:r>
            <a:r>
              <a:rPr lang="en-US" sz="2187" b="0" i="0" u="none" strike="noStrike" cap="none">
                <a:solidFill>
                  <a:srgbClr val="3C3939"/>
                </a:solidFill>
                <a:latin typeface="Roboto"/>
                <a:ea typeface="Roboto"/>
                <a:cs typeface="Roboto"/>
                <a:sym typeface="Roboto"/>
              </a:rPr>
              <a:t> End-to-end visibility showing the complete path of a request through complex, distributed systems, enabling root cause analysis across microservices.</a:t>
            </a:r>
            <a:endParaRPr/>
          </a:p>
        </p:txBody>
      </p:sp>
      <p:sp>
        <p:nvSpPr>
          <p:cNvPr id="251" name="Google Shape;251;p22"/>
          <p:cNvSpPr txBox="1"/>
          <p:nvPr/>
        </p:nvSpPr>
        <p:spPr>
          <a:xfrm>
            <a:off x="9499401" y="4064199"/>
            <a:ext cx="35439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1B1B27"/>
                </a:solidFill>
                <a:latin typeface="Raleway"/>
                <a:ea typeface="Raleway"/>
                <a:cs typeface="Raleway"/>
                <a:sym typeface="Raleway"/>
              </a:rPr>
              <a:t>The Rise of AIOps</a:t>
            </a:r>
            <a:endParaRPr/>
          </a:p>
        </p:txBody>
      </p:sp>
      <p:sp>
        <p:nvSpPr>
          <p:cNvPr id="252" name="Google Shape;252;p22"/>
          <p:cNvSpPr txBox="1"/>
          <p:nvPr/>
        </p:nvSpPr>
        <p:spPr>
          <a:xfrm>
            <a:off x="9499401" y="4723954"/>
            <a:ext cx="7806000" cy="35577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AIOps (AI for IT Operations) platforms are essential. They use big data, advanced analytics, and machine learning to automate the process of collecting, aggregating, and analyzing observability data. AIOps transforms raw signals into actionable insights, reduces alert noise, and even automates responses for the healing engine. The AIOps market is projected to grow significantly, reflecting its critical importance in modern IT.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3"/>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ECECF3"/>
          </a:solidFill>
          <a:ln>
            <a:noFill/>
          </a:ln>
        </p:spPr>
      </p:sp>
      <p:sp>
        <p:nvSpPr>
          <p:cNvPr id="255" name="Google Shape;255;p23"/>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FFFFF">
              <a:alpha val="89800"/>
            </a:srgbClr>
          </a:solidFill>
          <a:ln>
            <a:noFill/>
          </a:ln>
        </p:spPr>
      </p:sp>
      <p:sp>
        <p:nvSpPr>
          <p:cNvPr id="256" name="Google Shape;256;p23" descr="preencoded.png"/>
          <p:cNvSpPr/>
          <p:nvPr/>
        </p:nvSpPr>
        <p:spPr>
          <a:xfrm>
            <a:off x="0" y="0"/>
            <a:ext cx="6858000" cy="10287000"/>
          </a:xfrm>
          <a:custGeom>
            <a:avLst/>
            <a:gdLst/>
            <a:ahLst/>
            <a:cxnLst/>
            <a:rect l="l" t="t" r="r" b="b"/>
            <a:pathLst>
              <a:path w="9144000" h="13716000" extrusionOk="0">
                <a:moveTo>
                  <a:pt x="0" y="0"/>
                </a:moveTo>
                <a:lnTo>
                  <a:pt x="9144000" y="0"/>
                </a:lnTo>
                <a:lnTo>
                  <a:pt x="9144000" y="13716000"/>
                </a:lnTo>
                <a:lnTo>
                  <a:pt x="0" y="13716000"/>
                </a:lnTo>
                <a:lnTo>
                  <a:pt x="0" y="0"/>
                </a:lnTo>
                <a:close/>
              </a:path>
            </a:pathLst>
          </a:custGeom>
          <a:blipFill rotWithShape="1">
            <a:blip r:embed="rId3">
              <a:alphaModFix/>
            </a:blip>
            <a:stretch>
              <a:fillRect/>
            </a:stretch>
          </a:blipFill>
          <a:ln>
            <a:noFill/>
          </a:ln>
        </p:spPr>
      </p:sp>
      <p:sp>
        <p:nvSpPr>
          <p:cNvPr id="257" name="Google Shape;257;p23"/>
          <p:cNvSpPr txBox="1"/>
          <p:nvPr/>
        </p:nvSpPr>
        <p:spPr>
          <a:xfrm>
            <a:off x="7433370" y="486370"/>
            <a:ext cx="9992700" cy="542400"/>
          </a:xfrm>
          <a:prstGeom prst="rect">
            <a:avLst/>
          </a:prstGeom>
          <a:noFill/>
          <a:ln>
            <a:noFill/>
          </a:ln>
        </p:spPr>
        <p:txBody>
          <a:bodyPr spcFirstLastPara="1" wrap="square" lIns="0" tIns="0" rIns="0" bIns="0" anchor="t" anchorCtr="0">
            <a:spAutoFit/>
          </a:bodyPr>
          <a:lstStyle/>
          <a:p>
            <a:pPr marL="0" marR="0" lvl="0" indent="0" algn="l" rtl="0">
              <a:lnSpc>
                <a:spcPct val="125478"/>
              </a:lnSpc>
              <a:spcBef>
                <a:spcPts val="0"/>
              </a:spcBef>
              <a:spcAft>
                <a:spcPts val="0"/>
              </a:spcAft>
              <a:buNone/>
            </a:pPr>
            <a:r>
              <a:rPr lang="en-US" sz="3187" b="0" i="0" u="none" strike="noStrike" cap="none">
                <a:solidFill>
                  <a:srgbClr val="1B1B27"/>
                </a:solidFill>
                <a:latin typeface="Raleway"/>
                <a:ea typeface="Raleway"/>
                <a:cs typeface="Raleway"/>
                <a:sym typeface="Raleway"/>
              </a:rPr>
              <a:t>Methodology: An AI-Driven Self-Healing Architecture</a:t>
            </a:r>
            <a:endParaRPr/>
          </a:p>
        </p:txBody>
      </p:sp>
      <p:sp>
        <p:nvSpPr>
          <p:cNvPr id="258" name="Google Shape;258;p23"/>
          <p:cNvSpPr txBox="1"/>
          <p:nvPr/>
        </p:nvSpPr>
        <p:spPr>
          <a:xfrm>
            <a:off x="7433370" y="1184046"/>
            <a:ext cx="10279200" cy="693300"/>
          </a:xfrm>
          <a:prstGeom prst="rect">
            <a:avLst/>
          </a:prstGeom>
          <a:noFill/>
          <a:ln>
            <a:noFill/>
          </a:ln>
        </p:spPr>
        <p:txBody>
          <a:bodyPr spcFirstLastPara="1" wrap="square" lIns="0" tIns="0" rIns="0" bIns="0" anchor="t" anchorCtr="0">
            <a:spAutoFit/>
          </a:bodyPr>
          <a:lstStyle/>
          <a:p>
            <a:pPr marL="0" marR="0" lvl="0" indent="0" algn="l" rtl="0">
              <a:lnSpc>
                <a:spcPct val="165000"/>
              </a:lnSpc>
              <a:spcBef>
                <a:spcPts val="0"/>
              </a:spcBef>
              <a:spcAft>
                <a:spcPts val="0"/>
              </a:spcAft>
              <a:buNone/>
            </a:pPr>
            <a:r>
              <a:rPr lang="en-US" sz="1700" b="0" i="0" u="none" strike="noStrike" cap="none">
                <a:solidFill>
                  <a:srgbClr val="3C3939"/>
                </a:solidFill>
                <a:latin typeface="Roboto"/>
                <a:ea typeface="Roboto"/>
                <a:cs typeface="Roboto"/>
                <a:sym typeface="Roboto"/>
              </a:rPr>
              <a:t>This framework, inspired by biological healing processes, provides a robust approach to autonomous software repair.</a:t>
            </a:r>
            <a:endParaRPr/>
          </a:p>
        </p:txBody>
      </p:sp>
      <p:sp>
        <p:nvSpPr>
          <p:cNvPr id="259" name="Google Shape;259;p23"/>
          <p:cNvSpPr/>
          <p:nvPr/>
        </p:nvSpPr>
        <p:spPr>
          <a:xfrm>
            <a:off x="7433370" y="2348736"/>
            <a:ext cx="10279284" cy="76200"/>
          </a:xfrm>
          <a:custGeom>
            <a:avLst/>
            <a:gdLst/>
            <a:ahLst/>
            <a:cxnLst/>
            <a:rect l="l" t="t" r="r" b="b"/>
            <a:pathLst>
              <a:path w="13705712" h="101600" extrusionOk="0">
                <a:moveTo>
                  <a:pt x="0" y="50800"/>
                </a:moveTo>
                <a:cubicBezTo>
                  <a:pt x="0" y="22733"/>
                  <a:pt x="22733" y="0"/>
                  <a:pt x="50800" y="0"/>
                </a:cubicBezTo>
                <a:lnTo>
                  <a:pt x="13654912" y="0"/>
                </a:lnTo>
                <a:cubicBezTo>
                  <a:pt x="13682979" y="0"/>
                  <a:pt x="13705712" y="22733"/>
                  <a:pt x="13705712" y="50800"/>
                </a:cubicBezTo>
                <a:cubicBezTo>
                  <a:pt x="13705712" y="78867"/>
                  <a:pt x="13682979" y="101600"/>
                  <a:pt x="13654912" y="101600"/>
                </a:cubicBezTo>
                <a:lnTo>
                  <a:pt x="50800" y="101600"/>
                </a:lnTo>
                <a:cubicBezTo>
                  <a:pt x="22733" y="101600"/>
                  <a:pt x="0" y="78867"/>
                  <a:pt x="0" y="50800"/>
                </a:cubicBezTo>
                <a:close/>
              </a:path>
            </a:pathLst>
          </a:cu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3"/>
          <p:cNvSpPr/>
          <p:nvPr/>
        </p:nvSpPr>
        <p:spPr>
          <a:xfrm>
            <a:off x="12326391" y="2115591"/>
            <a:ext cx="493204" cy="493205"/>
          </a:xfrm>
          <a:custGeom>
            <a:avLst/>
            <a:gdLst/>
            <a:ahLst/>
            <a:cxnLst/>
            <a:rect l="l" t="t" r="r" b="b"/>
            <a:pathLst>
              <a:path w="657606" h="657606" extrusionOk="0">
                <a:moveTo>
                  <a:pt x="0" y="328803"/>
                </a:moveTo>
                <a:cubicBezTo>
                  <a:pt x="0" y="147193"/>
                  <a:pt x="147193" y="0"/>
                  <a:pt x="328803" y="0"/>
                </a:cubicBezTo>
                <a:cubicBezTo>
                  <a:pt x="510413" y="0"/>
                  <a:pt x="657606" y="147193"/>
                  <a:pt x="657606" y="328803"/>
                </a:cubicBezTo>
                <a:cubicBezTo>
                  <a:pt x="657606" y="510413"/>
                  <a:pt x="510413" y="657606"/>
                  <a:pt x="328803" y="657606"/>
                </a:cubicBezTo>
                <a:cubicBezTo>
                  <a:pt x="147193" y="657606"/>
                  <a:pt x="0" y="510413"/>
                  <a:pt x="0" y="328803"/>
                </a:cubicBezTo>
                <a:close/>
              </a:path>
            </a:pathLst>
          </a:cu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3"/>
          <p:cNvSpPr txBox="1"/>
          <p:nvPr/>
        </p:nvSpPr>
        <p:spPr>
          <a:xfrm>
            <a:off x="12474327" y="2180153"/>
            <a:ext cx="197100" cy="313200"/>
          </a:xfrm>
          <a:prstGeom prst="rect">
            <a:avLst/>
          </a:prstGeom>
          <a:noFill/>
          <a:ln>
            <a:noFill/>
          </a:ln>
        </p:spPr>
        <p:txBody>
          <a:bodyPr spcFirstLastPara="1" wrap="square" lIns="0" tIns="0" rIns="0" bIns="0" anchor="t" anchorCtr="0">
            <a:spAutoFit/>
          </a:bodyPr>
          <a:lstStyle/>
          <a:p>
            <a:pPr marL="0" marR="0" lvl="0" indent="0" algn="l" rtl="0">
              <a:lnSpc>
                <a:spcPct val="162466"/>
              </a:lnSpc>
              <a:spcBef>
                <a:spcPts val="0"/>
              </a:spcBef>
              <a:spcAft>
                <a:spcPts val="0"/>
              </a:spcAft>
              <a:buNone/>
            </a:pPr>
            <a:r>
              <a:rPr lang="en-US" sz="1500" b="0" i="0" u="none" strike="noStrike" cap="none">
                <a:solidFill>
                  <a:srgbClr val="FFFFFF"/>
                </a:solidFill>
                <a:latin typeface="Raleway"/>
                <a:ea typeface="Raleway"/>
                <a:cs typeface="Raleway"/>
                <a:sym typeface="Raleway"/>
              </a:rPr>
              <a:t>1</a:t>
            </a:r>
            <a:endParaRPr/>
          </a:p>
        </p:txBody>
      </p:sp>
      <p:sp>
        <p:nvSpPr>
          <p:cNvPr id="262" name="Google Shape;262;p23"/>
          <p:cNvSpPr txBox="1"/>
          <p:nvPr/>
        </p:nvSpPr>
        <p:spPr>
          <a:xfrm>
            <a:off x="7616726" y="2558286"/>
            <a:ext cx="4553100" cy="358500"/>
          </a:xfrm>
          <a:prstGeom prst="rect">
            <a:avLst/>
          </a:prstGeom>
          <a:noFill/>
          <a:ln>
            <a:noFill/>
          </a:ln>
        </p:spPr>
        <p:txBody>
          <a:bodyPr spcFirstLastPara="1" wrap="square" lIns="0" tIns="0" rIns="0" bIns="0" anchor="t" anchorCtr="0">
            <a:spAutoFit/>
          </a:bodyPr>
          <a:lstStyle/>
          <a:p>
            <a:pPr marL="0" marR="0" lvl="0" indent="0" algn="l" rtl="0">
              <a:lnSpc>
                <a:spcPct val="128012"/>
              </a:lnSpc>
              <a:spcBef>
                <a:spcPts val="0"/>
              </a:spcBef>
              <a:spcAft>
                <a:spcPts val="0"/>
              </a:spcAft>
              <a:buNone/>
            </a:pPr>
            <a:r>
              <a:rPr lang="en-US" sz="2199" b="0" i="0" u="none" strike="noStrike" cap="none">
                <a:solidFill>
                  <a:srgbClr val="3C3939"/>
                </a:solidFill>
                <a:latin typeface="Raleway"/>
                <a:ea typeface="Raleway"/>
                <a:cs typeface="Raleway"/>
                <a:sym typeface="Raleway"/>
              </a:rPr>
              <a:t>Signal Collection (The Nerves)</a:t>
            </a:r>
            <a:endParaRPr/>
          </a:p>
        </p:txBody>
      </p:sp>
      <p:sp>
        <p:nvSpPr>
          <p:cNvPr id="263" name="Google Shape;263;p23"/>
          <p:cNvSpPr txBox="1"/>
          <p:nvPr/>
        </p:nvSpPr>
        <p:spPr>
          <a:xfrm>
            <a:off x="7616726" y="2979211"/>
            <a:ext cx="9912600" cy="767700"/>
          </a:xfrm>
          <a:prstGeom prst="rect">
            <a:avLst/>
          </a:prstGeom>
          <a:noFill/>
          <a:ln>
            <a:noFill/>
          </a:ln>
        </p:spPr>
        <p:txBody>
          <a:bodyPr spcFirstLastPara="1" wrap="square" lIns="0" tIns="0" rIns="0" bIns="0" anchor="t" anchorCtr="0">
            <a:spAutoFit/>
          </a:bodyPr>
          <a:lstStyle/>
          <a:p>
            <a:pPr marL="0" marR="0" lvl="0" indent="0" algn="l" rtl="0">
              <a:lnSpc>
                <a:spcPct val="165034"/>
              </a:lnSpc>
              <a:spcBef>
                <a:spcPts val="0"/>
              </a:spcBef>
              <a:spcAft>
                <a:spcPts val="0"/>
              </a:spcAft>
              <a:buNone/>
            </a:pPr>
            <a:r>
              <a:rPr lang="en-US" sz="1899" b="0" i="0" u="none" strike="noStrike" cap="none">
                <a:solidFill>
                  <a:srgbClr val="3C3939"/>
                </a:solidFill>
                <a:latin typeface="Roboto"/>
                <a:ea typeface="Roboto"/>
                <a:cs typeface="Roboto"/>
                <a:sym typeface="Roboto"/>
              </a:rPr>
              <a:t>Observability tools and AIOps platforms gather logs, metrics, and traces as sensory inputs to detect system "stress".</a:t>
            </a:r>
            <a:endParaRPr/>
          </a:p>
        </p:txBody>
      </p:sp>
      <p:sp>
        <p:nvSpPr>
          <p:cNvPr id="264" name="Google Shape;264;p23"/>
          <p:cNvSpPr/>
          <p:nvPr/>
        </p:nvSpPr>
        <p:spPr>
          <a:xfrm>
            <a:off x="7433370" y="3967906"/>
            <a:ext cx="10279284" cy="76200"/>
          </a:xfrm>
          <a:custGeom>
            <a:avLst/>
            <a:gdLst/>
            <a:ahLst/>
            <a:cxnLst/>
            <a:rect l="l" t="t" r="r" b="b"/>
            <a:pathLst>
              <a:path w="13705712" h="101600" extrusionOk="0">
                <a:moveTo>
                  <a:pt x="0" y="50800"/>
                </a:moveTo>
                <a:cubicBezTo>
                  <a:pt x="0" y="22733"/>
                  <a:pt x="22733" y="0"/>
                  <a:pt x="50800" y="0"/>
                </a:cubicBezTo>
                <a:lnTo>
                  <a:pt x="13654912" y="0"/>
                </a:lnTo>
                <a:cubicBezTo>
                  <a:pt x="13682979" y="0"/>
                  <a:pt x="13705712" y="22733"/>
                  <a:pt x="13705712" y="50800"/>
                </a:cubicBezTo>
                <a:cubicBezTo>
                  <a:pt x="13705712" y="78867"/>
                  <a:pt x="13682979" y="101600"/>
                  <a:pt x="13654912" y="101600"/>
                </a:cubicBezTo>
                <a:lnTo>
                  <a:pt x="50800" y="101600"/>
                </a:lnTo>
                <a:cubicBezTo>
                  <a:pt x="22733" y="101600"/>
                  <a:pt x="0" y="78867"/>
                  <a:pt x="0" y="50800"/>
                </a:cubicBezTo>
                <a:close/>
              </a:path>
            </a:pathLst>
          </a:cu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3"/>
          <p:cNvSpPr/>
          <p:nvPr/>
        </p:nvSpPr>
        <p:spPr>
          <a:xfrm>
            <a:off x="12326391" y="3759398"/>
            <a:ext cx="493204" cy="493204"/>
          </a:xfrm>
          <a:custGeom>
            <a:avLst/>
            <a:gdLst/>
            <a:ahLst/>
            <a:cxnLst/>
            <a:rect l="l" t="t" r="r" b="b"/>
            <a:pathLst>
              <a:path w="657606" h="657606" extrusionOk="0">
                <a:moveTo>
                  <a:pt x="0" y="328803"/>
                </a:moveTo>
                <a:cubicBezTo>
                  <a:pt x="0" y="147193"/>
                  <a:pt x="147193" y="0"/>
                  <a:pt x="328803" y="0"/>
                </a:cubicBezTo>
                <a:cubicBezTo>
                  <a:pt x="510413" y="0"/>
                  <a:pt x="657606" y="147193"/>
                  <a:pt x="657606" y="328803"/>
                </a:cubicBezTo>
                <a:cubicBezTo>
                  <a:pt x="657606" y="510413"/>
                  <a:pt x="510413" y="657606"/>
                  <a:pt x="328803" y="657606"/>
                </a:cubicBezTo>
                <a:cubicBezTo>
                  <a:pt x="147193" y="657606"/>
                  <a:pt x="0" y="510413"/>
                  <a:pt x="0" y="328803"/>
                </a:cubicBezTo>
                <a:close/>
              </a:path>
            </a:pathLst>
          </a:cu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3"/>
          <p:cNvSpPr txBox="1"/>
          <p:nvPr/>
        </p:nvSpPr>
        <p:spPr>
          <a:xfrm>
            <a:off x="12474327" y="3816027"/>
            <a:ext cx="197100" cy="313200"/>
          </a:xfrm>
          <a:prstGeom prst="rect">
            <a:avLst/>
          </a:prstGeom>
          <a:noFill/>
          <a:ln>
            <a:noFill/>
          </a:ln>
        </p:spPr>
        <p:txBody>
          <a:bodyPr spcFirstLastPara="1" wrap="square" lIns="0" tIns="0" rIns="0" bIns="0" anchor="t" anchorCtr="0">
            <a:spAutoFit/>
          </a:bodyPr>
          <a:lstStyle/>
          <a:p>
            <a:pPr marL="0" marR="0" lvl="0" indent="0" algn="l" rtl="0">
              <a:lnSpc>
                <a:spcPct val="162466"/>
              </a:lnSpc>
              <a:spcBef>
                <a:spcPts val="0"/>
              </a:spcBef>
              <a:spcAft>
                <a:spcPts val="0"/>
              </a:spcAft>
              <a:buNone/>
            </a:pPr>
            <a:r>
              <a:rPr lang="en-US" sz="1500" b="0" i="0" u="none" strike="noStrike" cap="none">
                <a:solidFill>
                  <a:srgbClr val="FFFFFF"/>
                </a:solidFill>
                <a:latin typeface="Raleway"/>
                <a:ea typeface="Raleway"/>
                <a:cs typeface="Raleway"/>
                <a:sym typeface="Raleway"/>
              </a:rPr>
              <a:t>2</a:t>
            </a:r>
            <a:endParaRPr/>
          </a:p>
        </p:txBody>
      </p:sp>
      <p:sp>
        <p:nvSpPr>
          <p:cNvPr id="267" name="Google Shape;267;p23"/>
          <p:cNvSpPr txBox="1"/>
          <p:nvPr/>
        </p:nvSpPr>
        <p:spPr>
          <a:xfrm>
            <a:off x="7616726" y="4182001"/>
            <a:ext cx="3994800" cy="358500"/>
          </a:xfrm>
          <a:prstGeom prst="rect">
            <a:avLst/>
          </a:prstGeom>
          <a:noFill/>
          <a:ln>
            <a:noFill/>
          </a:ln>
        </p:spPr>
        <p:txBody>
          <a:bodyPr spcFirstLastPara="1" wrap="square" lIns="0" tIns="0" rIns="0" bIns="0" anchor="t" anchorCtr="0">
            <a:spAutoFit/>
          </a:bodyPr>
          <a:lstStyle/>
          <a:p>
            <a:pPr marL="0" marR="0" lvl="0" indent="0" algn="l" rtl="0">
              <a:lnSpc>
                <a:spcPct val="128012"/>
              </a:lnSpc>
              <a:spcBef>
                <a:spcPts val="0"/>
              </a:spcBef>
              <a:spcAft>
                <a:spcPts val="0"/>
              </a:spcAft>
              <a:buNone/>
            </a:pPr>
            <a:r>
              <a:rPr lang="en-US" sz="2199" b="0" i="0" u="none" strike="noStrike" cap="none">
                <a:solidFill>
                  <a:srgbClr val="3C3939"/>
                </a:solidFill>
                <a:latin typeface="Raleway"/>
                <a:ea typeface="Raleway"/>
                <a:cs typeface="Raleway"/>
                <a:sym typeface="Raleway"/>
              </a:rPr>
              <a:t>Diagnosis Module (The Brain)</a:t>
            </a:r>
            <a:endParaRPr/>
          </a:p>
        </p:txBody>
      </p:sp>
      <p:sp>
        <p:nvSpPr>
          <p:cNvPr id="268" name="Google Shape;268;p23"/>
          <p:cNvSpPr txBox="1"/>
          <p:nvPr/>
        </p:nvSpPr>
        <p:spPr>
          <a:xfrm>
            <a:off x="7616726" y="4602926"/>
            <a:ext cx="9912600" cy="767700"/>
          </a:xfrm>
          <a:prstGeom prst="rect">
            <a:avLst/>
          </a:prstGeom>
          <a:noFill/>
          <a:ln>
            <a:noFill/>
          </a:ln>
        </p:spPr>
        <p:txBody>
          <a:bodyPr spcFirstLastPara="1" wrap="square" lIns="0" tIns="0" rIns="0" bIns="0" anchor="t" anchorCtr="0">
            <a:spAutoFit/>
          </a:bodyPr>
          <a:lstStyle/>
          <a:p>
            <a:pPr marL="0" marR="0" lvl="0" indent="0" algn="l" rtl="0">
              <a:lnSpc>
                <a:spcPct val="165034"/>
              </a:lnSpc>
              <a:spcBef>
                <a:spcPts val="0"/>
              </a:spcBef>
              <a:spcAft>
                <a:spcPts val="0"/>
              </a:spcAft>
              <a:buNone/>
            </a:pPr>
            <a:r>
              <a:rPr lang="en-US" sz="1899" b="0" i="0" u="none" strike="noStrike" cap="none">
                <a:solidFill>
                  <a:srgbClr val="3C3939"/>
                </a:solidFill>
                <a:latin typeface="Roboto"/>
                <a:ea typeface="Roboto"/>
                <a:cs typeface="Roboto"/>
                <a:sym typeface="Roboto"/>
              </a:rPr>
              <a:t>An AI Orchestration Engine, often using LLMs, analyzes signals and historical data to identify the root cause of a fault.</a:t>
            </a:r>
            <a:endParaRPr/>
          </a:p>
        </p:txBody>
      </p:sp>
      <p:sp>
        <p:nvSpPr>
          <p:cNvPr id="269" name="Google Shape;269;p23"/>
          <p:cNvSpPr/>
          <p:nvPr/>
        </p:nvSpPr>
        <p:spPr>
          <a:xfrm>
            <a:off x="7433370" y="5629721"/>
            <a:ext cx="10279284" cy="76200"/>
          </a:xfrm>
          <a:custGeom>
            <a:avLst/>
            <a:gdLst/>
            <a:ahLst/>
            <a:cxnLst/>
            <a:rect l="l" t="t" r="r" b="b"/>
            <a:pathLst>
              <a:path w="13705712" h="101600" extrusionOk="0">
                <a:moveTo>
                  <a:pt x="0" y="50800"/>
                </a:moveTo>
                <a:cubicBezTo>
                  <a:pt x="0" y="22733"/>
                  <a:pt x="22733" y="0"/>
                  <a:pt x="50800" y="0"/>
                </a:cubicBezTo>
                <a:lnTo>
                  <a:pt x="13654912" y="0"/>
                </a:lnTo>
                <a:cubicBezTo>
                  <a:pt x="13682979" y="0"/>
                  <a:pt x="13705712" y="22733"/>
                  <a:pt x="13705712" y="50800"/>
                </a:cubicBezTo>
                <a:cubicBezTo>
                  <a:pt x="13705712" y="78867"/>
                  <a:pt x="13682979" y="101600"/>
                  <a:pt x="13654912" y="101600"/>
                </a:cubicBezTo>
                <a:lnTo>
                  <a:pt x="50800" y="101600"/>
                </a:lnTo>
                <a:cubicBezTo>
                  <a:pt x="22733" y="101600"/>
                  <a:pt x="0" y="78867"/>
                  <a:pt x="0" y="50800"/>
                </a:cubicBezTo>
                <a:close/>
              </a:path>
            </a:pathLst>
          </a:cu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3"/>
          <p:cNvSpPr/>
          <p:nvPr/>
        </p:nvSpPr>
        <p:spPr>
          <a:xfrm>
            <a:off x="12326391" y="5421213"/>
            <a:ext cx="493204" cy="493204"/>
          </a:xfrm>
          <a:custGeom>
            <a:avLst/>
            <a:gdLst/>
            <a:ahLst/>
            <a:cxnLst/>
            <a:rect l="l" t="t" r="r" b="b"/>
            <a:pathLst>
              <a:path w="657606" h="657606" extrusionOk="0">
                <a:moveTo>
                  <a:pt x="0" y="328803"/>
                </a:moveTo>
                <a:cubicBezTo>
                  <a:pt x="0" y="147193"/>
                  <a:pt x="147193" y="0"/>
                  <a:pt x="328803" y="0"/>
                </a:cubicBezTo>
                <a:cubicBezTo>
                  <a:pt x="510413" y="0"/>
                  <a:pt x="657606" y="147193"/>
                  <a:pt x="657606" y="328803"/>
                </a:cubicBezTo>
                <a:cubicBezTo>
                  <a:pt x="657606" y="510413"/>
                  <a:pt x="510413" y="657606"/>
                  <a:pt x="328803" y="657606"/>
                </a:cubicBezTo>
                <a:cubicBezTo>
                  <a:pt x="147193" y="657606"/>
                  <a:pt x="0" y="510413"/>
                  <a:pt x="0" y="328803"/>
                </a:cubicBezTo>
                <a:close/>
              </a:path>
            </a:pathLst>
          </a:cu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3"/>
          <p:cNvSpPr txBox="1"/>
          <p:nvPr/>
        </p:nvSpPr>
        <p:spPr>
          <a:xfrm>
            <a:off x="12474327" y="5477842"/>
            <a:ext cx="197100" cy="313200"/>
          </a:xfrm>
          <a:prstGeom prst="rect">
            <a:avLst/>
          </a:prstGeom>
          <a:noFill/>
          <a:ln>
            <a:noFill/>
          </a:ln>
        </p:spPr>
        <p:txBody>
          <a:bodyPr spcFirstLastPara="1" wrap="square" lIns="0" tIns="0" rIns="0" bIns="0" anchor="t" anchorCtr="0">
            <a:spAutoFit/>
          </a:bodyPr>
          <a:lstStyle/>
          <a:p>
            <a:pPr marL="0" marR="0" lvl="0" indent="0" algn="l" rtl="0">
              <a:lnSpc>
                <a:spcPct val="162466"/>
              </a:lnSpc>
              <a:spcBef>
                <a:spcPts val="0"/>
              </a:spcBef>
              <a:spcAft>
                <a:spcPts val="0"/>
              </a:spcAft>
              <a:buNone/>
            </a:pPr>
            <a:r>
              <a:rPr lang="en-US" sz="1500" b="0" i="0" u="none" strike="noStrike" cap="none">
                <a:solidFill>
                  <a:srgbClr val="FFFFFF"/>
                </a:solidFill>
                <a:latin typeface="Raleway"/>
                <a:ea typeface="Raleway"/>
                <a:cs typeface="Raleway"/>
                <a:sym typeface="Raleway"/>
              </a:rPr>
              <a:t>3</a:t>
            </a:r>
            <a:endParaRPr/>
          </a:p>
        </p:txBody>
      </p:sp>
      <p:sp>
        <p:nvSpPr>
          <p:cNvPr id="272" name="Google Shape;272;p23"/>
          <p:cNvSpPr txBox="1"/>
          <p:nvPr/>
        </p:nvSpPr>
        <p:spPr>
          <a:xfrm>
            <a:off x="7616726" y="5963096"/>
            <a:ext cx="5763300" cy="358500"/>
          </a:xfrm>
          <a:prstGeom prst="rect">
            <a:avLst/>
          </a:prstGeom>
          <a:noFill/>
          <a:ln>
            <a:noFill/>
          </a:ln>
        </p:spPr>
        <p:txBody>
          <a:bodyPr spcFirstLastPara="1" wrap="square" lIns="0" tIns="0" rIns="0" bIns="0" anchor="t" anchorCtr="0">
            <a:spAutoFit/>
          </a:bodyPr>
          <a:lstStyle/>
          <a:p>
            <a:pPr marL="0" marR="0" lvl="0" indent="0" algn="l" rtl="0">
              <a:lnSpc>
                <a:spcPct val="128012"/>
              </a:lnSpc>
              <a:spcBef>
                <a:spcPts val="0"/>
              </a:spcBef>
              <a:spcAft>
                <a:spcPts val="0"/>
              </a:spcAft>
              <a:buNone/>
            </a:pPr>
            <a:r>
              <a:rPr lang="en-US" sz="2199" b="0" i="0" u="none" strike="noStrike" cap="none">
                <a:solidFill>
                  <a:srgbClr val="3C3939"/>
                </a:solidFill>
                <a:latin typeface="Raleway"/>
                <a:ea typeface="Raleway"/>
                <a:cs typeface="Raleway"/>
                <a:sym typeface="Raleway"/>
              </a:rPr>
              <a:t>Healing Agent (The Immune Response)</a:t>
            </a:r>
            <a:endParaRPr/>
          </a:p>
        </p:txBody>
      </p:sp>
      <p:sp>
        <p:nvSpPr>
          <p:cNvPr id="273" name="Google Shape;273;p23"/>
          <p:cNvSpPr txBox="1"/>
          <p:nvPr/>
        </p:nvSpPr>
        <p:spPr>
          <a:xfrm>
            <a:off x="7616726" y="6561921"/>
            <a:ext cx="9912600" cy="767700"/>
          </a:xfrm>
          <a:prstGeom prst="rect">
            <a:avLst/>
          </a:prstGeom>
          <a:noFill/>
          <a:ln>
            <a:noFill/>
          </a:ln>
        </p:spPr>
        <p:txBody>
          <a:bodyPr spcFirstLastPara="1" wrap="square" lIns="0" tIns="0" rIns="0" bIns="0" anchor="t" anchorCtr="0">
            <a:spAutoFit/>
          </a:bodyPr>
          <a:lstStyle/>
          <a:p>
            <a:pPr marL="0" marR="0" lvl="0" indent="0" algn="l" rtl="0">
              <a:lnSpc>
                <a:spcPct val="165034"/>
              </a:lnSpc>
              <a:spcBef>
                <a:spcPts val="0"/>
              </a:spcBef>
              <a:spcAft>
                <a:spcPts val="0"/>
              </a:spcAft>
              <a:buNone/>
            </a:pPr>
            <a:r>
              <a:rPr lang="en-US" sz="1899" b="0" i="0" u="none" strike="noStrike" cap="none">
                <a:solidFill>
                  <a:srgbClr val="3C3939"/>
                </a:solidFill>
                <a:latin typeface="Roboto"/>
                <a:ea typeface="Roboto"/>
                <a:cs typeface="Roboto"/>
                <a:sym typeface="Roboto"/>
              </a:rPr>
              <a:t>Automated scripts and AI models apply targeted fixes, such as generating code patches or altering configurations.</a:t>
            </a:r>
            <a:endParaRPr/>
          </a:p>
        </p:txBody>
      </p:sp>
      <p:sp>
        <p:nvSpPr>
          <p:cNvPr id="274" name="Google Shape;274;p23"/>
          <p:cNvSpPr/>
          <p:nvPr/>
        </p:nvSpPr>
        <p:spPr>
          <a:xfrm>
            <a:off x="7433370" y="7577286"/>
            <a:ext cx="10279284" cy="76200"/>
          </a:xfrm>
          <a:custGeom>
            <a:avLst/>
            <a:gdLst/>
            <a:ahLst/>
            <a:cxnLst/>
            <a:rect l="l" t="t" r="r" b="b"/>
            <a:pathLst>
              <a:path w="13705712" h="101600" extrusionOk="0">
                <a:moveTo>
                  <a:pt x="0" y="50800"/>
                </a:moveTo>
                <a:cubicBezTo>
                  <a:pt x="0" y="22733"/>
                  <a:pt x="22733" y="0"/>
                  <a:pt x="50800" y="0"/>
                </a:cubicBezTo>
                <a:lnTo>
                  <a:pt x="13654912" y="0"/>
                </a:lnTo>
                <a:cubicBezTo>
                  <a:pt x="13682979" y="0"/>
                  <a:pt x="13705712" y="22733"/>
                  <a:pt x="13705712" y="50800"/>
                </a:cubicBezTo>
                <a:cubicBezTo>
                  <a:pt x="13705712" y="78867"/>
                  <a:pt x="13682979" y="101600"/>
                  <a:pt x="13654912" y="101600"/>
                </a:cubicBezTo>
                <a:lnTo>
                  <a:pt x="50800" y="101600"/>
                </a:lnTo>
                <a:cubicBezTo>
                  <a:pt x="22733" y="101600"/>
                  <a:pt x="0" y="78867"/>
                  <a:pt x="0" y="50800"/>
                </a:cubicBezTo>
                <a:close/>
              </a:path>
            </a:pathLst>
          </a:cu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3"/>
          <p:cNvSpPr/>
          <p:nvPr/>
        </p:nvSpPr>
        <p:spPr>
          <a:xfrm>
            <a:off x="12326391" y="7453461"/>
            <a:ext cx="493204" cy="493204"/>
          </a:xfrm>
          <a:custGeom>
            <a:avLst/>
            <a:gdLst/>
            <a:ahLst/>
            <a:cxnLst/>
            <a:rect l="l" t="t" r="r" b="b"/>
            <a:pathLst>
              <a:path w="657606" h="657606" extrusionOk="0">
                <a:moveTo>
                  <a:pt x="0" y="328803"/>
                </a:moveTo>
                <a:cubicBezTo>
                  <a:pt x="0" y="147193"/>
                  <a:pt x="147193" y="0"/>
                  <a:pt x="328803" y="0"/>
                </a:cubicBezTo>
                <a:cubicBezTo>
                  <a:pt x="510413" y="0"/>
                  <a:pt x="657606" y="147193"/>
                  <a:pt x="657606" y="328803"/>
                </a:cubicBezTo>
                <a:cubicBezTo>
                  <a:pt x="657606" y="510413"/>
                  <a:pt x="510413" y="657606"/>
                  <a:pt x="328803" y="657606"/>
                </a:cubicBezTo>
                <a:cubicBezTo>
                  <a:pt x="147193" y="657606"/>
                  <a:pt x="0" y="510413"/>
                  <a:pt x="0" y="328803"/>
                </a:cubicBezTo>
                <a:close/>
              </a:path>
            </a:pathLst>
          </a:cu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3"/>
          <p:cNvSpPr txBox="1"/>
          <p:nvPr/>
        </p:nvSpPr>
        <p:spPr>
          <a:xfrm>
            <a:off x="12474327" y="7510016"/>
            <a:ext cx="197100" cy="313200"/>
          </a:xfrm>
          <a:prstGeom prst="rect">
            <a:avLst/>
          </a:prstGeom>
          <a:noFill/>
          <a:ln>
            <a:noFill/>
          </a:ln>
        </p:spPr>
        <p:txBody>
          <a:bodyPr spcFirstLastPara="1" wrap="square" lIns="0" tIns="0" rIns="0" bIns="0" anchor="t" anchorCtr="0">
            <a:spAutoFit/>
          </a:bodyPr>
          <a:lstStyle/>
          <a:p>
            <a:pPr marL="0" marR="0" lvl="0" indent="0" algn="l" rtl="0">
              <a:lnSpc>
                <a:spcPct val="162466"/>
              </a:lnSpc>
              <a:spcBef>
                <a:spcPts val="0"/>
              </a:spcBef>
              <a:spcAft>
                <a:spcPts val="0"/>
              </a:spcAft>
              <a:buNone/>
            </a:pPr>
            <a:r>
              <a:rPr lang="en-US" sz="1500" b="0" i="0" u="none" strike="noStrike" cap="none">
                <a:solidFill>
                  <a:srgbClr val="FFFFFF"/>
                </a:solidFill>
                <a:latin typeface="Raleway"/>
                <a:ea typeface="Raleway"/>
                <a:cs typeface="Raleway"/>
                <a:sym typeface="Raleway"/>
              </a:rPr>
              <a:t>4</a:t>
            </a:r>
            <a:endParaRPr/>
          </a:p>
        </p:txBody>
      </p:sp>
      <p:sp>
        <p:nvSpPr>
          <p:cNvPr id="277" name="Google Shape;277;p23"/>
          <p:cNvSpPr txBox="1"/>
          <p:nvPr/>
        </p:nvSpPr>
        <p:spPr>
          <a:xfrm>
            <a:off x="7616726" y="7920186"/>
            <a:ext cx="3994800" cy="358500"/>
          </a:xfrm>
          <a:prstGeom prst="rect">
            <a:avLst/>
          </a:prstGeom>
          <a:noFill/>
          <a:ln>
            <a:noFill/>
          </a:ln>
        </p:spPr>
        <p:txBody>
          <a:bodyPr spcFirstLastPara="1" wrap="square" lIns="0" tIns="0" rIns="0" bIns="0" anchor="t" anchorCtr="0">
            <a:spAutoFit/>
          </a:bodyPr>
          <a:lstStyle/>
          <a:p>
            <a:pPr marL="0" marR="0" lvl="0" indent="0" algn="l" rtl="0">
              <a:lnSpc>
                <a:spcPct val="128012"/>
              </a:lnSpc>
              <a:spcBef>
                <a:spcPts val="0"/>
              </a:spcBef>
              <a:spcAft>
                <a:spcPts val="0"/>
              </a:spcAft>
              <a:buNone/>
            </a:pPr>
            <a:r>
              <a:rPr lang="en-US" sz="2199" b="0" i="0" u="none" strike="noStrike" cap="none">
                <a:solidFill>
                  <a:srgbClr val="3C3939"/>
                </a:solidFill>
                <a:latin typeface="Raleway"/>
                <a:ea typeface="Raleway"/>
                <a:cs typeface="Raleway"/>
                <a:sym typeface="Raleway"/>
              </a:rPr>
              <a:t>Verification &amp; Feedback Loop</a:t>
            </a:r>
            <a:endParaRPr/>
          </a:p>
        </p:txBody>
      </p:sp>
      <p:sp>
        <p:nvSpPr>
          <p:cNvPr id="278" name="Google Shape;278;p23"/>
          <p:cNvSpPr txBox="1"/>
          <p:nvPr/>
        </p:nvSpPr>
        <p:spPr>
          <a:xfrm>
            <a:off x="7616726" y="8556277"/>
            <a:ext cx="9912600" cy="767700"/>
          </a:xfrm>
          <a:prstGeom prst="rect">
            <a:avLst/>
          </a:prstGeom>
          <a:noFill/>
          <a:ln>
            <a:noFill/>
          </a:ln>
        </p:spPr>
        <p:txBody>
          <a:bodyPr spcFirstLastPara="1" wrap="square" lIns="0" tIns="0" rIns="0" bIns="0" anchor="t" anchorCtr="0">
            <a:spAutoFit/>
          </a:bodyPr>
          <a:lstStyle/>
          <a:p>
            <a:pPr marL="0" marR="0" lvl="0" indent="0" algn="l" rtl="0">
              <a:lnSpc>
                <a:spcPct val="165034"/>
              </a:lnSpc>
              <a:spcBef>
                <a:spcPts val="0"/>
              </a:spcBef>
              <a:spcAft>
                <a:spcPts val="0"/>
              </a:spcAft>
              <a:buNone/>
            </a:pPr>
            <a:r>
              <a:rPr lang="en-US" sz="1899" b="0" i="0" u="none" strike="noStrike" cap="none">
                <a:solidFill>
                  <a:srgbClr val="3C3939"/>
                </a:solidFill>
                <a:latin typeface="Roboto"/>
                <a:ea typeface="Roboto"/>
                <a:cs typeface="Roboto"/>
                <a:sym typeface="Roboto"/>
              </a:rPr>
              <a:t>Proposed fixes are tested in a sandboxed environment, with outcomes logged to a knowledge base for continuous improvement.</a:t>
            </a:r>
            <a:endParaRPr/>
          </a:p>
        </p:txBody>
      </p:sp>
      <p:pic>
        <p:nvPicPr>
          <p:cNvPr id="279" name="Google Shape;279;p23"/>
          <p:cNvPicPr preferRelativeResize="0"/>
          <p:nvPr/>
        </p:nvPicPr>
        <p:blipFill rotWithShape="1">
          <a:blip r:embed="rId4">
            <a:alphaModFix/>
          </a:blip>
          <a:srcRect/>
          <a:stretch/>
        </p:blipFill>
        <p:spPr>
          <a:xfrm>
            <a:off x="0" y="0"/>
            <a:ext cx="6857984" cy="1028700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24"/>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ECECF3"/>
          </a:solidFill>
          <a:ln>
            <a:noFill/>
          </a:ln>
        </p:spPr>
      </p:sp>
      <p:sp>
        <p:nvSpPr>
          <p:cNvPr id="282" name="Google Shape;282;p24"/>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FFFFF">
              <a:alpha val="89800"/>
            </a:srgbClr>
          </a:solidFill>
          <a:ln>
            <a:noFill/>
          </a:ln>
        </p:spPr>
      </p:sp>
      <p:sp>
        <p:nvSpPr>
          <p:cNvPr id="283" name="Google Shape;283;p24"/>
          <p:cNvSpPr txBox="1"/>
          <p:nvPr/>
        </p:nvSpPr>
        <p:spPr>
          <a:xfrm>
            <a:off x="973188" y="1000125"/>
            <a:ext cx="16303500" cy="1800600"/>
          </a:xfrm>
          <a:prstGeom prst="rect">
            <a:avLst/>
          </a:prstGeom>
          <a:noFill/>
          <a:ln>
            <a:noFill/>
          </a:ln>
        </p:spPr>
        <p:txBody>
          <a:bodyPr spcFirstLastPara="1" wrap="square" lIns="0" tIns="0" rIns="0" bIns="0" anchor="t" anchorCtr="0">
            <a:spAutoFit/>
          </a:bodyPr>
          <a:lstStyle/>
          <a:p>
            <a:pPr marL="0" marR="0" lvl="0" indent="0" algn="l" rtl="0">
              <a:lnSpc>
                <a:spcPct val="124721"/>
              </a:lnSpc>
              <a:spcBef>
                <a:spcPts val="0"/>
              </a:spcBef>
              <a:spcAft>
                <a:spcPts val="0"/>
              </a:spcAft>
              <a:buNone/>
            </a:pPr>
            <a:r>
              <a:rPr lang="en-US" sz="5562" b="0" i="0" u="none" strike="noStrike" cap="none">
                <a:solidFill>
                  <a:srgbClr val="1B1B27"/>
                </a:solidFill>
                <a:latin typeface="Raleway"/>
                <a:ea typeface="Raleway"/>
                <a:cs typeface="Raleway"/>
                <a:sym typeface="Raleway"/>
              </a:rPr>
              <a:t>The Engine: A Deep Dive into Key AI &amp; ML Techniques</a:t>
            </a:r>
            <a:endParaRPr/>
          </a:p>
        </p:txBody>
      </p:sp>
      <p:sp>
        <p:nvSpPr>
          <p:cNvPr id="284" name="Google Shape;284;p24"/>
          <p:cNvSpPr/>
          <p:nvPr/>
        </p:nvSpPr>
        <p:spPr>
          <a:xfrm>
            <a:off x="973188" y="3534966"/>
            <a:ext cx="8048054" cy="2655284"/>
          </a:xfrm>
          <a:custGeom>
            <a:avLst/>
            <a:gdLst/>
            <a:ahLst/>
            <a:cxnLst/>
            <a:rect l="l" t="t" r="r" b="b"/>
            <a:pathLst>
              <a:path w="10730738" h="3540379" extrusionOk="0">
                <a:moveTo>
                  <a:pt x="0" y="269240"/>
                </a:moveTo>
                <a:cubicBezTo>
                  <a:pt x="0" y="120269"/>
                  <a:pt x="121793" y="0"/>
                  <a:pt x="271653" y="0"/>
                </a:cubicBezTo>
                <a:lnTo>
                  <a:pt x="10459085" y="0"/>
                </a:lnTo>
                <a:lnTo>
                  <a:pt x="10459085" y="25400"/>
                </a:lnTo>
                <a:lnTo>
                  <a:pt x="10459085" y="0"/>
                </a:lnTo>
                <a:cubicBezTo>
                  <a:pt x="10608818" y="0"/>
                  <a:pt x="10730738" y="120269"/>
                  <a:pt x="10730738" y="269240"/>
                </a:cubicBezTo>
                <a:lnTo>
                  <a:pt x="10705338" y="269240"/>
                </a:lnTo>
                <a:lnTo>
                  <a:pt x="10730738" y="269240"/>
                </a:lnTo>
                <a:lnTo>
                  <a:pt x="10730738" y="3271012"/>
                </a:lnTo>
                <a:lnTo>
                  <a:pt x="10705338" y="3271012"/>
                </a:lnTo>
                <a:lnTo>
                  <a:pt x="10730738" y="3271012"/>
                </a:lnTo>
                <a:cubicBezTo>
                  <a:pt x="10730738" y="3419983"/>
                  <a:pt x="10608945" y="3540252"/>
                  <a:pt x="10459085" y="3540252"/>
                </a:cubicBezTo>
                <a:lnTo>
                  <a:pt x="10459085" y="3514852"/>
                </a:lnTo>
                <a:lnTo>
                  <a:pt x="10459085" y="3540252"/>
                </a:lnTo>
                <a:lnTo>
                  <a:pt x="271653" y="3540252"/>
                </a:lnTo>
                <a:lnTo>
                  <a:pt x="271653" y="3514852"/>
                </a:lnTo>
                <a:lnTo>
                  <a:pt x="271653" y="3540252"/>
                </a:lnTo>
                <a:cubicBezTo>
                  <a:pt x="121793" y="3540379"/>
                  <a:pt x="0" y="3419983"/>
                  <a:pt x="0" y="3271012"/>
                </a:cubicBezTo>
                <a:lnTo>
                  <a:pt x="0" y="269240"/>
                </a:lnTo>
                <a:lnTo>
                  <a:pt x="25400" y="269240"/>
                </a:lnTo>
                <a:lnTo>
                  <a:pt x="0" y="269240"/>
                </a:lnTo>
                <a:moveTo>
                  <a:pt x="50800" y="269240"/>
                </a:moveTo>
                <a:lnTo>
                  <a:pt x="50800" y="3271012"/>
                </a:lnTo>
                <a:lnTo>
                  <a:pt x="25400" y="3271012"/>
                </a:lnTo>
                <a:lnTo>
                  <a:pt x="50800" y="3271012"/>
                </a:lnTo>
                <a:cubicBezTo>
                  <a:pt x="50800" y="3391408"/>
                  <a:pt x="149479" y="3489452"/>
                  <a:pt x="271653" y="3489452"/>
                </a:cubicBezTo>
                <a:lnTo>
                  <a:pt x="10459085" y="3489452"/>
                </a:lnTo>
                <a:cubicBezTo>
                  <a:pt x="10581259" y="3489452"/>
                  <a:pt x="10679938" y="3391408"/>
                  <a:pt x="10679938" y="3271012"/>
                </a:cubicBezTo>
                <a:lnTo>
                  <a:pt x="10679938" y="269240"/>
                </a:lnTo>
                <a:cubicBezTo>
                  <a:pt x="10679938" y="148844"/>
                  <a:pt x="10581259" y="50800"/>
                  <a:pt x="10459085" y="50800"/>
                </a:cubicBezTo>
                <a:lnTo>
                  <a:pt x="271653" y="50800"/>
                </a:lnTo>
                <a:lnTo>
                  <a:pt x="271653" y="25400"/>
                </a:lnTo>
                <a:lnTo>
                  <a:pt x="271653" y="50800"/>
                </a:lnTo>
                <a:cubicBezTo>
                  <a:pt x="149479" y="50800"/>
                  <a:pt x="50800" y="148844"/>
                  <a:pt x="50800" y="269240"/>
                </a:cubicBezTo>
                <a:close/>
              </a:path>
            </a:pathLst>
          </a:custGeom>
          <a:solidFill>
            <a:srgbClr val="C7C7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4"/>
          <p:cNvSpPr/>
          <p:nvPr/>
        </p:nvSpPr>
        <p:spPr>
          <a:xfrm>
            <a:off x="954138" y="3554016"/>
            <a:ext cx="152400" cy="2617184"/>
          </a:xfrm>
          <a:custGeom>
            <a:avLst/>
            <a:gdLst/>
            <a:ahLst/>
            <a:cxnLst/>
            <a:rect l="l" t="t" r="r" b="b"/>
            <a:pathLst>
              <a:path w="203200" h="3489579" extrusionOk="0">
                <a:moveTo>
                  <a:pt x="0" y="101600"/>
                </a:moveTo>
                <a:cubicBezTo>
                  <a:pt x="0" y="45466"/>
                  <a:pt x="45466" y="0"/>
                  <a:pt x="101600" y="0"/>
                </a:cubicBezTo>
                <a:cubicBezTo>
                  <a:pt x="157734" y="0"/>
                  <a:pt x="203200" y="45466"/>
                  <a:pt x="203200" y="101600"/>
                </a:cubicBezTo>
                <a:lnTo>
                  <a:pt x="203200" y="3387979"/>
                </a:lnTo>
                <a:cubicBezTo>
                  <a:pt x="203200" y="3444113"/>
                  <a:pt x="157734" y="3489579"/>
                  <a:pt x="101600" y="3489579"/>
                </a:cubicBezTo>
                <a:cubicBezTo>
                  <a:pt x="45466" y="3489579"/>
                  <a:pt x="0" y="3444113"/>
                  <a:pt x="0" y="3387979"/>
                </a:cubicBezTo>
                <a:close/>
              </a:path>
            </a:pathLst>
          </a:cu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4"/>
          <p:cNvSpPr txBox="1"/>
          <p:nvPr/>
        </p:nvSpPr>
        <p:spPr>
          <a:xfrm>
            <a:off x="1428155" y="3847059"/>
            <a:ext cx="35439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Anomaly Detection</a:t>
            </a:r>
            <a:endParaRPr/>
          </a:p>
        </p:txBody>
      </p:sp>
      <p:sp>
        <p:nvSpPr>
          <p:cNvPr id="287" name="Google Shape;287;p24"/>
          <p:cNvSpPr txBox="1"/>
          <p:nvPr/>
        </p:nvSpPr>
        <p:spPr>
          <a:xfrm>
            <a:off x="1428155" y="4393406"/>
            <a:ext cx="7252500" cy="14562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Unsupervised models (e.g., clustering) or sequence models like RNNs and LSTMs identify abnormal behavior in runtime logs and performance metrics.</a:t>
            </a:r>
            <a:endParaRPr/>
          </a:p>
        </p:txBody>
      </p:sp>
      <p:sp>
        <p:nvSpPr>
          <p:cNvPr id="288" name="Google Shape;288;p24"/>
          <p:cNvSpPr/>
          <p:nvPr/>
        </p:nvSpPr>
        <p:spPr>
          <a:xfrm>
            <a:off x="9266635" y="3534966"/>
            <a:ext cx="8048244" cy="2655284"/>
          </a:xfrm>
          <a:custGeom>
            <a:avLst/>
            <a:gdLst/>
            <a:ahLst/>
            <a:cxnLst/>
            <a:rect l="l" t="t" r="r" b="b"/>
            <a:pathLst>
              <a:path w="10730992" h="3540379" extrusionOk="0">
                <a:moveTo>
                  <a:pt x="0" y="269240"/>
                </a:moveTo>
                <a:cubicBezTo>
                  <a:pt x="0" y="120269"/>
                  <a:pt x="121793" y="0"/>
                  <a:pt x="271653" y="0"/>
                </a:cubicBezTo>
                <a:lnTo>
                  <a:pt x="10459339" y="0"/>
                </a:lnTo>
                <a:lnTo>
                  <a:pt x="10459339" y="25400"/>
                </a:lnTo>
                <a:lnTo>
                  <a:pt x="10459339" y="0"/>
                </a:lnTo>
                <a:cubicBezTo>
                  <a:pt x="10609072" y="0"/>
                  <a:pt x="10730992" y="120269"/>
                  <a:pt x="10730992" y="269240"/>
                </a:cubicBezTo>
                <a:lnTo>
                  <a:pt x="10705592" y="269240"/>
                </a:lnTo>
                <a:lnTo>
                  <a:pt x="10730992" y="269240"/>
                </a:lnTo>
                <a:lnTo>
                  <a:pt x="10730992" y="3271012"/>
                </a:lnTo>
                <a:lnTo>
                  <a:pt x="10705592" y="3271012"/>
                </a:lnTo>
                <a:lnTo>
                  <a:pt x="10730992" y="3271012"/>
                </a:lnTo>
                <a:cubicBezTo>
                  <a:pt x="10730992" y="3419983"/>
                  <a:pt x="10609199" y="3540252"/>
                  <a:pt x="10459339" y="3540252"/>
                </a:cubicBezTo>
                <a:lnTo>
                  <a:pt x="10459339" y="3514852"/>
                </a:lnTo>
                <a:lnTo>
                  <a:pt x="10459339" y="3540252"/>
                </a:lnTo>
                <a:lnTo>
                  <a:pt x="271653" y="3540252"/>
                </a:lnTo>
                <a:lnTo>
                  <a:pt x="271653" y="3514852"/>
                </a:lnTo>
                <a:lnTo>
                  <a:pt x="271653" y="3540252"/>
                </a:lnTo>
                <a:cubicBezTo>
                  <a:pt x="121793" y="3540379"/>
                  <a:pt x="0" y="3419983"/>
                  <a:pt x="0" y="3271012"/>
                </a:cubicBezTo>
                <a:lnTo>
                  <a:pt x="0" y="269240"/>
                </a:lnTo>
                <a:lnTo>
                  <a:pt x="25400" y="269240"/>
                </a:lnTo>
                <a:lnTo>
                  <a:pt x="0" y="269240"/>
                </a:lnTo>
                <a:moveTo>
                  <a:pt x="50800" y="269240"/>
                </a:moveTo>
                <a:lnTo>
                  <a:pt x="50800" y="3271012"/>
                </a:lnTo>
                <a:lnTo>
                  <a:pt x="25400" y="3271012"/>
                </a:lnTo>
                <a:lnTo>
                  <a:pt x="50800" y="3271012"/>
                </a:lnTo>
                <a:cubicBezTo>
                  <a:pt x="50800" y="3391408"/>
                  <a:pt x="149479" y="3489452"/>
                  <a:pt x="271653" y="3489452"/>
                </a:cubicBezTo>
                <a:lnTo>
                  <a:pt x="10459339" y="3489452"/>
                </a:lnTo>
                <a:cubicBezTo>
                  <a:pt x="10581513" y="3489452"/>
                  <a:pt x="10680192" y="3391408"/>
                  <a:pt x="10680192" y="3271012"/>
                </a:cubicBezTo>
                <a:lnTo>
                  <a:pt x="10680192" y="269240"/>
                </a:lnTo>
                <a:cubicBezTo>
                  <a:pt x="10680192" y="148844"/>
                  <a:pt x="10581513" y="50800"/>
                  <a:pt x="10459339" y="50800"/>
                </a:cubicBezTo>
                <a:lnTo>
                  <a:pt x="271653" y="50800"/>
                </a:lnTo>
                <a:lnTo>
                  <a:pt x="271653" y="25400"/>
                </a:lnTo>
                <a:lnTo>
                  <a:pt x="271653" y="50800"/>
                </a:lnTo>
                <a:cubicBezTo>
                  <a:pt x="149479" y="50800"/>
                  <a:pt x="50800" y="148844"/>
                  <a:pt x="50800" y="269240"/>
                </a:cubicBezTo>
                <a:close/>
              </a:path>
            </a:pathLst>
          </a:custGeom>
          <a:solidFill>
            <a:srgbClr val="C7C7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4"/>
          <p:cNvSpPr/>
          <p:nvPr/>
        </p:nvSpPr>
        <p:spPr>
          <a:xfrm>
            <a:off x="9247584" y="3554016"/>
            <a:ext cx="152400" cy="2617184"/>
          </a:xfrm>
          <a:custGeom>
            <a:avLst/>
            <a:gdLst/>
            <a:ahLst/>
            <a:cxnLst/>
            <a:rect l="l" t="t" r="r" b="b"/>
            <a:pathLst>
              <a:path w="203200" h="3489579" extrusionOk="0">
                <a:moveTo>
                  <a:pt x="0" y="101600"/>
                </a:moveTo>
                <a:cubicBezTo>
                  <a:pt x="0" y="45466"/>
                  <a:pt x="45466" y="0"/>
                  <a:pt x="101600" y="0"/>
                </a:cubicBezTo>
                <a:cubicBezTo>
                  <a:pt x="157734" y="0"/>
                  <a:pt x="203200" y="45466"/>
                  <a:pt x="203200" y="101600"/>
                </a:cubicBezTo>
                <a:lnTo>
                  <a:pt x="203200" y="3387979"/>
                </a:lnTo>
                <a:cubicBezTo>
                  <a:pt x="203200" y="3444113"/>
                  <a:pt x="157734" y="3489579"/>
                  <a:pt x="101600" y="3489579"/>
                </a:cubicBezTo>
                <a:cubicBezTo>
                  <a:pt x="45466" y="3489579"/>
                  <a:pt x="0" y="3444113"/>
                  <a:pt x="0" y="3387979"/>
                </a:cubicBezTo>
                <a:close/>
              </a:path>
            </a:pathLst>
          </a:cu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4"/>
          <p:cNvSpPr txBox="1"/>
          <p:nvPr/>
        </p:nvSpPr>
        <p:spPr>
          <a:xfrm>
            <a:off x="9721602" y="3847059"/>
            <a:ext cx="35439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Predictive Analytics</a:t>
            </a:r>
            <a:endParaRPr/>
          </a:p>
        </p:txBody>
      </p:sp>
      <p:sp>
        <p:nvSpPr>
          <p:cNvPr id="291" name="Google Shape;291;p24"/>
          <p:cNvSpPr txBox="1"/>
          <p:nvPr/>
        </p:nvSpPr>
        <p:spPr>
          <a:xfrm>
            <a:off x="9721602" y="4393406"/>
            <a:ext cx="7252500" cy="14562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Supervised models, such as decision trees, are trained on historical bug report datasets to forecast potential failures in new code.</a:t>
            </a:r>
            <a:endParaRPr/>
          </a:p>
        </p:txBody>
      </p:sp>
      <p:sp>
        <p:nvSpPr>
          <p:cNvPr id="292" name="Google Shape;292;p24"/>
          <p:cNvSpPr/>
          <p:nvPr/>
        </p:nvSpPr>
        <p:spPr>
          <a:xfrm>
            <a:off x="973188" y="6435626"/>
            <a:ext cx="8048054" cy="2655284"/>
          </a:xfrm>
          <a:custGeom>
            <a:avLst/>
            <a:gdLst/>
            <a:ahLst/>
            <a:cxnLst/>
            <a:rect l="l" t="t" r="r" b="b"/>
            <a:pathLst>
              <a:path w="10730738" h="3540379" extrusionOk="0">
                <a:moveTo>
                  <a:pt x="0" y="269240"/>
                </a:moveTo>
                <a:cubicBezTo>
                  <a:pt x="0" y="120269"/>
                  <a:pt x="121793" y="0"/>
                  <a:pt x="271653" y="0"/>
                </a:cubicBezTo>
                <a:lnTo>
                  <a:pt x="10459085" y="0"/>
                </a:lnTo>
                <a:lnTo>
                  <a:pt x="10459085" y="25400"/>
                </a:lnTo>
                <a:lnTo>
                  <a:pt x="10459085" y="0"/>
                </a:lnTo>
                <a:cubicBezTo>
                  <a:pt x="10608818" y="0"/>
                  <a:pt x="10730738" y="120269"/>
                  <a:pt x="10730738" y="269240"/>
                </a:cubicBezTo>
                <a:lnTo>
                  <a:pt x="10705338" y="269240"/>
                </a:lnTo>
                <a:lnTo>
                  <a:pt x="10730738" y="269240"/>
                </a:lnTo>
                <a:lnTo>
                  <a:pt x="10730738" y="3271012"/>
                </a:lnTo>
                <a:lnTo>
                  <a:pt x="10705338" y="3271012"/>
                </a:lnTo>
                <a:lnTo>
                  <a:pt x="10730738" y="3271012"/>
                </a:lnTo>
                <a:cubicBezTo>
                  <a:pt x="10730738" y="3419983"/>
                  <a:pt x="10608945" y="3540252"/>
                  <a:pt x="10459085" y="3540252"/>
                </a:cubicBezTo>
                <a:lnTo>
                  <a:pt x="10459085" y="3514852"/>
                </a:lnTo>
                <a:lnTo>
                  <a:pt x="10459085" y="3540252"/>
                </a:lnTo>
                <a:lnTo>
                  <a:pt x="271653" y="3540252"/>
                </a:lnTo>
                <a:lnTo>
                  <a:pt x="271653" y="3514852"/>
                </a:lnTo>
                <a:lnTo>
                  <a:pt x="271653" y="3540252"/>
                </a:lnTo>
                <a:cubicBezTo>
                  <a:pt x="121793" y="3540379"/>
                  <a:pt x="0" y="3419983"/>
                  <a:pt x="0" y="3271012"/>
                </a:cubicBezTo>
                <a:lnTo>
                  <a:pt x="0" y="269240"/>
                </a:lnTo>
                <a:lnTo>
                  <a:pt x="25400" y="269240"/>
                </a:lnTo>
                <a:lnTo>
                  <a:pt x="0" y="269240"/>
                </a:lnTo>
                <a:moveTo>
                  <a:pt x="50800" y="269240"/>
                </a:moveTo>
                <a:lnTo>
                  <a:pt x="50800" y="3271012"/>
                </a:lnTo>
                <a:lnTo>
                  <a:pt x="25400" y="3271012"/>
                </a:lnTo>
                <a:lnTo>
                  <a:pt x="50800" y="3271012"/>
                </a:lnTo>
                <a:cubicBezTo>
                  <a:pt x="50800" y="3391408"/>
                  <a:pt x="149479" y="3489452"/>
                  <a:pt x="271653" y="3489452"/>
                </a:cubicBezTo>
                <a:lnTo>
                  <a:pt x="10459085" y="3489452"/>
                </a:lnTo>
                <a:cubicBezTo>
                  <a:pt x="10581259" y="3489452"/>
                  <a:pt x="10679938" y="3391408"/>
                  <a:pt x="10679938" y="3271012"/>
                </a:cubicBezTo>
                <a:lnTo>
                  <a:pt x="10679938" y="269240"/>
                </a:lnTo>
                <a:cubicBezTo>
                  <a:pt x="10679938" y="148844"/>
                  <a:pt x="10581259" y="50800"/>
                  <a:pt x="10459085" y="50800"/>
                </a:cubicBezTo>
                <a:lnTo>
                  <a:pt x="271653" y="50800"/>
                </a:lnTo>
                <a:lnTo>
                  <a:pt x="271653" y="25400"/>
                </a:lnTo>
                <a:lnTo>
                  <a:pt x="271653" y="50800"/>
                </a:lnTo>
                <a:cubicBezTo>
                  <a:pt x="149479" y="50800"/>
                  <a:pt x="50800" y="148844"/>
                  <a:pt x="50800" y="269240"/>
                </a:cubicBezTo>
                <a:close/>
              </a:path>
            </a:pathLst>
          </a:custGeom>
          <a:solidFill>
            <a:srgbClr val="C7C7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4"/>
          <p:cNvSpPr/>
          <p:nvPr/>
        </p:nvSpPr>
        <p:spPr>
          <a:xfrm>
            <a:off x="954138" y="6454676"/>
            <a:ext cx="152400" cy="2617184"/>
          </a:xfrm>
          <a:custGeom>
            <a:avLst/>
            <a:gdLst/>
            <a:ahLst/>
            <a:cxnLst/>
            <a:rect l="l" t="t" r="r" b="b"/>
            <a:pathLst>
              <a:path w="203200" h="3489579" extrusionOk="0">
                <a:moveTo>
                  <a:pt x="0" y="101600"/>
                </a:moveTo>
                <a:cubicBezTo>
                  <a:pt x="0" y="45466"/>
                  <a:pt x="45466" y="0"/>
                  <a:pt x="101600" y="0"/>
                </a:cubicBezTo>
                <a:cubicBezTo>
                  <a:pt x="157734" y="0"/>
                  <a:pt x="203200" y="45466"/>
                  <a:pt x="203200" y="101600"/>
                </a:cubicBezTo>
                <a:lnTo>
                  <a:pt x="203200" y="3387979"/>
                </a:lnTo>
                <a:cubicBezTo>
                  <a:pt x="203200" y="3444113"/>
                  <a:pt x="157734" y="3489579"/>
                  <a:pt x="101600" y="3489579"/>
                </a:cubicBezTo>
                <a:cubicBezTo>
                  <a:pt x="45466" y="3489579"/>
                  <a:pt x="0" y="3444113"/>
                  <a:pt x="0" y="3387979"/>
                </a:cubicBezTo>
                <a:close/>
              </a:path>
            </a:pathLst>
          </a:cu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4"/>
          <p:cNvSpPr txBox="1"/>
          <p:nvPr/>
        </p:nvSpPr>
        <p:spPr>
          <a:xfrm>
            <a:off x="1428155" y="6747719"/>
            <a:ext cx="46593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Reinforcement Learning (RL)</a:t>
            </a:r>
            <a:endParaRPr/>
          </a:p>
        </p:txBody>
      </p:sp>
      <p:sp>
        <p:nvSpPr>
          <p:cNvPr id="295" name="Google Shape;295;p24"/>
          <p:cNvSpPr txBox="1"/>
          <p:nvPr/>
        </p:nvSpPr>
        <p:spPr>
          <a:xfrm>
            <a:off x="1428155" y="7294066"/>
            <a:ext cx="7252500" cy="14562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AI agents learn effective repair strategies over time, receiving "rewards" for successful fixes to adapt their error-handling policies.</a:t>
            </a:r>
            <a:endParaRPr/>
          </a:p>
        </p:txBody>
      </p:sp>
      <p:sp>
        <p:nvSpPr>
          <p:cNvPr id="296" name="Google Shape;296;p24"/>
          <p:cNvSpPr/>
          <p:nvPr/>
        </p:nvSpPr>
        <p:spPr>
          <a:xfrm>
            <a:off x="9266635" y="6435626"/>
            <a:ext cx="8048244" cy="2655284"/>
          </a:xfrm>
          <a:custGeom>
            <a:avLst/>
            <a:gdLst/>
            <a:ahLst/>
            <a:cxnLst/>
            <a:rect l="l" t="t" r="r" b="b"/>
            <a:pathLst>
              <a:path w="10730992" h="3540379" extrusionOk="0">
                <a:moveTo>
                  <a:pt x="0" y="269240"/>
                </a:moveTo>
                <a:cubicBezTo>
                  <a:pt x="0" y="120269"/>
                  <a:pt x="121793" y="0"/>
                  <a:pt x="271653" y="0"/>
                </a:cubicBezTo>
                <a:lnTo>
                  <a:pt x="10459339" y="0"/>
                </a:lnTo>
                <a:lnTo>
                  <a:pt x="10459339" y="25400"/>
                </a:lnTo>
                <a:lnTo>
                  <a:pt x="10459339" y="0"/>
                </a:lnTo>
                <a:cubicBezTo>
                  <a:pt x="10609072" y="0"/>
                  <a:pt x="10730992" y="120269"/>
                  <a:pt x="10730992" y="269240"/>
                </a:cubicBezTo>
                <a:lnTo>
                  <a:pt x="10705592" y="269240"/>
                </a:lnTo>
                <a:lnTo>
                  <a:pt x="10730992" y="269240"/>
                </a:lnTo>
                <a:lnTo>
                  <a:pt x="10730992" y="3271012"/>
                </a:lnTo>
                <a:lnTo>
                  <a:pt x="10705592" y="3271012"/>
                </a:lnTo>
                <a:lnTo>
                  <a:pt x="10730992" y="3271012"/>
                </a:lnTo>
                <a:cubicBezTo>
                  <a:pt x="10730992" y="3419983"/>
                  <a:pt x="10609199" y="3540252"/>
                  <a:pt x="10459339" y="3540252"/>
                </a:cubicBezTo>
                <a:lnTo>
                  <a:pt x="10459339" y="3514852"/>
                </a:lnTo>
                <a:lnTo>
                  <a:pt x="10459339" y="3540252"/>
                </a:lnTo>
                <a:lnTo>
                  <a:pt x="271653" y="3540252"/>
                </a:lnTo>
                <a:lnTo>
                  <a:pt x="271653" y="3514852"/>
                </a:lnTo>
                <a:lnTo>
                  <a:pt x="271653" y="3540252"/>
                </a:lnTo>
                <a:cubicBezTo>
                  <a:pt x="121793" y="3540379"/>
                  <a:pt x="0" y="3419983"/>
                  <a:pt x="0" y="3271012"/>
                </a:cubicBezTo>
                <a:lnTo>
                  <a:pt x="0" y="269240"/>
                </a:lnTo>
                <a:lnTo>
                  <a:pt x="25400" y="269240"/>
                </a:lnTo>
                <a:lnTo>
                  <a:pt x="0" y="269240"/>
                </a:lnTo>
                <a:moveTo>
                  <a:pt x="50800" y="269240"/>
                </a:moveTo>
                <a:lnTo>
                  <a:pt x="50800" y="3271012"/>
                </a:lnTo>
                <a:lnTo>
                  <a:pt x="25400" y="3271012"/>
                </a:lnTo>
                <a:lnTo>
                  <a:pt x="50800" y="3271012"/>
                </a:lnTo>
                <a:cubicBezTo>
                  <a:pt x="50800" y="3391408"/>
                  <a:pt x="149479" y="3489452"/>
                  <a:pt x="271653" y="3489452"/>
                </a:cubicBezTo>
                <a:lnTo>
                  <a:pt x="10459339" y="3489452"/>
                </a:lnTo>
                <a:cubicBezTo>
                  <a:pt x="10581513" y="3489452"/>
                  <a:pt x="10680192" y="3391408"/>
                  <a:pt x="10680192" y="3271012"/>
                </a:cubicBezTo>
                <a:lnTo>
                  <a:pt x="10680192" y="269240"/>
                </a:lnTo>
                <a:cubicBezTo>
                  <a:pt x="10680192" y="148844"/>
                  <a:pt x="10581513" y="50800"/>
                  <a:pt x="10459339" y="50800"/>
                </a:cubicBezTo>
                <a:lnTo>
                  <a:pt x="271653" y="50800"/>
                </a:lnTo>
                <a:lnTo>
                  <a:pt x="271653" y="25400"/>
                </a:lnTo>
                <a:lnTo>
                  <a:pt x="271653" y="50800"/>
                </a:lnTo>
                <a:cubicBezTo>
                  <a:pt x="149479" y="50800"/>
                  <a:pt x="50800" y="148844"/>
                  <a:pt x="50800" y="269240"/>
                </a:cubicBezTo>
                <a:close/>
              </a:path>
            </a:pathLst>
          </a:custGeom>
          <a:solidFill>
            <a:srgbClr val="C7C7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4"/>
          <p:cNvSpPr/>
          <p:nvPr/>
        </p:nvSpPr>
        <p:spPr>
          <a:xfrm>
            <a:off x="9247584" y="6454676"/>
            <a:ext cx="152400" cy="2617184"/>
          </a:xfrm>
          <a:custGeom>
            <a:avLst/>
            <a:gdLst/>
            <a:ahLst/>
            <a:cxnLst/>
            <a:rect l="l" t="t" r="r" b="b"/>
            <a:pathLst>
              <a:path w="203200" h="3489579" extrusionOk="0">
                <a:moveTo>
                  <a:pt x="0" y="101600"/>
                </a:moveTo>
                <a:cubicBezTo>
                  <a:pt x="0" y="45466"/>
                  <a:pt x="45466" y="0"/>
                  <a:pt x="101600" y="0"/>
                </a:cubicBezTo>
                <a:cubicBezTo>
                  <a:pt x="157734" y="0"/>
                  <a:pt x="203200" y="45466"/>
                  <a:pt x="203200" y="101600"/>
                </a:cubicBezTo>
                <a:lnTo>
                  <a:pt x="203200" y="3387979"/>
                </a:lnTo>
                <a:cubicBezTo>
                  <a:pt x="203200" y="3444113"/>
                  <a:pt x="157734" y="3489579"/>
                  <a:pt x="101600" y="3489579"/>
                </a:cubicBezTo>
                <a:cubicBezTo>
                  <a:pt x="45466" y="3489579"/>
                  <a:pt x="0" y="3444113"/>
                  <a:pt x="0" y="3387979"/>
                </a:cubicBezTo>
                <a:close/>
              </a:path>
            </a:pathLst>
          </a:cu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4"/>
          <p:cNvSpPr txBox="1"/>
          <p:nvPr/>
        </p:nvSpPr>
        <p:spPr>
          <a:xfrm>
            <a:off x="9721602" y="6747719"/>
            <a:ext cx="71889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Automated Program Repair (APR) with LLMs</a:t>
            </a:r>
            <a:endParaRPr/>
          </a:p>
        </p:txBody>
      </p:sp>
      <p:sp>
        <p:nvSpPr>
          <p:cNvPr id="299" name="Google Shape;299;p24"/>
          <p:cNvSpPr txBox="1"/>
          <p:nvPr/>
        </p:nvSpPr>
        <p:spPr>
          <a:xfrm>
            <a:off x="9721602" y="7294066"/>
            <a:ext cx="7252500" cy="14562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Large Language Models analyze faulty code and error messages to automatically generate corrective code patches.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25"/>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ECECF3"/>
          </a:solidFill>
          <a:ln>
            <a:noFill/>
          </a:ln>
        </p:spPr>
      </p:sp>
      <p:sp>
        <p:nvSpPr>
          <p:cNvPr id="302" name="Google Shape;302;p25"/>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FFFFF">
              <a:alpha val="89800"/>
            </a:srgbClr>
          </a:solidFill>
          <a:ln>
            <a:noFill/>
          </a:ln>
        </p:spPr>
      </p:sp>
      <p:sp>
        <p:nvSpPr>
          <p:cNvPr id="303" name="Google Shape;303;p25"/>
          <p:cNvSpPr txBox="1"/>
          <p:nvPr/>
        </p:nvSpPr>
        <p:spPr>
          <a:xfrm>
            <a:off x="992238" y="843977"/>
            <a:ext cx="12315600" cy="914400"/>
          </a:xfrm>
          <a:prstGeom prst="rect">
            <a:avLst/>
          </a:prstGeom>
          <a:noFill/>
          <a:ln>
            <a:noFill/>
          </a:ln>
        </p:spPr>
        <p:txBody>
          <a:bodyPr spcFirstLastPara="1" wrap="square" lIns="0" tIns="0" rIns="0" bIns="0" anchor="t" anchorCtr="0">
            <a:spAutoFit/>
          </a:bodyPr>
          <a:lstStyle/>
          <a:p>
            <a:pPr marL="0" marR="0" lvl="0" indent="0" algn="l" rtl="0">
              <a:lnSpc>
                <a:spcPct val="124721"/>
              </a:lnSpc>
              <a:spcBef>
                <a:spcPts val="0"/>
              </a:spcBef>
              <a:spcAft>
                <a:spcPts val="0"/>
              </a:spcAft>
              <a:buNone/>
            </a:pPr>
            <a:r>
              <a:rPr lang="en-US" sz="5562" b="0" i="0" u="none" strike="noStrike" cap="none">
                <a:solidFill>
                  <a:srgbClr val="1B1B27"/>
                </a:solidFill>
                <a:latin typeface="Raleway"/>
                <a:ea typeface="Raleway"/>
                <a:cs typeface="Raleway"/>
                <a:sym typeface="Raleway"/>
              </a:rPr>
              <a:t>Case Studies: Self-Healing in the Wild</a:t>
            </a:r>
            <a:endParaRPr/>
          </a:p>
        </p:txBody>
      </p:sp>
      <p:sp>
        <p:nvSpPr>
          <p:cNvPr id="304" name="Google Shape;304;p25"/>
          <p:cNvSpPr txBox="1"/>
          <p:nvPr/>
        </p:nvSpPr>
        <p:spPr>
          <a:xfrm>
            <a:off x="992238" y="2980662"/>
            <a:ext cx="16303500" cy="5490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Real-world applications showcase the tangible benefits of self-healing software across diverse industries.</a:t>
            </a:r>
            <a:endParaRPr/>
          </a:p>
        </p:txBody>
      </p:sp>
      <p:sp>
        <p:nvSpPr>
          <p:cNvPr id="305" name="Google Shape;305;p25" descr="preencoded.png"/>
          <p:cNvSpPr/>
          <p:nvPr/>
        </p:nvSpPr>
        <p:spPr>
          <a:xfrm>
            <a:off x="992238" y="4284166"/>
            <a:ext cx="708755" cy="708755"/>
          </a:xfrm>
          <a:custGeom>
            <a:avLst/>
            <a:gdLst/>
            <a:ahLst/>
            <a:cxnLst/>
            <a:rect l="l" t="t" r="r" b="b"/>
            <a:pathLst>
              <a:path w="945007" h="945007" extrusionOk="0">
                <a:moveTo>
                  <a:pt x="0" y="0"/>
                </a:moveTo>
                <a:lnTo>
                  <a:pt x="945007" y="0"/>
                </a:lnTo>
                <a:lnTo>
                  <a:pt x="945007" y="945007"/>
                </a:lnTo>
                <a:lnTo>
                  <a:pt x="0" y="945007"/>
                </a:lnTo>
                <a:lnTo>
                  <a:pt x="0" y="0"/>
                </a:lnTo>
                <a:close/>
              </a:path>
            </a:pathLst>
          </a:custGeom>
          <a:blipFill rotWithShape="1">
            <a:blip r:embed="rId3">
              <a:alphaModFix/>
            </a:blip>
            <a:stretch>
              <a:fillRect/>
            </a:stretch>
          </a:blipFill>
          <a:ln>
            <a:noFill/>
          </a:ln>
        </p:spPr>
      </p:sp>
      <p:sp>
        <p:nvSpPr>
          <p:cNvPr id="306" name="Google Shape;306;p25"/>
          <p:cNvSpPr txBox="1"/>
          <p:nvPr/>
        </p:nvSpPr>
        <p:spPr>
          <a:xfrm>
            <a:off x="992238" y="5318671"/>
            <a:ext cx="35439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Cloud Infrastructure</a:t>
            </a:r>
            <a:endParaRPr/>
          </a:p>
        </p:txBody>
      </p:sp>
      <p:sp>
        <p:nvSpPr>
          <p:cNvPr id="307" name="Google Shape;307;p25"/>
          <p:cNvSpPr txBox="1"/>
          <p:nvPr/>
        </p:nvSpPr>
        <p:spPr>
          <a:xfrm>
            <a:off x="992238" y="5865019"/>
            <a:ext cx="5198400" cy="23634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Companies like Amazon and Google utilize self-healing protocols for high availability, automatically resolving server overloads, network failures, and node issues.</a:t>
            </a:r>
            <a:endParaRPr/>
          </a:p>
        </p:txBody>
      </p:sp>
      <p:sp>
        <p:nvSpPr>
          <p:cNvPr id="308" name="Google Shape;308;p25" descr="preencoded.png"/>
          <p:cNvSpPr/>
          <p:nvPr/>
        </p:nvSpPr>
        <p:spPr>
          <a:xfrm>
            <a:off x="6544866" y="4284166"/>
            <a:ext cx="708755" cy="708755"/>
          </a:xfrm>
          <a:custGeom>
            <a:avLst/>
            <a:gdLst/>
            <a:ahLst/>
            <a:cxnLst/>
            <a:rect l="l" t="t" r="r" b="b"/>
            <a:pathLst>
              <a:path w="945007" h="945007" extrusionOk="0">
                <a:moveTo>
                  <a:pt x="0" y="0"/>
                </a:moveTo>
                <a:lnTo>
                  <a:pt x="945007" y="0"/>
                </a:lnTo>
                <a:lnTo>
                  <a:pt x="945007" y="945007"/>
                </a:lnTo>
                <a:lnTo>
                  <a:pt x="0" y="945007"/>
                </a:lnTo>
                <a:lnTo>
                  <a:pt x="0" y="0"/>
                </a:lnTo>
                <a:close/>
              </a:path>
            </a:pathLst>
          </a:custGeom>
          <a:blipFill rotWithShape="1">
            <a:blip r:embed="rId4">
              <a:alphaModFix/>
            </a:blip>
            <a:stretch>
              <a:fillRect/>
            </a:stretch>
          </a:blipFill>
          <a:ln>
            <a:noFill/>
          </a:ln>
        </p:spPr>
      </p:sp>
      <p:sp>
        <p:nvSpPr>
          <p:cNvPr id="309" name="Google Shape;309;p25"/>
          <p:cNvSpPr txBox="1"/>
          <p:nvPr/>
        </p:nvSpPr>
        <p:spPr>
          <a:xfrm>
            <a:off x="6544866" y="5318671"/>
            <a:ext cx="35439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Facebook Sapienz</a:t>
            </a:r>
            <a:endParaRPr/>
          </a:p>
        </p:txBody>
      </p:sp>
      <p:sp>
        <p:nvSpPr>
          <p:cNvPr id="310" name="Google Shape;310;p25"/>
          <p:cNvSpPr txBox="1"/>
          <p:nvPr/>
        </p:nvSpPr>
        <p:spPr>
          <a:xfrm>
            <a:off x="6544866" y="5865019"/>
            <a:ext cx="5198400" cy="19098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An AI-powered tool that automatically finds bugs and generates tests to trigger crashes in mobile applications, detecting issues before production.</a:t>
            </a:r>
            <a:endParaRPr/>
          </a:p>
        </p:txBody>
      </p:sp>
      <p:sp>
        <p:nvSpPr>
          <p:cNvPr id="311" name="Google Shape;311;p25" descr="preencoded.png"/>
          <p:cNvSpPr/>
          <p:nvPr/>
        </p:nvSpPr>
        <p:spPr>
          <a:xfrm>
            <a:off x="12097494" y="4284166"/>
            <a:ext cx="708755" cy="708755"/>
          </a:xfrm>
          <a:custGeom>
            <a:avLst/>
            <a:gdLst/>
            <a:ahLst/>
            <a:cxnLst/>
            <a:rect l="l" t="t" r="r" b="b"/>
            <a:pathLst>
              <a:path w="945007" h="945007" extrusionOk="0">
                <a:moveTo>
                  <a:pt x="0" y="0"/>
                </a:moveTo>
                <a:lnTo>
                  <a:pt x="945007" y="0"/>
                </a:lnTo>
                <a:lnTo>
                  <a:pt x="945007" y="945007"/>
                </a:lnTo>
                <a:lnTo>
                  <a:pt x="0" y="945007"/>
                </a:lnTo>
                <a:lnTo>
                  <a:pt x="0" y="0"/>
                </a:lnTo>
                <a:close/>
              </a:path>
            </a:pathLst>
          </a:custGeom>
          <a:blipFill rotWithShape="1">
            <a:blip r:embed="rId5">
              <a:alphaModFix/>
            </a:blip>
            <a:stretch>
              <a:fillRect/>
            </a:stretch>
          </a:blipFill>
          <a:ln>
            <a:noFill/>
          </a:ln>
        </p:spPr>
      </p:sp>
      <p:sp>
        <p:nvSpPr>
          <p:cNvPr id="312" name="Google Shape;312;p25"/>
          <p:cNvSpPr txBox="1"/>
          <p:nvPr/>
        </p:nvSpPr>
        <p:spPr>
          <a:xfrm>
            <a:off x="12097494" y="5318671"/>
            <a:ext cx="35439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Google ClusterFuzz</a:t>
            </a:r>
            <a:endParaRPr/>
          </a:p>
        </p:txBody>
      </p:sp>
      <p:sp>
        <p:nvSpPr>
          <p:cNvPr id="313" name="Google Shape;313;p25"/>
          <p:cNvSpPr txBox="1"/>
          <p:nvPr/>
        </p:nvSpPr>
        <p:spPr>
          <a:xfrm>
            <a:off x="12097494" y="5865019"/>
            <a:ext cx="5198400" cy="19098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A large-scale, AI-powered fuzz testing platform using machine learning to intelligently find security vulnerabilities in software.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26"/>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ECECF3"/>
          </a:solidFill>
          <a:ln>
            <a:noFill/>
          </a:ln>
        </p:spPr>
      </p:sp>
      <p:sp>
        <p:nvSpPr>
          <p:cNvPr id="316" name="Google Shape;316;p26"/>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FFFFF">
              <a:alpha val="89800"/>
            </a:srgbClr>
          </a:solidFill>
          <a:ln>
            <a:noFill/>
          </a:ln>
        </p:spPr>
      </p:sp>
      <p:sp>
        <p:nvSpPr>
          <p:cNvPr id="317" name="Google Shape;317;p26"/>
          <p:cNvSpPr txBox="1"/>
          <p:nvPr/>
        </p:nvSpPr>
        <p:spPr>
          <a:xfrm>
            <a:off x="834627" y="557138"/>
            <a:ext cx="14863200" cy="914400"/>
          </a:xfrm>
          <a:prstGeom prst="rect">
            <a:avLst/>
          </a:prstGeom>
          <a:noFill/>
          <a:ln>
            <a:noFill/>
          </a:ln>
        </p:spPr>
        <p:txBody>
          <a:bodyPr spcFirstLastPara="1" wrap="square" lIns="0" tIns="0" rIns="0" bIns="0" anchor="t" anchorCtr="0">
            <a:spAutoFit/>
          </a:bodyPr>
          <a:lstStyle/>
          <a:p>
            <a:pPr marL="0" marR="0" lvl="0" indent="0" algn="l" rtl="0">
              <a:lnSpc>
                <a:spcPct val="124721"/>
              </a:lnSpc>
              <a:spcBef>
                <a:spcPts val="0"/>
              </a:spcBef>
              <a:spcAft>
                <a:spcPts val="0"/>
              </a:spcAft>
              <a:buNone/>
            </a:pPr>
            <a:r>
              <a:rPr lang="en-US" sz="5562" b="0" i="0" u="none" strike="noStrike" cap="none">
                <a:solidFill>
                  <a:srgbClr val="1B1B27"/>
                </a:solidFill>
                <a:latin typeface="Raleway"/>
                <a:ea typeface="Raleway"/>
                <a:cs typeface="Raleway"/>
                <a:sym typeface="Raleway"/>
              </a:rPr>
              <a:t>Measuring Success: Key Performance Metrics</a:t>
            </a:r>
            <a:endParaRPr/>
          </a:p>
        </p:txBody>
      </p:sp>
      <p:sp>
        <p:nvSpPr>
          <p:cNvPr id="318" name="Google Shape;318;p26"/>
          <p:cNvSpPr txBox="1"/>
          <p:nvPr/>
        </p:nvSpPr>
        <p:spPr>
          <a:xfrm>
            <a:off x="992237" y="2654053"/>
            <a:ext cx="16303500" cy="447000"/>
          </a:xfrm>
          <a:prstGeom prst="rect">
            <a:avLst/>
          </a:prstGeom>
          <a:noFill/>
          <a:ln>
            <a:noFill/>
          </a:ln>
        </p:spPr>
        <p:txBody>
          <a:bodyPr spcFirstLastPara="1" wrap="square" lIns="0" tIns="0" rIns="0" bIns="0" anchor="t" anchorCtr="0">
            <a:spAutoFit/>
          </a:bodyPr>
          <a:lstStyle/>
          <a:p>
            <a:pPr marL="0" marR="0" lvl="0" indent="0" algn="l" rtl="0">
              <a:lnSpc>
                <a:spcPct val="162877"/>
              </a:lnSpc>
              <a:spcBef>
                <a:spcPts val="0"/>
              </a:spcBef>
              <a:spcAft>
                <a:spcPts val="0"/>
              </a:spcAft>
              <a:buNone/>
            </a:pPr>
            <a:r>
              <a:rPr lang="en-US" sz="2287" b="0" i="0" u="none" strike="noStrike" cap="none">
                <a:solidFill>
                  <a:srgbClr val="3C3939"/>
                </a:solidFill>
                <a:latin typeface="Roboto"/>
                <a:ea typeface="Roboto"/>
                <a:cs typeface="Roboto"/>
                <a:sym typeface="Roboto"/>
              </a:rPr>
              <a:t>Quantifying the effectiveness of self-healing systems is crucial for demonstrating their value and guiding further development.</a:t>
            </a:r>
            <a:endParaRPr/>
          </a:p>
        </p:txBody>
      </p:sp>
      <p:grpSp>
        <p:nvGrpSpPr>
          <p:cNvPr id="319" name="Google Shape;319;p26"/>
          <p:cNvGrpSpPr/>
          <p:nvPr/>
        </p:nvGrpSpPr>
        <p:grpSpPr>
          <a:xfrm>
            <a:off x="987475" y="3668316"/>
            <a:ext cx="6797231" cy="363855"/>
            <a:chOff x="0" y="0"/>
            <a:chExt cx="9062974" cy="485140"/>
          </a:xfrm>
        </p:grpSpPr>
        <p:sp>
          <p:nvSpPr>
            <p:cNvPr id="320" name="Google Shape;320;p26"/>
            <p:cNvSpPr/>
            <p:nvPr/>
          </p:nvSpPr>
          <p:spPr>
            <a:xfrm>
              <a:off x="6350" y="6350"/>
              <a:ext cx="9050274" cy="472440"/>
            </a:xfrm>
            <a:custGeom>
              <a:avLst/>
              <a:gdLst/>
              <a:ahLst/>
              <a:cxnLst/>
              <a:rect l="l" t="t" r="r" b="b"/>
              <a:pathLst>
                <a:path w="9050274" h="472440" extrusionOk="0">
                  <a:moveTo>
                    <a:pt x="0" y="158750"/>
                  </a:moveTo>
                  <a:cubicBezTo>
                    <a:pt x="0" y="71120"/>
                    <a:pt x="72898" y="0"/>
                    <a:pt x="162814" y="0"/>
                  </a:cubicBezTo>
                  <a:lnTo>
                    <a:pt x="8887460" y="0"/>
                  </a:lnTo>
                  <a:cubicBezTo>
                    <a:pt x="8977376" y="0"/>
                    <a:pt x="9050274" y="71120"/>
                    <a:pt x="9050274" y="158750"/>
                  </a:cubicBezTo>
                  <a:lnTo>
                    <a:pt x="9050274" y="313690"/>
                  </a:lnTo>
                  <a:cubicBezTo>
                    <a:pt x="9050274" y="401320"/>
                    <a:pt x="8977376" y="472440"/>
                    <a:pt x="8887460" y="472440"/>
                  </a:cubicBezTo>
                  <a:lnTo>
                    <a:pt x="162814" y="472440"/>
                  </a:lnTo>
                  <a:cubicBezTo>
                    <a:pt x="72898" y="472440"/>
                    <a:pt x="0" y="401447"/>
                    <a:pt x="0" y="313690"/>
                  </a:cubicBezTo>
                  <a:close/>
                </a:path>
              </a:pathLst>
            </a:custGeom>
            <a:solidFill>
              <a:srgbClr val="E1E1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6"/>
            <p:cNvSpPr/>
            <p:nvPr/>
          </p:nvSpPr>
          <p:spPr>
            <a:xfrm>
              <a:off x="0" y="0"/>
              <a:ext cx="9062974" cy="485140"/>
            </a:xfrm>
            <a:custGeom>
              <a:avLst/>
              <a:gdLst/>
              <a:ahLst/>
              <a:cxnLst/>
              <a:rect l="l" t="t" r="r" b="b"/>
              <a:pathLst>
                <a:path w="9062974" h="485140" extrusionOk="0">
                  <a:moveTo>
                    <a:pt x="0" y="165100"/>
                  </a:moveTo>
                  <a:cubicBezTo>
                    <a:pt x="0" y="73787"/>
                    <a:pt x="75946" y="0"/>
                    <a:pt x="169164" y="0"/>
                  </a:cubicBezTo>
                  <a:lnTo>
                    <a:pt x="8893810" y="0"/>
                  </a:lnTo>
                  <a:lnTo>
                    <a:pt x="8893810" y="6350"/>
                  </a:lnTo>
                  <a:lnTo>
                    <a:pt x="8893810" y="0"/>
                  </a:lnTo>
                  <a:cubicBezTo>
                    <a:pt x="8987028" y="0"/>
                    <a:pt x="9062974" y="73787"/>
                    <a:pt x="9062974" y="165100"/>
                  </a:cubicBezTo>
                  <a:lnTo>
                    <a:pt x="9056624" y="165100"/>
                  </a:lnTo>
                  <a:lnTo>
                    <a:pt x="9062974" y="165100"/>
                  </a:lnTo>
                  <a:lnTo>
                    <a:pt x="9062974" y="320040"/>
                  </a:lnTo>
                  <a:lnTo>
                    <a:pt x="9056624" y="320040"/>
                  </a:lnTo>
                  <a:lnTo>
                    <a:pt x="9062974" y="320040"/>
                  </a:lnTo>
                  <a:cubicBezTo>
                    <a:pt x="9062974" y="411353"/>
                    <a:pt x="8987028" y="485140"/>
                    <a:pt x="8893810" y="485140"/>
                  </a:cubicBezTo>
                  <a:lnTo>
                    <a:pt x="8893810" y="478790"/>
                  </a:lnTo>
                  <a:lnTo>
                    <a:pt x="8893810" y="485140"/>
                  </a:lnTo>
                  <a:lnTo>
                    <a:pt x="169164" y="485140"/>
                  </a:lnTo>
                  <a:lnTo>
                    <a:pt x="169164" y="478790"/>
                  </a:lnTo>
                  <a:lnTo>
                    <a:pt x="169164" y="485140"/>
                  </a:lnTo>
                  <a:cubicBezTo>
                    <a:pt x="75946" y="485140"/>
                    <a:pt x="0" y="411353"/>
                    <a:pt x="0" y="320040"/>
                  </a:cubicBezTo>
                  <a:lnTo>
                    <a:pt x="0" y="165100"/>
                  </a:lnTo>
                  <a:lnTo>
                    <a:pt x="6350" y="165100"/>
                  </a:lnTo>
                  <a:lnTo>
                    <a:pt x="0" y="165100"/>
                  </a:lnTo>
                  <a:moveTo>
                    <a:pt x="12700" y="165100"/>
                  </a:moveTo>
                  <a:lnTo>
                    <a:pt x="12700" y="320040"/>
                  </a:lnTo>
                  <a:lnTo>
                    <a:pt x="6350" y="320040"/>
                  </a:lnTo>
                  <a:lnTo>
                    <a:pt x="12700" y="320040"/>
                  </a:lnTo>
                  <a:cubicBezTo>
                    <a:pt x="12700" y="404114"/>
                    <a:pt x="82550" y="472440"/>
                    <a:pt x="169164" y="472440"/>
                  </a:cubicBezTo>
                  <a:lnTo>
                    <a:pt x="8893810" y="472440"/>
                  </a:lnTo>
                  <a:cubicBezTo>
                    <a:pt x="8980424" y="472440"/>
                    <a:pt x="9050274" y="403987"/>
                    <a:pt x="9050274" y="320040"/>
                  </a:cubicBezTo>
                  <a:lnTo>
                    <a:pt x="9050274" y="165100"/>
                  </a:lnTo>
                  <a:cubicBezTo>
                    <a:pt x="9050274" y="81026"/>
                    <a:pt x="8980424" y="12700"/>
                    <a:pt x="8893810" y="12700"/>
                  </a:cubicBezTo>
                  <a:lnTo>
                    <a:pt x="169164" y="12700"/>
                  </a:lnTo>
                  <a:lnTo>
                    <a:pt x="169164" y="6350"/>
                  </a:lnTo>
                  <a:lnTo>
                    <a:pt x="169164" y="12700"/>
                  </a:lnTo>
                  <a:cubicBezTo>
                    <a:pt x="82550" y="12700"/>
                    <a:pt x="12700" y="81153"/>
                    <a:pt x="12700" y="165100"/>
                  </a:cubicBezTo>
                  <a:close/>
                </a:path>
              </a:pathLst>
            </a:custGeom>
            <a:solidFill>
              <a:srgbClr val="C7C7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2" name="Google Shape;322;p26"/>
          <p:cNvSpPr txBox="1"/>
          <p:nvPr/>
        </p:nvSpPr>
        <p:spPr>
          <a:xfrm>
            <a:off x="7992516" y="3711179"/>
            <a:ext cx="974100" cy="316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750" b="0" i="0" u="none" strike="noStrike" cap="none">
                <a:solidFill>
                  <a:srgbClr val="3C3939"/>
                </a:solidFill>
                <a:latin typeface="Raleway"/>
                <a:ea typeface="Raleway"/>
                <a:cs typeface="Raleway"/>
                <a:sym typeface="Raleway"/>
              </a:rPr>
              <a:t>MTTR</a:t>
            </a:r>
            <a:endParaRPr/>
          </a:p>
        </p:txBody>
      </p:sp>
      <p:sp>
        <p:nvSpPr>
          <p:cNvPr id="323" name="Google Shape;323;p26"/>
          <p:cNvSpPr txBox="1"/>
          <p:nvPr/>
        </p:nvSpPr>
        <p:spPr>
          <a:xfrm>
            <a:off x="992238" y="4353074"/>
            <a:ext cx="35439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Mean Time To Repair</a:t>
            </a:r>
            <a:endParaRPr/>
          </a:p>
        </p:txBody>
      </p:sp>
      <p:sp>
        <p:nvSpPr>
          <p:cNvPr id="324" name="Google Shape;324;p26"/>
          <p:cNvSpPr txBox="1"/>
          <p:nvPr/>
        </p:nvSpPr>
        <p:spPr>
          <a:xfrm>
            <a:off x="992238" y="4899422"/>
            <a:ext cx="7974600" cy="10026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Average time from failure detection to resolution; a primary goal for self-healing systems is to lower this metric.</a:t>
            </a:r>
            <a:endParaRPr/>
          </a:p>
        </p:txBody>
      </p:sp>
      <p:sp>
        <p:nvSpPr>
          <p:cNvPr id="325" name="Google Shape;325;p26"/>
          <p:cNvSpPr/>
          <p:nvPr/>
        </p:nvSpPr>
        <p:spPr>
          <a:xfrm>
            <a:off x="9321105" y="3673079"/>
            <a:ext cx="6376225" cy="354330"/>
          </a:xfrm>
          <a:custGeom>
            <a:avLst/>
            <a:gdLst/>
            <a:ahLst/>
            <a:cxnLst/>
            <a:rect l="l" t="t" r="r" b="b"/>
            <a:pathLst>
              <a:path w="8501634" h="472440" extrusionOk="0">
                <a:moveTo>
                  <a:pt x="0" y="158750"/>
                </a:moveTo>
                <a:cubicBezTo>
                  <a:pt x="0" y="71120"/>
                  <a:pt x="71120" y="0"/>
                  <a:pt x="158750" y="0"/>
                </a:cubicBezTo>
                <a:lnTo>
                  <a:pt x="8342884" y="0"/>
                </a:lnTo>
                <a:cubicBezTo>
                  <a:pt x="8430514" y="0"/>
                  <a:pt x="8501634" y="71120"/>
                  <a:pt x="8501634" y="158750"/>
                </a:cubicBezTo>
                <a:lnTo>
                  <a:pt x="8501634" y="313690"/>
                </a:lnTo>
                <a:cubicBezTo>
                  <a:pt x="8501634" y="401320"/>
                  <a:pt x="8430514" y="472440"/>
                  <a:pt x="8342884" y="472440"/>
                </a:cubicBezTo>
                <a:lnTo>
                  <a:pt x="158750" y="472440"/>
                </a:lnTo>
                <a:cubicBezTo>
                  <a:pt x="71120" y="472440"/>
                  <a:pt x="0" y="401447"/>
                  <a:pt x="0" y="313690"/>
                </a:cubicBezTo>
                <a:close/>
              </a:path>
            </a:pathLst>
          </a:cu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6"/>
          <p:cNvSpPr txBox="1"/>
          <p:nvPr/>
        </p:nvSpPr>
        <p:spPr>
          <a:xfrm>
            <a:off x="16618446" y="3711179"/>
            <a:ext cx="677400" cy="316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750" b="0" i="0" u="none" strike="noStrike" cap="none">
                <a:solidFill>
                  <a:srgbClr val="3C3939"/>
                </a:solidFill>
                <a:latin typeface="Raleway"/>
                <a:ea typeface="Raleway"/>
                <a:cs typeface="Raleway"/>
                <a:sym typeface="Raleway"/>
              </a:rPr>
              <a:t>90%</a:t>
            </a:r>
            <a:endParaRPr/>
          </a:p>
        </p:txBody>
      </p:sp>
      <p:sp>
        <p:nvSpPr>
          <p:cNvPr id="327" name="Google Shape;327;p26"/>
          <p:cNvSpPr txBox="1"/>
          <p:nvPr/>
        </p:nvSpPr>
        <p:spPr>
          <a:xfrm>
            <a:off x="9321105" y="4353074"/>
            <a:ext cx="35439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Repair Success Rate</a:t>
            </a:r>
            <a:endParaRPr/>
          </a:p>
        </p:txBody>
      </p:sp>
      <p:sp>
        <p:nvSpPr>
          <p:cNvPr id="328" name="Google Shape;328;p26"/>
          <p:cNvSpPr txBox="1"/>
          <p:nvPr/>
        </p:nvSpPr>
        <p:spPr>
          <a:xfrm>
            <a:off x="9321105" y="4899422"/>
            <a:ext cx="7974600" cy="10026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The percentage of automated fixes that correctly resolve an issue without introducing new regressions.</a:t>
            </a:r>
            <a:endParaRPr/>
          </a:p>
        </p:txBody>
      </p:sp>
      <p:grpSp>
        <p:nvGrpSpPr>
          <p:cNvPr id="329" name="Google Shape;329;p26"/>
          <p:cNvGrpSpPr/>
          <p:nvPr/>
        </p:nvGrpSpPr>
        <p:grpSpPr>
          <a:xfrm>
            <a:off x="987475" y="6747570"/>
            <a:ext cx="6370605" cy="363855"/>
            <a:chOff x="0" y="0"/>
            <a:chExt cx="8494141" cy="485140"/>
          </a:xfrm>
        </p:grpSpPr>
        <p:sp>
          <p:nvSpPr>
            <p:cNvPr id="330" name="Google Shape;330;p26"/>
            <p:cNvSpPr/>
            <p:nvPr/>
          </p:nvSpPr>
          <p:spPr>
            <a:xfrm>
              <a:off x="6350" y="6350"/>
              <a:ext cx="8481441" cy="472440"/>
            </a:xfrm>
            <a:custGeom>
              <a:avLst/>
              <a:gdLst/>
              <a:ahLst/>
              <a:cxnLst/>
              <a:rect l="l" t="t" r="r" b="b"/>
              <a:pathLst>
                <a:path w="8481441" h="472440" extrusionOk="0">
                  <a:moveTo>
                    <a:pt x="0" y="158750"/>
                  </a:moveTo>
                  <a:cubicBezTo>
                    <a:pt x="0" y="71120"/>
                    <a:pt x="72898" y="0"/>
                    <a:pt x="162814" y="0"/>
                  </a:cubicBezTo>
                  <a:lnTo>
                    <a:pt x="8318627" y="0"/>
                  </a:lnTo>
                  <a:cubicBezTo>
                    <a:pt x="8408543" y="0"/>
                    <a:pt x="8481441" y="71120"/>
                    <a:pt x="8481441" y="158750"/>
                  </a:cubicBezTo>
                  <a:lnTo>
                    <a:pt x="8481441" y="313690"/>
                  </a:lnTo>
                  <a:cubicBezTo>
                    <a:pt x="8481441" y="401320"/>
                    <a:pt x="8408543" y="472440"/>
                    <a:pt x="8318627" y="472440"/>
                  </a:cubicBezTo>
                  <a:lnTo>
                    <a:pt x="162814" y="472440"/>
                  </a:lnTo>
                  <a:cubicBezTo>
                    <a:pt x="72898" y="472440"/>
                    <a:pt x="0" y="401447"/>
                    <a:pt x="0" y="313690"/>
                  </a:cubicBezTo>
                  <a:close/>
                </a:path>
              </a:pathLst>
            </a:custGeom>
            <a:solidFill>
              <a:srgbClr val="E1E1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6"/>
            <p:cNvSpPr/>
            <p:nvPr/>
          </p:nvSpPr>
          <p:spPr>
            <a:xfrm>
              <a:off x="0" y="0"/>
              <a:ext cx="8494141" cy="485140"/>
            </a:xfrm>
            <a:custGeom>
              <a:avLst/>
              <a:gdLst/>
              <a:ahLst/>
              <a:cxnLst/>
              <a:rect l="l" t="t" r="r" b="b"/>
              <a:pathLst>
                <a:path w="8494141" h="485140" extrusionOk="0">
                  <a:moveTo>
                    <a:pt x="0" y="165100"/>
                  </a:moveTo>
                  <a:cubicBezTo>
                    <a:pt x="0" y="73787"/>
                    <a:pt x="75946" y="0"/>
                    <a:pt x="169164" y="0"/>
                  </a:cubicBezTo>
                  <a:lnTo>
                    <a:pt x="8324977" y="0"/>
                  </a:lnTo>
                  <a:lnTo>
                    <a:pt x="8324977" y="6350"/>
                  </a:lnTo>
                  <a:lnTo>
                    <a:pt x="8324977" y="0"/>
                  </a:lnTo>
                  <a:cubicBezTo>
                    <a:pt x="8418195" y="0"/>
                    <a:pt x="8494141" y="73787"/>
                    <a:pt x="8494141" y="165100"/>
                  </a:cubicBezTo>
                  <a:lnTo>
                    <a:pt x="8487791" y="165100"/>
                  </a:lnTo>
                  <a:lnTo>
                    <a:pt x="8494141" y="165100"/>
                  </a:lnTo>
                  <a:lnTo>
                    <a:pt x="8494141" y="320040"/>
                  </a:lnTo>
                  <a:lnTo>
                    <a:pt x="8487791" y="320040"/>
                  </a:lnTo>
                  <a:lnTo>
                    <a:pt x="8494141" y="320040"/>
                  </a:lnTo>
                  <a:cubicBezTo>
                    <a:pt x="8494141" y="411353"/>
                    <a:pt x="8418195" y="485140"/>
                    <a:pt x="8324977" y="485140"/>
                  </a:cubicBezTo>
                  <a:lnTo>
                    <a:pt x="8324977" y="478790"/>
                  </a:lnTo>
                  <a:lnTo>
                    <a:pt x="8324977" y="485140"/>
                  </a:lnTo>
                  <a:lnTo>
                    <a:pt x="169164" y="485140"/>
                  </a:lnTo>
                  <a:lnTo>
                    <a:pt x="169164" y="478790"/>
                  </a:lnTo>
                  <a:lnTo>
                    <a:pt x="169164" y="485140"/>
                  </a:lnTo>
                  <a:cubicBezTo>
                    <a:pt x="75946" y="485140"/>
                    <a:pt x="0" y="411353"/>
                    <a:pt x="0" y="320040"/>
                  </a:cubicBezTo>
                  <a:lnTo>
                    <a:pt x="0" y="165100"/>
                  </a:lnTo>
                  <a:lnTo>
                    <a:pt x="6350" y="165100"/>
                  </a:lnTo>
                  <a:lnTo>
                    <a:pt x="0" y="165100"/>
                  </a:lnTo>
                  <a:moveTo>
                    <a:pt x="12700" y="165100"/>
                  </a:moveTo>
                  <a:lnTo>
                    <a:pt x="12700" y="320040"/>
                  </a:lnTo>
                  <a:lnTo>
                    <a:pt x="6350" y="320040"/>
                  </a:lnTo>
                  <a:lnTo>
                    <a:pt x="12700" y="320040"/>
                  </a:lnTo>
                  <a:cubicBezTo>
                    <a:pt x="12700" y="404114"/>
                    <a:pt x="82550" y="472440"/>
                    <a:pt x="169164" y="472440"/>
                  </a:cubicBezTo>
                  <a:lnTo>
                    <a:pt x="8324977" y="472440"/>
                  </a:lnTo>
                  <a:cubicBezTo>
                    <a:pt x="8411591" y="472440"/>
                    <a:pt x="8481441" y="403987"/>
                    <a:pt x="8481441" y="320040"/>
                  </a:cubicBezTo>
                  <a:lnTo>
                    <a:pt x="8481441" y="165100"/>
                  </a:lnTo>
                  <a:cubicBezTo>
                    <a:pt x="8481441" y="81026"/>
                    <a:pt x="8411591" y="12700"/>
                    <a:pt x="8324977" y="12700"/>
                  </a:cubicBezTo>
                  <a:lnTo>
                    <a:pt x="169164" y="12700"/>
                  </a:lnTo>
                  <a:lnTo>
                    <a:pt x="169164" y="6350"/>
                  </a:lnTo>
                  <a:lnTo>
                    <a:pt x="169164" y="12700"/>
                  </a:lnTo>
                  <a:cubicBezTo>
                    <a:pt x="82550" y="12700"/>
                    <a:pt x="12700" y="81153"/>
                    <a:pt x="12700" y="165100"/>
                  </a:cubicBezTo>
                  <a:close/>
                </a:path>
              </a:pathLst>
            </a:custGeom>
            <a:solidFill>
              <a:srgbClr val="C7C7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2" name="Google Shape;332;p26"/>
          <p:cNvSpPr/>
          <p:nvPr/>
        </p:nvSpPr>
        <p:spPr>
          <a:xfrm>
            <a:off x="992238" y="6752332"/>
            <a:ext cx="63532" cy="354425"/>
          </a:xfrm>
          <a:custGeom>
            <a:avLst/>
            <a:gdLst/>
            <a:ahLst/>
            <a:cxnLst/>
            <a:rect l="l" t="t" r="r" b="b"/>
            <a:pathLst>
              <a:path w="84709" h="472567" extrusionOk="0">
                <a:moveTo>
                  <a:pt x="0" y="42418"/>
                </a:moveTo>
                <a:cubicBezTo>
                  <a:pt x="0" y="18923"/>
                  <a:pt x="18923" y="0"/>
                  <a:pt x="42418" y="0"/>
                </a:cubicBezTo>
                <a:cubicBezTo>
                  <a:pt x="65913" y="0"/>
                  <a:pt x="84709" y="18923"/>
                  <a:pt x="84709" y="42418"/>
                </a:cubicBezTo>
                <a:lnTo>
                  <a:pt x="84709" y="430149"/>
                </a:lnTo>
                <a:cubicBezTo>
                  <a:pt x="84709" y="453517"/>
                  <a:pt x="65786" y="472567"/>
                  <a:pt x="42291" y="472567"/>
                </a:cubicBezTo>
                <a:cubicBezTo>
                  <a:pt x="18796" y="472567"/>
                  <a:pt x="0" y="453517"/>
                  <a:pt x="0" y="430149"/>
                </a:cubicBezTo>
                <a:close/>
              </a:path>
            </a:pathLst>
          </a:cu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6"/>
          <p:cNvSpPr txBox="1"/>
          <p:nvPr/>
        </p:nvSpPr>
        <p:spPr>
          <a:xfrm>
            <a:off x="7565826" y="6790432"/>
            <a:ext cx="1401000" cy="316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750" b="0" i="0" u="none" strike="noStrike" cap="none">
                <a:solidFill>
                  <a:srgbClr val="3C3939"/>
                </a:solidFill>
                <a:latin typeface="Raleway"/>
                <a:ea typeface="Raleway"/>
                <a:cs typeface="Raleway"/>
                <a:sym typeface="Raleway"/>
              </a:rPr>
              <a:t>F1-score</a:t>
            </a:r>
            <a:endParaRPr/>
          </a:p>
        </p:txBody>
      </p:sp>
      <p:sp>
        <p:nvSpPr>
          <p:cNvPr id="334" name="Google Shape;334;p26"/>
          <p:cNvSpPr txBox="1"/>
          <p:nvPr/>
        </p:nvSpPr>
        <p:spPr>
          <a:xfrm>
            <a:off x="992238" y="7432327"/>
            <a:ext cx="39573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Bug Detection Accuracy</a:t>
            </a:r>
            <a:endParaRPr/>
          </a:p>
        </p:txBody>
      </p:sp>
      <p:sp>
        <p:nvSpPr>
          <p:cNvPr id="335" name="Google Shape;335;p26"/>
          <p:cNvSpPr txBox="1"/>
          <p:nvPr/>
        </p:nvSpPr>
        <p:spPr>
          <a:xfrm>
            <a:off x="992238" y="7978676"/>
            <a:ext cx="7974600" cy="10026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The F1-score (balancing precision and recall) of the system in identifying genuine faults while minimizing false positives.</a:t>
            </a:r>
            <a:endParaRPr/>
          </a:p>
        </p:txBody>
      </p:sp>
      <p:grpSp>
        <p:nvGrpSpPr>
          <p:cNvPr id="336" name="Google Shape;336;p26"/>
          <p:cNvGrpSpPr/>
          <p:nvPr/>
        </p:nvGrpSpPr>
        <p:grpSpPr>
          <a:xfrm>
            <a:off x="9316342" y="6747570"/>
            <a:ext cx="6796373" cy="363855"/>
            <a:chOff x="0" y="0"/>
            <a:chExt cx="9061831" cy="485140"/>
          </a:xfrm>
        </p:grpSpPr>
        <p:sp>
          <p:nvSpPr>
            <p:cNvPr id="337" name="Google Shape;337;p26"/>
            <p:cNvSpPr/>
            <p:nvPr/>
          </p:nvSpPr>
          <p:spPr>
            <a:xfrm>
              <a:off x="6350" y="6350"/>
              <a:ext cx="9049131" cy="472440"/>
            </a:xfrm>
            <a:custGeom>
              <a:avLst/>
              <a:gdLst/>
              <a:ahLst/>
              <a:cxnLst/>
              <a:rect l="l" t="t" r="r" b="b"/>
              <a:pathLst>
                <a:path w="9049131" h="472440" extrusionOk="0">
                  <a:moveTo>
                    <a:pt x="0" y="158750"/>
                  </a:moveTo>
                  <a:cubicBezTo>
                    <a:pt x="0" y="71120"/>
                    <a:pt x="72898" y="0"/>
                    <a:pt x="162814" y="0"/>
                  </a:cubicBezTo>
                  <a:lnTo>
                    <a:pt x="8886317" y="0"/>
                  </a:lnTo>
                  <a:cubicBezTo>
                    <a:pt x="8976233" y="0"/>
                    <a:pt x="9049131" y="71120"/>
                    <a:pt x="9049131" y="158750"/>
                  </a:cubicBezTo>
                  <a:lnTo>
                    <a:pt x="9049131" y="313690"/>
                  </a:lnTo>
                  <a:cubicBezTo>
                    <a:pt x="9049131" y="401320"/>
                    <a:pt x="8976233" y="472440"/>
                    <a:pt x="8886317" y="472440"/>
                  </a:cubicBezTo>
                  <a:lnTo>
                    <a:pt x="162814" y="472440"/>
                  </a:lnTo>
                  <a:cubicBezTo>
                    <a:pt x="72898" y="472440"/>
                    <a:pt x="0" y="401447"/>
                    <a:pt x="0" y="313690"/>
                  </a:cubicBezTo>
                  <a:close/>
                </a:path>
              </a:pathLst>
            </a:custGeom>
            <a:solidFill>
              <a:srgbClr val="E1E1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6"/>
            <p:cNvSpPr/>
            <p:nvPr/>
          </p:nvSpPr>
          <p:spPr>
            <a:xfrm>
              <a:off x="0" y="0"/>
              <a:ext cx="9061831" cy="485140"/>
            </a:xfrm>
            <a:custGeom>
              <a:avLst/>
              <a:gdLst/>
              <a:ahLst/>
              <a:cxnLst/>
              <a:rect l="l" t="t" r="r" b="b"/>
              <a:pathLst>
                <a:path w="9061831" h="485140" extrusionOk="0">
                  <a:moveTo>
                    <a:pt x="0" y="165100"/>
                  </a:moveTo>
                  <a:cubicBezTo>
                    <a:pt x="0" y="73787"/>
                    <a:pt x="75946" y="0"/>
                    <a:pt x="169164" y="0"/>
                  </a:cubicBezTo>
                  <a:lnTo>
                    <a:pt x="8892667" y="0"/>
                  </a:lnTo>
                  <a:lnTo>
                    <a:pt x="8892667" y="6350"/>
                  </a:lnTo>
                  <a:lnTo>
                    <a:pt x="8892667" y="0"/>
                  </a:lnTo>
                  <a:cubicBezTo>
                    <a:pt x="8985886" y="0"/>
                    <a:pt x="9061831" y="73787"/>
                    <a:pt x="9061831" y="165100"/>
                  </a:cubicBezTo>
                  <a:lnTo>
                    <a:pt x="9055481" y="165100"/>
                  </a:lnTo>
                  <a:lnTo>
                    <a:pt x="9061831" y="165100"/>
                  </a:lnTo>
                  <a:lnTo>
                    <a:pt x="9061831" y="320040"/>
                  </a:lnTo>
                  <a:lnTo>
                    <a:pt x="9055481" y="320040"/>
                  </a:lnTo>
                  <a:lnTo>
                    <a:pt x="9061831" y="320040"/>
                  </a:lnTo>
                  <a:cubicBezTo>
                    <a:pt x="9061831" y="411353"/>
                    <a:pt x="8985886" y="485140"/>
                    <a:pt x="8892667" y="485140"/>
                  </a:cubicBezTo>
                  <a:lnTo>
                    <a:pt x="8892667" y="478790"/>
                  </a:lnTo>
                  <a:lnTo>
                    <a:pt x="8892667" y="485140"/>
                  </a:lnTo>
                  <a:lnTo>
                    <a:pt x="169164" y="485140"/>
                  </a:lnTo>
                  <a:lnTo>
                    <a:pt x="169164" y="478790"/>
                  </a:lnTo>
                  <a:lnTo>
                    <a:pt x="169164" y="485140"/>
                  </a:lnTo>
                  <a:cubicBezTo>
                    <a:pt x="75946" y="485140"/>
                    <a:pt x="0" y="411353"/>
                    <a:pt x="0" y="320040"/>
                  </a:cubicBezTo>
                  <a:lnTo>
                    <a:pt x="0" y="165100"/>
                  </a:lnTo>
                  <a:lnTo>
                    <a:pt x="6350" y="165100"/>
                  </a:lnTo>
                  <a:lnTo>
                    <a:pt x="0" y="165100"/>
                  </a:lnTo>
                  <a:moveTo>
                    <a:pt x="12700" y="165100"/>
                  </a:moveTo>
                  <a:lnTo>
                    <a:pt x="12700" y="320040"/>
                  </a:lnTo>
                  <a:lnTo>
                    <a:pt x="6350" y="320040"/>
                  </a:lnTo>
                  <a:lnTo>
                    <a:pt x="12700" y="320040"/>
                  </a:lnTo>
                  <a:cubicBezTo>
                    <a:pt x="12700" y="404114"/>
                    <a:pt x="82550" y="472440"/>
                    <a:pt x="169164" y="472440"/>
                  </a:cubicBezTo>
                  <a:lnTo>
                    <a:pt x="8892667" y="472440"/>
                  </a:lnTo>
                  <a:cubicBezTo>
                    <a:pt x="8979281" y="472440"/>
                    <a:pt x="9049131" y="403987"/>
                    <a:pt x="9049131" y="320040"/>
                  </a:cubicBezTo>
                  <a:lnTo>
                    <a:pt x="9049131" y="165100"/>
                  </a:lnTo>
                  <a:cubicBezTo>
                    <a:pt x="9049131" y="81026"/>
                    <a:pt x="8979281" y="12700"/>
                    <a:pt x="8892667" y="12700"/>
                  </a:cubicBezTo>
                  <a:lnTo>
                    <a:pt x="169164" y="12700"/>
                  </a:lnTo>
                  <a:lnTo>
                    <a:pt x="169164" y="6350"/>
                  </a:lnTo>
                  <a:lnTo>
                    <a:pt x="169164" y="12700"/>
                  </a:lnTo>
                  <a:cubicBezTo>
                    <a:pt x="82550" y="12700"/>
                    <a:pt x="12700" y="81153"/>
                    <a:pt x="12700" y="165100"/>
                  </a:cubicBezTo>
                  <a:close/>
                </a:path>
              </a:pathLst>
            </a:custGeom>
            <a:solidFill>
              <a:srgbClr val="C7C7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9" name="Google Shape;339;p26"/>
          <p:cNvSpPr txBox="1"/>
          <p:nvPr/>
        </p:nvSpPr>
        <p:spPr>
          <a:xfrm>
            <a:off x="16320492" y="6790432"/>
            <a:ext cx="975300" cy="316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750" b="0" i="0" u="none" strike="noStrike" cap="none">
                <a:solidFill>
                  <a:srgbClr val="3C3939"/>
                </a:solidFill>
                <a:latin typeface="Raleway"/>
                <a:ea typeface="Raleway"/>
                <a:cs typeface="Raleway"/>
                <a:sym typeface="Raleway"/>
              </a:rPr>
              <a:t>Hours</a:t>
            </a:r>
            <a:endParaRPr/>
          </a:p>
        </p:txBody>
      </p:sp>
      <p:sp>
        <p:nvSpPr>
          <p:cNvPr id="340" name="Google Shape;340;p26"/>
          <p:cNvSpPr txBox="1"/>
          <p:nvPr/>
        </p:nvSpPr>
        <p:spPr>
          <a:xfrm>
            <a:off x="9321105" y="7432327"/>
            <a:ext cx="37839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Developer Effort Saved</a:t>
            </a:r>
            <a:endParaRPr/>
          </a:p>
        </p:txBody>
      </p:sp>
      <p:sp>
        <p:nvSpPr>
          <p:cNvPr id="341" name="Google Shape;341;p26"/>
          <p:cNvSpPr txBox="1"/>
          <p:nvPr/>
        </p:nvSpPr>
        <p:spPr>
          <a:xfrm>
            <a:off x="9321105" y="7978676"/>
            <a:ext cx="7974600" cy="10026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The quantifiable reduction in manual hours developers spend on debugging and repetitive maintenance tasks.</a:t>
            </a:r>
            <a:endParaRPr/>
          </a:p>
        </p:txBody>
      </p:sp>
      <p:grpSp>
        <p:nvGrpSpPr>
          <p:cNvPr id="342" name="Google Shape;342;p26"/>
          <p:cNvGrpSpPr/>
          <p:nvPr/>
        </p:nvGrpSpPr>
        <p:grpSpPr>
          <a:xfrm>
            <a:off x="9315449" y="3673079"/>
            <a:ext cx="6797231" cy="363855"/>
            <a:chOff x="0" y="0"/>
            <a:chExt cx="9062974" cy="485140"/>
          </a:xfrm>
        </p:grpSpPr>
        <p:sp>
          <p:nvSpPr>
            <p:cNvPr id="343" name="Google Shape;343;p26"/>
            <p:cNvSpPr/>
            <p:nvPr/>
          </p:nvSpPr>
          <p:spPr>
            <a:xfrm>
              <a:off x="6350" y="6350"/>
              <a:ext cx="9050274" cy="472440"/>
            </a:xfrm>
            <a:custGeom>
              <a:avLst/>
              <a:gdLst/>
              <a:ahLst/>
              <a:cxnLst/>
              <a:rect l="l" t="t" r="r" b="b"/>
              <a:pathLst>
                <a:path w="9050274" h="472440" extrusionOk="0">
                  <a:moveTo>
                    <a:pt x="0" y="158750"/>
                  </a:moveTo>
                  <a:cubicBezTo>
                    <a:pt x="0" y="71120"/>
                    <a:pt x="72898" y="0"/>
                    <a:pt x="162814" y="0"/>
                  </a:cubicBezTo>
                  <a:lnTo>
                    <a:pt x="8887460" y="0"/>
                  </a:lnTo>
                  <a:cubicBezTo>
                    <a:pt x="8977376" y="0"/>
                    <a:pt x="9050274" y="71120"/>
                    <a:pt x="9050274" y="158750"/>
                  </a:cubicBezTo>
                  <a:lnTo>
                    <a:pt x="9050274" y="313690"/>
                  </a:lnTo>
                  <a:cubicBezTo>
                    <a:pt x="9050274" y="401320"/>
                    <a:pt x="8977376" y="472440"/>
                    <a:pt x="8887460" y="472440"/>
                  </a:cubicBezTo>
                  <a:lnTo>
                    <a:pt x="162814" y="472440"/>
                  </a:lnTo>
                  <a:cubicBezTo>
                    <a:pt x="72898" y="472440"/>
                    <a:pt x="0" y="401447"/>
                    <a:pt x="0" y="313690"/>
                  </a:cubicBezTo>
                  <a:close/>
                </a:path>
              </a:pathLst>
            </a:custGeom>
            <a:solidFill>
              <a:srgbClr val="E1E1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6"/>
            <p:cNvSpPr/>
            <p:nvPr/>
          </p:nvSpPr>
          <p:spPr>
            <a:xfrm>
              <a:off x="0" y="0"/>
              <a:ext cx="9062974" cy="485140"/>
            </a:xfrm>
            <a:custGeom>
              <a:avLst/>
              <a:gdLst/>
              <a:ahLst/>
              <a:cxnLst/>
              <a:rect l="l" t="t" r="r" b="b"/>
              <a:pathLst>
                <a:path w="9062974" h="485140" extrusionOk="0">
                  <a:moveTo>
                    <a:pt x="0" y="165100"/>
                  </a:moveTo>
                  <a:cubicBezTo>
                    <a:pt x="0" y="73787"/>
                    <a:pt x="75946" y="0"/>
                    <a:pt x="169164" y="0"/>
                  </a:cubicBezTo>
                  <a:lnTo>
                    <a:pt x="8893810" y="0"/>
                  </a:lnTo>
                  <a:lnTo>
                    <a:pt x="8893810" y="6350"/>
                  </a:lnTo>
                  <a:lnTo>
                    <a:pt x="8893810" y="0"/>
                  </a:lnTo>
                  <a:cubicBezTo>
                    <a:pt x="8987028" y="0"/>
                    <a:pt x="9062974" y="73787"/>
                    <a:pt x="9062974" y="165100"/>
                  </a:cubicBezTo>
                  <a:lnTo>
                    <a:pt x="9056624" y="165100"/>
                  </a:lnTo>
                  <a:lnTo>
                    <a:pt x="9062974" y="165100"/>
                  </a:lnTo>
                  <a:lnTo>
                    <a:pt x="9062974" y="320040"/>
                  </a:lnTo>
                  <a:lnTo>
                    <a:pt x="9056624" y="320040"/>
                  </a:lnTo>
                  <a:lnTo>
                    <a:pt x="9062974" y="320040"/>
                  </a:lnTo>
                  <a:cubicBezTo>
                    <a:pt x="9062974" y="411353"/>
                    <a:pt x="8987028" y="485140"/>
                    <a:pt x="8893810" y="485140"/>
                  </a:cubicBezTo>
                  <a:lnTo>
                    <a:pt x="8893810" y="478790"/>
                  </a:lnTo>
                  <a:lnTo>
                    <a:pt x="8893810" y="485140"/>
                  </a:lnTo>
                  <a:lnTo>
                    <a:pt x="169164" y="485140"/>
                  </a:lnTo>
                  <a:lnTo>
                    <a:pt x="169164" y="478790"/>
                  </a:lnTo>
                  <a:lnTo>
                    <a:pt x="169164" y="485140"/>
                  </a:lnTo>
                  <a:cubicBezTo>
                    <a:pt x="75946" y="485140"/>
                    <a:pt x="0" y="411353"/>
                    <a:pt x="0" y="320040"/>
                  </a:cubicBezTo>
                  <a:lnTo>
                    <a:pt x="0" y="165100"/>
                  </a:lnTo>
                  <a:lnTo>
                    <a:pt x="6350" y="165100"/>
                  </a:lnTo>
                  <a:lnTo>
                    <a:pt x="0" y="165100"/>
                  </a:lnTo>
                  <a:moveTo>
                    <a:pt x="12700" y="165100"/>
                  </a:moveTo>
                  <a:lnTo>
                    <a:pt x="12700" y="320040"/>
                  </a:lnTo>
                  <a:lnTo>
                    <a:pt x="6350" y="320040"/>
                  </a:lnTo>
                  <a:lnTo>
                    <a:pt x="12700" y="320040"/>
                  </a:lnTo>
                  <a:cubicBezTo>
                    <a:pt x="12700" y="404114"/>
                    <a:pt x="82550" y="472440"/>
                    <a:pt x="169164" y="472440"/>
                  </a:cubicBezTo>
                  <a:lnTo>
                    <a:pt x="8893810" y="472440"/>
                  </a:lnTo>
                  <a:cubicBezTo>
                    <a:pt x="8980424" y="472440"/>
                    <a:pt x="9050274" y="403987"/>
                    <a:pt x="9050274" y="320040"/>
                  </a:cubicBezTo>
                  <a:lnTo>
                    <a:pt x="9050274" y="165100"/>
                  </a:lnTo>
                  <a:cubicBezTo>
                    <a:pt x="9050274" y="81026"/>
                    <a:pt x="8980424" y="12700"/>
                    <a:pt x="8893810" y="12700"/>
                  </a:cubicBezTo>
                  <a:lnTo>
                    <a:pt x="169164" y="12700"/>
                  </a:lnTo>
                  <a:lnTo>
                    <a:pt x="169164" y="6350"/>
                  </a:lnTo>
                  <a:lnTo>
                    <a:pt x="169164" y="12700"/>
                  </a:lnTo>
                  <a:cubicBezTo>
                    <a:pt x="82550" y="12700"/>
                    <a:pt x="12700" y="81153"/>
                    <a:pt x="12700" y="165100"/>
                  </a:cubicBezTo>
                  <a:close/>
                </a:path>
              </a:pathLst>
            </a:custGeom>
            <a:solidFill>
              <a:srgbClr val="C7C7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27"/>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ECECF3"/>
          </a:solidFill>
          <a:ln>
            <a:noFill/>
          </a:ln>
        </p:spPr>
      </p:sp>
      <p:sp>
        <p:nvSpPr>
          <p:cNvPr id="347" name="Google Shape;347;p27"/>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FFFFF">
              <a:alpha val="89800"/>
            </a:srgbClr>
          </a:solidFill>
          <a:ln>
            <a:noFill/>
          </a:ln>
        </p:spPr>
      </p:sp>
      <p:sp>
        <p:nvSpPr>
          <p:cNvPr id="348" name="Google Shape;348;p27"/>
          <p:cNvSpPr txBox="1"/>
          <p:nvPr/>
        </p:nvSpPr>
        <p:spPr>
          <a:xfrm>
            <a:off x="992238" y="557138"/>
            <a:ext cx="14565600" cy="914400"/>
          </a:xfrm>
          <a:prstGeom prst="rect">
            <a:avLst/>
          </a:prstGeom>
          <a:noFill/>
          <a:ln>
            <a:noFill/>
          </a:ln>
        </p:spPr>
        <p:txBody>
          <a:bodyPr spcFirstLastPara="1" wrap="square" lIns="0" tIns="0" rIns="0" bIns="0" anchor="t" anchorCtr="0">
            <a:spAutoFit/>
          </a:bodyPr>
          <a:lstStyle/>
          <a:p>
            <a:pPr marL="0" marR="0" lvl="0" indent="0" algn="l" rtl="0">
              <a:lnSpc>
                <a:spcPct val="124721"/>
              </a:lnSpc>
              <a:spcBef>
                <a:spcPts val="0"/>
              </a:spcBef>
              <a:spcAft>
                <a:spcPts val="0"/>
              </a:spcAft>
              <a:buNone/>
            </a:pPr>
            <a:r>
              <a:rPr lang="en-US" sz="5562" b="0" i="0" u="none" strike="noStrike" cap="none">
                <a:solidFill>
                  <a:srgbClr val="1B1B27"/>
                </a:solidFill>
                <a:latin typeface="Raleway"/>
                <a:ea typeface="Raleway"/>
                <a:cs typeface="Raleway"/>
                <a:sym typeface="Raleway"/>
              </a:rPr>
              <a:t>Challenge 1: Technical &amp; Algorithmic Hurdles</a:t>
            </a:r>
            <a:endParaRPr/>
          </a:p>
        </p:txBody>
      </p:sp>
      <p:sp>
        <p:nvSpPr>
          <p:cNvPr id="349" name="Google Shape;349;p27"/>
          <p:cNvSpPr txBox="1"/>
          <p:nvPr/>
        </p:nvSpPr>
        <p:spPr>
          <a:xfrm>
            <a:off x="1028700" y="3104307"/>
            <a:ext cx="16303500" cy="447000"/>
          </a:xfrm>
          <a:prstGeom prst="rect">
            <a:avLst/>
          </a:prstGeom>
          <a:noFill/>
          <a:ln>
            <a:noFill/>
          </a:ln>
        </p:spPr>
        <p:txBody>
          <a:bodyPr spcFirstLastPara="1" wrap="square" lIns="0" tIns="0" rIns="0" bIns="0" anchor="t" anchorCtr="0">
            <a:spAutoFit/>
          </a:bodyPr>
          <a:lstStyle/>
          <a:p>
            <a:pPr marL="0" marR="0" lvl="0" indent="0" algn="l" rtl="0">
              <a:lnSpc>
                <a:spcPct val="162877"/>
              </a:lnSpc>
              <a:spcBef>
                <a:spcPts val="0"/>
              </a:spcBef>
              <a:spcAft>
                <a:spcPts val="0"/>
              </a:spcAft>
              <a:buNone/>
            </a:pPr>
            <a:r>
              <a:rPr lang="en-US" sz="2287" b="0" i="0" u="none" strike="noStrike" cap="none">
                <a:solidFill>
                  <a:srgbClr val="3C3939"/>
                </a:solidFill>
                <a:latin typeface="Roboto"/>
                <a:ea typeface="Roboto"/>
                <a:cs typeface="Roboto"/>
                <a:sym typeface="Roboto"/>
              </a:rPr>
              <a:t>Implementing AI-driven self-healing systems presents several complex technical and algorithmic challenges.</a:t>
            </a:r>
            <a:endParaRPr/>
          </a:p>
        </p:txBody>
      </p:sp>
      <p:sp>
        <p:nvSpPr>
          <p:cNvPr id="350" name="Google Shape;350;p27"/>
          <p:cNvSpPr/>
          <p:nvPr/>
        </p:nvSpPr>
        <p:spPr>
          <a:xfrm>
            <a:off x="973188" y="4480321"/>
            <a:ext cx="5283613" cy="3551777"/>
          </a:xfrm>
          <a:custGeom>
            <a:avLst/>
            <a:gdLst/>
            <a:ahLst/>
            <a:cxnLst/>
            <a:rect l="l" t="t" r="r" b="b"/>
            <a:pathLst>
              <a:path w="7044817" h="4735703" extrusionOk="0">
                <a:moveTo>
                  <a:pt x="0" y="184150"/>
                </a:moveTo>
                <a:cubicBezTo>
                  <a:pt x="0" y="82423"/>
                  <a:pt x="82804" y="0"/>
                  <a:pt x="184785" y="0"/>
                </a:cubicBezTo>
                <a:lnTo>
                  <a:pt x="6860032" y="0"/>
                </a:lnTo>
                <a:lnTo>
                  <a:pt x="6860032" y="25400"/>
                </a:lnTo>
                <a:lnTo>
                  <a:pt x="6860032" y="0"/>
                </a:lnTo>
                <a:cubicBezTo>
                  <a:pt x="6962013" y="0"/>
                  <a:pt x="7044817" y="82423"/>
                  <a:pt x="7044817" y="184150"/>
                </a:cubicBezTo>
                <a:lnTo>
                  <a:pt x="7019417" y="184150"/>
                </a:lnTo>
                <a:lnTo>
                  <a:pt x="7044817" y="184150"/>
                </a:lnTo>
                <a:lnTo>
                  <a:pt x="7044817" y="4551553"/>
                </a:lnTo>
                <a:lnTo>
                  <a:pt x="7019417" y="4551553"/>
                </a:lnTo>
                <a:lnTo>
                  <a:pt x="7044817" y="4551553"/>
                </a:lnTo>
                <a:cubicBezTo>
                  <a:pt x="7044817" y="4653407"/>
                  <a:pt x="6962013" y="4735703"/>
                  <a:pt x="6860032" y="4735703"/>
                </a:cubicBezTo>
                <a:lnTo>
                  <a:pt x="6860032" y="4710303"/>
                </a:lnTo>
                <a:lnTo>
                  <a:pt x="6860032" y="4735703"/>
                </a:lnTo>
                <a:lnTo>
                  <a:pt x="184785" y="4735703"/>
                </a:lnTo>
                <a:lnTo>
                  <a:pt x="184785" y="4710303"/>
                </a:lnTo>
                <a:lnTo>
                  <a:pt x="184785" y="4735703"/>
                </a:lnTo>
                <a:cubicBezTo>
                  <a:pt x="82804" y="4735703"/>
                  <a:pt x="0" y="4653280"/>
                  <a:pt x="0" y="4551553"/>
                </a:cubicBezTo>
                <a:lnTo>
                  <a:pt x="0" y="184150"/>
                </a:lnTo>
                <a:lnTo>
                  <a:pt x="25400" y="184150"/>
                </a:lnTo>
                <a:lnTo>
                  <a:pt x="0" y="184150"/>
                </a:lnTo>
                <a:moveTo>
                  <a:pt x="50800" y="184150"/>
                </a:moveTo>
                <a:lnTo>
                  <a:pt x="50800" y="4551553"/>
                </a:lnTo>
                <a:lnTo>
                  <a:pt x="25400" y="4551553"/>
                </a:lnTo>
                <a:lnTo>
                  <a:pt x="50800" y="4551553"/>
                </a:lnTo>
                <a:cubicBezTo>
                  <a:pt x="50800" y="4625086"/>
                  <a:pt x="110617" y="4684903"/>
                  <a:pt x="184785" y="4684903"/>
                </a:cubicBezTo>
                <a:lnTo>
                  <a:pt x="6860032" y="4684903"/>
                </a:lnTo>
                <a:cubicBezTo>
                  <a:pt x="6934073" y="4684903"/>
                  <a:pt x="6994017" y="4625086"/>
                  <a:pt x="6994017" y="4551553"/>
                </a:cubicBezTo>
                <a:lnTo>
                  <a:pt x="6994017" y="184150"/>
                </a:lnTo>
                <a:cubicBezTo>
                  <a:pt x="6994017" y="110617"/>
                  <a:pt x="6934200" y="50800"/>
                  <a:pt x="6860032" y="50800"/>
                </a:cubicBezTo>
                <a:lnTo>
                  <a:pt x="184785" y="50800"/>
                </a:lnTo>
                <a:lnTo>
                  <a:pt x="184785" y="25400"/>
                </a:lnTo>
                <a:lnTo>
                  <a:pt x="184785" y="50800"/>
                </a:lnTo>
                <a:cubicBezTo>
                  <a:pt x="110617" y="50800"/>
                  <a:pt x="50800" y="110617"/>
                  <a:pt x="50800" y="184150"/>
                </a:cubicBezTo>
                <a:close/>
              </a:path>
            </a:pathLst>
          </a:custGeom>
          <a:solidFill>
            <a:srgbClr val="C7C7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7"/>
          <p:cNvSpPr txBox="1"/>
          <p:nvPr/>
        </p:nvSpPr>
        <p:spPr>
          <a:xfrm>
            <a:off x="1313855" y="4792415"/>
            <a:ext cx="4602300" cy="9144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AI Hallucinations &amp; Wrong Patches</a:t>
            </a:r>
            <a:endParaRPr/>
          </a:p>
        </p:txBody>
      </p:sp>
      <p:sp>
        <p:nvSpPr>
          <p:cNvPr id="352" name="Google Shape;352;p27"/>
          <p:cNvSpPr txBox="1"/>
          <p:nvPr/>
        </p:nvSpPr>
        <p:spPr>
          <a:xfrm>
            <a:off x="1313855" y="5781675"/>
            <a:ext cx="4602300" cy="19098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LLMs can generate plausible but incorrect or harmful code, necessitating robust verification and sandboxing.</a:t>
            </a:r>
            <a:endParaRPr/>
          </a:p>
        </p:txBody>
      </p:sp>
      <p:sp>
        <p:nvSpPr>
          <p:cNvPr id="353" name="Google Shape;353;p27"/>
          <p:cNvSpPr/>
          <p:nvPr/>
        </p:nvSpPr>
        <p:spPr>
          <a:xfrm>
            <a:off x="6502152" y="4480321"/>
            <a:ext cx="5283613" cy="3551777"/>
          </a:xfrm>
          <a:custGeom>
            <a:avLst/>
            <a:gdLst/>
            <a:ahLst/>
            <a:cxnLst/>
            <a:rect l="l" t="t" r="r" b="b"/>
            <a:pathLst>
              <a:path w="7044817" h="4735703" extrusionOk="0">
                <a:moveTo>
                  <a:pt x="0" y="184150"/>
                </a:moveTo>
                <a:cubicBezTo>
                  <a:pt x="0" y="82423"/>
                  <a:pt x="82804" y="0"/>
                  <a:pt x="184785" y="0"/>
                </a:cubicBezTo>
                <a:lnTo>
                  <a:pt x="6860032" y="0"/>
                </a:lnTo>
                <a:lnTo>
                  <a:pt x="6860032" y="25400"/>
                </a:lnTo>
                <a:lnTo>
                  <a:pt x="6860032" y="0"/>
                </a:lnTo>
                <a:cubicBezTo>
                  <a:pt x="6962013" y="0"/>
                  <a:pt x="7044817" y="82423"/>
                  <a:pt x="7044817" y="184150"/>
                </a:cubicBezTo>
                <a:lnTo>
                  <a:pt x="7019417" y="184150"/>
                </a:lnTo>
                <a:lnTo>
                  <a:pt x="7044817" y="184150"/>
                </a:lnTo>
                <a:lnTo>
                  <a:pt x="7044817" y="4551553"/>
                </a:lnTo>
                <a:lnTo>
                  <a:pt x="7019417" y="4551553"/>
                </a:lnTo>
                <a:lnTo>
                  <a:pt x="7044817" y="4551553"/>
                </a:lnTo>
                <a:cubicBezTo>
                  <a:pt x="7044817" y="4653407"/>
                  <a:pt x="6962013" y="4735703"/>
                  <a:pt x="6860032" y="4735703"/>
                </a:cubicBezTo>
                <a:lnTo>
                  <a:pt x="6860032" y="4710303"/>
                </a:lnTo>
                <a:lnTo>
                  <a:pt x="6860032" y="4735703"/>
                </a:lnTo>
                <a:lnTo>
                  <a:pt x="184785" y="4735703"/>
                </a:lnTo>
                <a:lnTo>
                  <a:pt x="184785" y="4710303"/>
                </a:lnTo>
                <a:lnTo>
                  <a:pt x="184785" y="4735703"/>
                </a:lnTo>
                <a:cubicBezTo>
                  <a:pt x="82804" y="4735703"/>
                  <a:pt x="0" y="4653280"/>
                  <a:pt x="0" y="4551553"/>
                </a:cubicBezTo>
                <a:lnTo>
                  <a:pt x="0" y="184150"/>
                </a:lnTo>
                <a:lnTo>
                  <a:pt x="25400" y="184150"/>
                </a:lnTo>
                <a:lnTo>
                  <a:pt x="0" y="184150"/>
                </a:lnTo>
                <a:moveTo>
                  <a:pt x="50800" y="184150"/>
                </a:moveTo>
                <a:lnTo>
                  <a:pt x="50800" y="4551553"/>
                </a:lnTo>
                <a:lnTo>
                  <a:pt x="25400" y="4551553"/>
                </a:lnTo>
                <a:lnTo>
                  <a:pt x="50800" y="4551553"/>
                </a:lnTo>
                <a:cubicBezTo>
                  <a:pt x="50800" y="4625086"/>
                  <a:pt x="110617" y="4684903"/>
                  <a:pt x="184785" y="4684903"/>
                </a:cubicBezTo>
                <a:lnTo>
                  <a:pt x="6860032" y="4684903"/>
                </a:lnTo>
                <a:cubicBezTo>
                  <a:pt x="6934073" y="4684903"/>
                  <a:pt x="6994017" y="4625086"/>
                  <a:pt x="6994017" y="4551553"/>
                </a:cubicBezTo>
                <a:lnTo>
                  <a:pt x="6994017" y="184150"/>
                </a:lnTo>
                <a:cubicBezTo>
                  <a:pt x="6994017" y="110617"/>
                  <a:pt x="6934200" y="50800"/>
                  <a:pt x="6860032" y="50800"/>
                </a:cubicBezTo>
                <a:lnTo>
                  <a:pt x="184785" y="50800"/>
                </a:lnTo>
                <a:lnTo>
                  <a:pt x="184785" y="25400"/>
                </a:lnTo>
                <a:lnTo>
                  <a:pt x="184785" y="50800"/>
                </a:lnTo>
                <a:cubicBezTo>
                  <a:pt x="110617" y="50800"/>
                  <a:pt x="50800" y="110617"/>
                  <a:pt x="50800" y="184150"/>
                </a:cubicBezTo>
                <a:close/>
              </a:path>
            </a:pathLst>
          </a:custGeom>
          <a:solidFill>
            <a:srgbClr val="C7C7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7"/>
          <p:cNvSpPr txBox="1"/>
          <p:nvPr/>
        </p:nvSpPr>
        <p:spPr>
          <a:xfrm>
            <a:off x="6842820" y="4792415"/>
            <a:ext cx="4602300" cy="9144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Lack of Semantic Understanding</a:t>
            </a:r>
            <a:endParaRPr/>
          </a:p>
        </p:txBody>
      </p:sp>
      <p:sp>
        <p:nvSpPr>
          <p:cNvPr id="355" name="Google Shape;355;p27"/>
          <p:cNvSpPr txBox="1"/>
          <p:nvPr/>
        </p:nvSpPr>
        <p:spPr>
          <a:xfrm>
            <a:off x="6842820" y="5781675"/>
            <a:ext cx="4602300" cy="19098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AI models often struggle with complex, domain-specific business logic, leading to lower success rates for semantic bugs.</a:t>
            </a:r>
            <a:endParaRPr/>
          </a:p>
        </p:txBody>
      </p:sp>
      <p:sp>
        <p:nvSpPr>
          <p:cNvPr id="356" name="Google Shape;356;p27"/>
          <p:cNvSpPr/>
          <p:nvPr/>
        </p:nvSpPr>
        <p:spPr>
          <a:xfrm>
            <a:off x="12031116" y="4480321"/>
            <a:ext cx="5283613" cy="3551777"/>
          </a:xfrm>
          <a:custGeom>
            <a:avLst/>
            <a:gdLst/>
            <a:ahLst/>
            <a:cxnLst/>
            <a:rect l="l" t="t" r="r" b="b"/>
            <a:pathLst>
              <a:path w="7044817" h="4735703" extrusionOk="0">
                <a:moveTo>
                  <a:pt x="0" y="184150"/>
                </a:moveTo>
                <a:cubicBezTo>
                  <a:pt x="0" y="82423"/>
                  <a:pt x="82804" y="0"/>
                  <a:pt x="184785" y="0"/>
                </a:cubicBezTo>
                <a:lnTo>
                  <a:pt x="6860032" y="0"/>
                </a:lnTo>
                <a:lnTo>
                  <a:pt x="6860032" y="25400"/>
                </a:lnTo>
                <a:lnTo>
                  <a:pt x="6860032" y="0"/>
                </a:lnTo>
                <a:cubicBezTo>
                  <a:pt x="6962013" y="0"/>
                  <a:pt x="7044817" y="82423"/>
                  <a:pt x="7044817" y="184150"/>
                </a:cubicBezTo>
                <a:lnTo>
                  <a:pt x="7019417" y="184150"/>
                </a:lnTo>
                <a:lnTo>
                  <a:pt x="7044817" y="184150"/>
                </a:lnTo>
                <a:lnTo>
                  <a:pt x="7044817" y="4551553"/>
                </a:lnTo>
                <a:lnTo>
                  <a:pt x="7019417" y="4551553"/>
                </a:lnTo>
                <a:lnTo>
                  <a:pt x="7044817" y="4551553"/>
                </a:lnTo>
                <a:cubicBezTo>
                  <a:pt x="7044817" y="4653407"/>
                  <a:pt x="6962013" y="4735703"/>
                  <a:pt x="6860032" y="4735703"/>
                </a:cubicBezTo>
                <a:lnTo>
                  <a:pt x="6860032" y="4710303"/>
                </a:lnTo>
                <a:lnTo>
                  <a:pt x="6860032" y="4735703"/>
                </a:lnTo>
                <a:lnTo>
                  <a:pt x="184785" y="4735703"/>
                </a:lnTo>
                <a:lnTo>
                  <a:pt x="184785" y="4710303"/>
                </a:lnTo>
                <a:lnTo>
                  <a:pt x="184785" y="4735703"/>
                </a:lnTo>
                <a:cubicBezTo>
                  <a:pt x="82804" y="4735703"/>
                  <a:pt x="0" y="4653280"/>
                  <a:pt x="0" y="4551553"/>
                </a:cubicBezTo>
                <a:lnTo>
                  <a:pt x="0" y="184150"/>
                </a:lnTo>
                <a:lnTo>
                  <a:pt x="25400" y="184150"/>
                </a:lnTo>
                <a:lnTo>
                  <a:pt x="0" y="184150"/>
                </a:lnTo>
                <a:moveTo>
                  <a:pt x="50800" y="184150"/>
                </a:moveTo>
                <a:lnTo>
                  <a:pt x="50800" y="4551553"/>
                </a:lnTo>
                <a:lnTo>
                  <a:pt x="25400" y="4551553"/>
                </a:lnTo>
                <a:lnTo>
                  <a:pt x="50800" y="4551553"/>
                </a:lnTo>
                <a:cubicBezTo>
                  <a:pt x="50800" y="4625086"/>
                  <a:pt x="110617" y="4684903"/>
                  <a:pt x="184785" y="4684903"/>
                </a:cubicBezTo>
                <a:lnTo>
                  <a:pt x="6860032" y="4684903"/>
                </a:lnTo>
                <a:cubicBezTo>
                  <a:pt x="6934073" y="4684903"/>
                  <a:pt x="6994017" y="4625086"/>
                  <a:pt x="6994017" y="4551553"/>
                </a:cubicBezTo>
                <a:lnTo>
                  <a:pt x="6994017" y="184150"/>
                </a:lnTo>
                <a:cubicBezTo>
                  <a:pt x="6994017" y="110617"/>
                  <a:pt x="6934200" y="50800"/>
                  <a:pt x="6860032" y="50800"/>
                </a:cubicBezTo>
                <a:lnTo>
                  <a:pt x="184785" y="50800"/>
                </a:lnTo>
                <a:lnTo>
                  <a:pt x="184785" y="25400"/>
                </a:lnTo>
                <a:lnTo>
                  <a:pt x="184785" y="50800"/>
                </a:lnTo>
                <a:cubicBezTo>
                  <a:pt x="110617" y="50800"/>
                  <a:pt x="50800" y="110617"/>
                  <a:pt x="50800" y="184150"/>
                </a:cubicBezTo>
                <a:close/>
              </a:path>
            </a:pathLst>
          </a:custGeom>
          <a:solidFill>
            <a:srgbClr val="C7C7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7"/>
          <p:cNvSpPr txBox="1"/>
          <p:nvPr/>
        </p:nvSpPr>
        <p:spPr>
          <a:xfrm>
            <a:off x="12371784" y="4792415"/>
            <a:ext cx="4602300" cy="9144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Data Quality &amp; False Positives</a:t>
            </a:r>
            <a:endParaRPr/>
          </a:p>
        </p:txBody>
      </p:sp>
      <p:sp>
        <p:nvSpPr>
          <p:cNvPr id="358" name="Google Shape;358;p27"/>
          <p:cNvSpPr txBox="1"/>
          <p:nvPr/>
        </p:nvSpPr>
        <p:spPr>
          <a:xfrm>
            <a:off x="12371784" y="5781675"/>
            <a:ext cx="4602300" cy="19098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Effective AI models depend on high-quality training data; biased or insufficient data can lead to poor fixes and high false positives.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28"/>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ECECF3"/>
          </a:solidFill>
          <a:ln>
            <a:noFill/>
          </a:ln>
        </p:spPr>
      </p:sp>
      <p:sp>
        <p:nvSpPr>
          <p:cNvPr id="361" name="Google Shape;361;p28"/>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FFFFF">
              <a:alpha val="89800"/>
            </a:srgbClr>
          </a:solidFill>
          <a:ln>
            <a:noFill/>
          </a:ln>
        </p:spPr>
      </p:sp>
      <p:sp>
        <p:nvSpPr>
          <p:cNvPr id="362" name="Google Shape;362;p28"/>
          <p:cNvSpPr txBox="1"/>
          <p:nvPr/>
        </p:nvSpPr>
        <p:spPr>
          <a:xfrm>
            <a:off x="955774" y="474897"/>
            <a:ext cx="16303500" cy="1800600"/>
          </a:xfrm>
          <a:prstGeom prst="rect">
            <a:avLst/>
          </a:prstGeom>
          <a:noFill/>
          <a:ln>
            <a:noFill/>
          </a:ln>
        </p:spPr>
        <p:txBody>
          <a:bodyPr spcFirstLastPara="1" wrap="square" lIns="0" tIns="0" rIns="0" bIns="0" anchor="t" anchorCtr="0">
            <a:spAutoFit/>
          </a:bodyPr>
          <a:lstStyle/>
          <a:p>
            <a:pPr marL="0" marR="0" lvl="0" indent="0" algn="l" rtl="0">
              <a:lnSpc>
                <a:spcPct val="124721"/>
              </a:lnSpc>
              <a:spcBef>
                <a:spcPts val="0"/>
              </a:spcBef>
              <a:spcAft>
                <a:spcPts val="0"/>
              </a:spcAft>
              <a:buNone/>
            </a:pPr>
            <a:r>
              <a:rPr lang="en-US" sz="5562" b="0" i="0" u="none" strike="noStrike" cap="none">
                <a:solidFill>
                  <a:srgbClr val="1B1B27"/>
                </a:solidFill>
                <a:latin typeface="Raleway"/>
                <a:ea typeface="Raleway"/>
                <a:cs typeface="Raleway"/>
                <a:sym typeface="Raleway"/>
              </a:rPr>
              <a:t>Challenge 2: Security, Ethical &amp; Integration Hurdles</a:t>
            </a:r>
            <a:endParaRPr/>
          </a:p>
        </p:txBody>
      </p:sp>
      <p:sp>
        <p:nvSpPr>
          <p:cNvPr id="363" name="Google Shape;363;p28"/>
          <p:cNvSpPr txBox="1"/>
          <p:nvPr/>
        </p:nvSpPr>
        <p:spPr>
          <a:xfrm>
            <a:off x="1028700" y="3091538"/>
            <a:ext cx="16303500" cy="913800"/>
          </a:xfrm>
          <a:prstGeom prst="rect">
            <a:avLst/>
          </a:prstGeom>
          <a:noFill/>
          <a:ln>
            <a:noFill/>
          </a:ln>
        </p:spPr>
        <p:txBody>
          <a:bodyPr spcFirstLastPara="1" wrap="square" lIns="0" tIns="0" rIns="0" bIns="0" anchor="t" anchorCtr="0">
            <a:spAutoFit/>
          </a:bodyPr>
          <a:lstStyle/>
          <a:p>
            <a:pPr marL="0" marR="0" lvl="0" indent="0" algn="l" rtl="0">
              <a:lnSpc>
                <a:spcPct val="162877"/>
              </a:lnSpc>
              <a:spcBef>
                <a:spcPts val="0"/>
              </a:spcBef>
              <a:spcAft>
                <a:spcPts val="0"/>
              </a:spcAft>
              <a:buNone/>
            </a:pPr>
            <a:r>
              <a:rPr lang="en-US" sz="2287" b="0" i="0" u="none" strike="noStrike" cap="none">
                <a:solidFill>
                  <a:srgbClr val="3C3939"/>
                </a:solidFill>
                <a:latin typeface="Roboto"/>
                <a:ea typeface="Roboto"/>
                <a:cs typeface="Roboto"/>
                <a:sym typeface="Roboto"/>
              </a:rPr>
              <a:t>Beyond technical issues, self-healing software faces significant hurdles in security, ethics, and integration with existing systems.</a:t>
            </a:r>
            <a:endParaRPr/>
          </a:p>
        </p:txBody>
      </p:sp>
      <p:sp>
        <p:nvSpPr>
          <p:cNvPr id="364" name="Google Shape;364;p28"/>
          <p:cNvSpPr/>
          <p:nvPr/>
        </p:nvSpPr>
        <p:spPr>
          <a:xfrm>
            <a:off x="973188" y="4918025"/>
            <a:ext cx="5283613" cy="3562541"/>
          </a:xfrm>
          <a:custGeom>
            <a:avLst/>
            <a:gdLst/>
            <a:ahLst/>
            <a:cxnLst/>
            <a:rect l="l" t="t" r="r" b="b"/>
            <a:pathLst>
              <a:path w="7044817" h="4750054" extrusionOk="0">
                <a:moveTo>
                  <a:pt x="0" y="184150"/>
                </a:moveTo>
                <a:cubicBezTo>
                  <a:pt x="0" y="82423"/>
                  <a:pt x="82804" y="0"/>
                  <a:pt x="184785" y="0"/>
                </a:cubicBezTo>
                <a:lnTo>
                  <a:pt x="6860032" y="0"/>
                </a:lnTo>
                <a:lnTo>
                  <a:pt x="6860032" y="25400"/>
                </a:lnTo>
                <a:lnTo>
                  <a:pt x="6860032" y="0"/>
                </a:lnTo>
                <a:cubicBezTo>
                  <a:pt x="6962013" y="0"/>
                  <a:pt x="7044817" y="82423"/>
                  <a:pt x="7044817" y="184150"/>
                </a:cubicBezTo>
                <a:lnTo>
                  <a:pt x="7019417" y="184150"/>
                </a:lnTo>
                <a:lnTo>
                  <a:pt x="7044817" y="184150"/>
                </a:lnTo>
                <a:lnTo>
                  <a:pt x="7044817" y="4565777"/>
                </a:lnTo>
                <a:lnTo>
                  <a:pt x="7019417" y="4565777"/>
                </a:lnTo>
                <a:lnTo>
                  <a:pt x="7044817" y="4565777"/>
                </a:lnTo>
                <a:cubicBezTo>
                  <a:pt x="7044817" y="4667631"/>
                  <a:pt x="6962013" y="4749927"/>
                  <a:pt x="6860032" y="4749927"/>
                </a:cubicBezTo>
                <a:lnTo>
                  <a:pt x="6860032" y="4724527"/>
                </a:lnTo>
                <a:lnTo>
                  <a:pt x="6860032" y="4749927"/>
                </a:lnTo>
                <a:lnTo>
                  <a:pt x="184785" y="4749927"/>
                </a:lnTo>
                <a:lnTo>
                  <a:pt x="184785" y="4724527"/>
                </a:lnTo>
                <a:lnTo>
                  <a:pt x="184785" y="4749927"/>
                </a:lnTo>
                <a:cubicBezTo>
                  <a:pt x="82804" y="4750054"/>
                  <a:pt x="0" y="4667631"/>
                  <a:pt x="0" y="4565777"/>
                </a:cubicBezTo>
                <a:lnTo>
                  <a:pt x="0" y="184150"/>
                </a:lnTo>
                <a:lnTo>
                  <a:pt x="25400" y="184150"/>
                </a:lnTo>
                <a:lnTo>
                  <a:pt x="0" y="184150"/>
                </a:lnTo>
                <a:moveTo>
                  <a:pt x="50800" y="184150"/>
                </a:moveTo>
                <a:lnTo>
                  <a:pt x="50800" y="4565777"/>
                </a:lnTo>
                <a:lnTo>
                  <a:pt x="25400" y="4565777"/>
                </a:lnTo>
                <a:lnTo>
                  <a:pt x="50800" y="4565777"/>
                </a:lnTo>
                <a:cubicBezTo>
                  <a:pt x="50800" y="4639310"/>
                  <a:pt x="110744" y="4699127"/>
                  <a:pt x="184785" y="4699127"/>
                </a:cubicBezTo>
                <a:lnTo>
                  <a:pt x="6860032" y="4699127"/>
                </a:lnTo>
                <a:cubicBezTo>
                  <a:pt x="6934073" y="4699127"/>
                  <a:pt x="6994017" y="4639310"/>
                  <a:pt x="6994017" y="4565777"/>
                </a:cubicBezTo>
                <a:lnTo>
                  <a:pt x="6994017" y="184150"/>
                </a:lnTo>
                <a:cubicBezTo>
                  <a:pt x="6994017" y="110617"/>
                  <a:pt x="6934073" y="50800"/>
                  <a:pt x="6860032" y="50800"/>
                </a:cubicBezTo>
                <a:lnTo>
                  <a:pt x="184785" y="50800"/>
                </a:lnTo>
                <a:lnTo>
                  <a:pt x="184785" y="25400"/>
                </a:lnTo>
                <a:lnTo>
                  <a:pt x="184785" y="50800"/>
                </a:lnTo>
                <a:cubicBezTo>
                  <a:pt x="110744" y="50800"/>
                  <a:pt x="50800" y="110617"/>
                  <a:pt x="50800" y="184150"/>
                </a:cubicBezTo>
                <a:close/>
              </a:path>
            </a:pathLst>
          </a:custGeom>
          <a:solidFill>
            <a:srgbClr val="C7C7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8"/>
          <p:cNvSpPr txBox="1"/>
          <p:nvPr/>
        </p:nvSpPr>
        <p:spPr>
          <a:xfrm>
            <a:off x="1313855" y="5230117"/>
            <a:ext cx="4602300" cy="9144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Security, Trust, and Accountability</a:t>
            </a:r>
            <a:endParaRPr/>
          </a:p>
        </p:txBody>
      </p:sp>
      <p:sp>
        <p:nvSpPr>
          <p:cNvPr id="366" name="Google Shape;366;p28"/>
          <p:cNvSpPr txBox="1"/>
          <p:nvPr/>
        </p:nvSpPr>
        <p:spPr>
          <a:xfrm>
            <a:off x="1313855" y="6219379"/>
            <a:ext cx="4602300" cy="19098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The "black box" nature of AI raises questions of responsibility for new vulnerabilities, demanding clear governance and audit trails.</a:t>
            </a:r>
            <a:endParaRPr/>
          </a:p>
        </p:txBody>
      </p:sp>
      <p:sp>
        <p:nvSpPr>
          <p:cNvPr id="367" name="Google Shape;367;p28"/>
          <p:cNvSpPr/>
          <p:nvPr/>
        </p:nvSpPr>
        <p:spPr>
          <a:xfrm>
            <a:off x="6502152" y="4918025"/>
            <a:ext cx="5283613" cy="3562541"/>
          </a:xfrm>
          <a:custGeom>
            <a:avLst/>
            <a:gdLst/>
            <a:ahLst/>
            <a:cxnLst/>
            <a:rect l="l" t="t" r="r" b="b"/>
            <a:pathLst>
              <a:path w="7044817" h="4750054" extrusionOk="0">
                <a:moveTo>
                  <a:pt x="0" y="184150"/>
                </a:moveTo>
                <a:cubicBezTo>
                  <a:pt x="0" y="82423"/>
                  <a:pt x="82804" y="0"/>
                  <a:pt x="184785" y="0"/>
                </a:cubicBezTo>
                <a:lnTo>
                  <a:pt x="6860032" y="0"/>
                </a:lnTo>
                <a:lnTo>
                  <a:pt x="6860032" y="25400"/>
                </a:lnTo>
                <a:lnTo>
                  <a:pt x="6860032" y="0"/>
                </a:lnTo>
                <a:cubicBezTo>
                  <a:pt x="6962013" y="0"/>
                  <a:pt x="7044817" y="82423"/>
                  <a:pt x="7044817" y="184150"/>
                </a:cubicBezTo>
                <a:lnTo>
                  <a:pt x="7019417" y="184150"/>
                </a:lnTo>
                <a:lnTo>
                  <a:pt x="7044817" y="184150"/>
                </a:lnTo>
                <a:lnTo>
                  <a:pt x="7044817" y="4565777"/>
                </a:lnTo>
                <a:lnTo>
                  <a:pt x="7019417" y="4565777"/>
                </a:lnTo>
                <a:lnTo>
                  <a:pt x="7044817" y="4565777"/>
                </a:lnTo>
                <a:cubicBezTo>
                  <a:pt x="7044817" y="4667631"/>
                  <a:pt x="6962013" y="4749927"/>
                  <a:pt x="6860032" y="4749927"/>
                </a:cubicBezTo>
                <a:lnTo>
                  <a:pt x="6860032" y="4724527"/>
                </a:lnTo>
                <a:lnTo>
                  <a:pt x="6860032" y="4749927"/>
                </a:lnTo>
                <a:lnTo>
                  <a:pt x="184785" y="4749927"/>
                </a:lnTo>
                <a:lnTo>
                  <a:pt x="184785" y="4724527"/>
                </a:lnTo>
                <a:lnTo>
                  <a:pt x="184785" y="4749927"/>
                </a:lnTo>
                <a:cubicBezTo>
                  <a:pt x="82804" y="4750054"/>
                  <a:pt x="0" y="4667631"/>
                  <a:pt x="0" y="4565777"/>
                </a:cubicBezTo>
                <a:lnTo>
                  <a:pt x="0" y="184150"/>
                </a:lnTo>
                <a:lnTo>
                  <a:pt x="25400" y="184150"/>
                </a:lnTo>
                <a:lnTo>
                  <a:pt x="0" y="184150"/>
                </a:lnTo>
                <a:moveTo>
                  <a:pt x="50800" y="184150"/>
                </a:moveTo>
                <a:lnTo>
                  <a:pt x="50800" y="4565777"/>
                </a:lnTo>
                <a:lnTo>
                  <a:pt x="25400" y="4565777"/>
                </a:lnTo>
                <a:lnTo>
                  <a:pt x="50800" y="4565777"/>
                </a:lnTo>
                <a:cubicBezTo>
                  <a:pt x="50800" y="4639310"/>
                  <a:pt x="110744" y="4699127"/>
                  <a:pt x="184785" y="4699127"/>
                </a:cubicBezTo>
                <a:lnTo>
                  <a:pt x="6860032" y="4699127"/>
                </a:lnTo>
                <a:cubicBezTo>
                  <a:pt x="6934073" y="4699127"/>
                  <a:pt x="6994017" y="4639310"/>
                  <a:pt x="6994017" y="4565777"/>
                </a:cubicBezTo>
                <a:lnTo>
                  <a:pt x="6994017" y="184150"/>
                </a:lnTo>
                <a:cubicBezTo>
                  <a:pt x="6994017" y="110617"/>
                  <a:pt x="6934073" y="50800"/>
                  <a:pt x="6860032" y="50800"/>
                </a:cubicBezTo>
                <a:lnTo>
                  <a:pt x="184785" y="50800"/>
                </a:lnTo>
                <a:lnTo>
                  <a:pt x="184785" y="25400"/>
                </a:lnTo>
                <a:lnTo>
                  <a:pt x="184785" y="50800"/>
                </a:lnTo>
                <a:cubicBezTo>
                  <a:pt x="110744" y="50800"/>
                  <a:pt x="50800" y="110617"/>
                  <a:pt x="50800" y="184150"/>
                </a:cubicBezTo>
                <a:close/>
              </a:path>
            </a:pathLst>
          </a:custGeom>
          <a:solidFill>
            <a:srgbClr val="C7C7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8"/>
          <p:cNvSpPr txBox="1"/>
          <p:nvPr/>
        </p:nvSpPr>
        <p:spPr>
          <a:xfrm>
            <a:off x="6842820" y="5230117"/>
            <a:ext cx="4602300" cy="9144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Computational Overhead &amp; Cost</a:t>
            </a:r>
            <a:endParaRPr/>
          </a:p>
        </p:txBody>
      </p:sp>
      <p:sp>
        <p:nvSpPr>
          <p:cNvPr id="369" name="Google Shape;369;p28"/>
          <p:cNvSpPr txBox="1"/>
          <p:nvPr/>
        </p:nvSpPr>
        <p:spPr>
          <a:xfrm>
            <a:off x="6842820" y="6219379"/>
            <a:ext cx="4602300" cy="19098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Continuously running monitoring tools and large AI models can be resource-intensive and expensive, posing deployment challenges.</a:t>
            </a:r>
            <a:endParaRPr/>
          </a:p>
        </p:txBody>
      </p:sp>
      <p:sp>
        <p:nvSpPr>
          <p:cNvPr id="370" name="Google Shape;370;p28"/>
          <p:cNvSpPr/>
          <p:nvPr/>
        </p:nvSpPr>
        <p:spPr>
          <a:xfrm>
            <a:off x="12031116" y="4918025"/>
            <a:ext cx="5283613" cy="3562541"/>
          </a:xfrm>
          <a:custGeom>
            <a:avLst/>
            <a:gdLst/>
            <a:ahLst/>
            <a:cxnLst/>
            <a:rect l="l" t="t" r="r" b="b"/>
            <a:pathLst>
              <a:path w="7044817" h="4750054" extrusionOk="0">
                <a:moveTo>
                  <a:pt x="0" y="184150"/>
                </a:moveTo>
                <a:cubicBezTo>
                  <a:pt x="0" y="82423"/>
                  <a:pt x="82804" y="0"/>
                  <a:pt x="184785" y="0"/>
                </a:cubicBezTo>
                <a:lnTo>
                  <a:pt x="6860032" y="0"/>
                </a:lnTo>
                <a:lnTo>
                  <a:pt x="6860032" y="25400"/>
                </a:lnTo>
                <a:lnTo>
                  <a:pt x="6860032" y="0"/>
                </a:lnTo>
                <a:cubicBezTo>
                  <a:pt x="6962013" y="0"/>
                  <a:pt x="7044817" y="82423"/>
                  <a:pt x="7044817" y="184150"/>
                </a:cubicBezTo>
                <a:lnTo>
                  <a:pt x="7019417" y="184150"/>
                </a:lnTo>
                <a:lnTo>
                  <a:pt x="7044817" y="184150"/>
                </a:lnTo>
                <a:lnTo>
                  <a:pt x="7044817" y="4565777"/>
                </a:lnTo>
                <a:lnTo>
                  <a:pt x="7019417" y="4565777"/>
                </a:lnTo>
                <a:lnTo>
                  <a:pt x="7044817" y="4565777"/>
                </a:lnTo>
                <a:cubicBezTo>
                  <a:pt x="7044817" y="4667631"/>
                  <a:pt x="6962013" y="4749927"/>
                  <a:pt x="6860032" y="4749927"/>
                </a:cubicBezTo>
                <a:lnTo>
                  <a:pt x="6860032" y="4724527"/>
                </a:lnTo>
                <a:lnTo>
                  <a:pt x="6860032" y="4749927"/>
                </a:lnTo>
                <a:lnTo>
                  <a:pt x="184785" y="4749927"/>
                </a:lnTo>
                <a:lnTo>
                  <a:pt x="184785" y="4724527"/>
                </a:lnTo>
                <a:lnTo>
                  <a:pt x="184785" y="4749927"/>
                </a:lnTo>
                <a:cubicBezTo>
                  <a:pt x="82804" y="4750054"/>
                  <a:pt x="0" y="4667631"/>
                  <a:pt x="0" y="4565777"/>
                </a:cubicBezTo>
                <a:lnTo>
                  <a:pt x="0" y="184150"/>
                </a:lnTo>
                <a:lnTo>
                  <a:pt x="25400" y="184150"/>
                </a:lnTo>
                <a:lnTo>
                  <a:pt x="0" y="184150"/>
                </a:lnTo>
                <a:moveTo>
                  <a:pt x="50800" y="184150"/>
                </a:moveTo>
                <a:lnTo>
                  <a:pt x="50800" y="4565777"/>
                </a:lnTo>
                <a:lnTo>
                  <a:pt x="25400" y="4565777"/>
                </a:lnTo>
                <a:lnTo>
                  <a:pt x="50800" y="4565777"/>
                </a:lnTo>
                <a:cubicBezTo>
                  <a:pt x="50800" y="4639310"/>
                  <a:pt x="110744" y="4699127"/>
                  <a:pt x="184785" y="4699127"/>
                </a:cubicBezTo>
                <a:lnTo>
                  <a:pt x="6860032" y="4699127"/>
                </a:lnTo>
                <a:cubicBezTo>
                  <a:pt x="6934073" y="4699127"/>
                  <a:pt x="6994017" y="4639310"/>
                  <a:pt x="6994017" y="4565777"/>
                </a:cubicBezTo>
                <a:lnTo>
                  <a:pt x="6994017" y="184150"/>
                </a:lnTo>
                <a:cubicBezTo>
                  <a:pt x="6994017" y="110617"/>
                  <a:pt x="6934073" y="50800"/>
                  <a:pt x="6860032" y="50800"/>
                </a:cubicBezTo>
                <a:lnTo>
                  <a:pt x="184785" y="50800"/>
                </a:lnTo>
                <a:lnTo>
                  <a:pt x="184785" y="25400"/>
                </a:lnTo>
                <a:lnTo>
                  <a:pt x="184785" y="50800"/>
                </a:lnTo>
                <a:cubicBezTo>
                  <a:pt x="110744" y="50800"/>
                  <a:pt x="50800" y="110617"/>
                  <a:pt x="50800" y="184150"/>
                </a:cubicBezTo>
                <a:close/>
              </a:path>
            </a:pathLst>
          </a:custGeom>
          <a:solidFill>
            <a:srgbClr val="C7C7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8"/>
          <p:cNvSpPr txBox="1"/>
          <p:nvPr/>
        </p:nvSpPr>
        <p:spPr>
          <a:xfrm>
            <a:off x="12371784" y="5230117"/>
            <a:ext cx="37149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Integration Complexity</a:t>
            </a:r>
            <a:endParaRPr/>
          </a:p>
        </p:txBody>
      </p:sp>
      <p:sp>
        <p:nvSpPr>
          <p:cNvPr id="372" name="Google Shape;372;p28"/>
          <p:cNvSpPr txBox="1"/>
          <p:nvPr/>
        </p:nvSpPr>
        <p:spPr>
          <a:xfrm>
            <a:off x="12371784" y="5776466"/>
            <a:ext cx="4602300" cy="23634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Integrating modern self-healing frameworks into legacy or monolithic systems requires custom adapters and substantial engineering effort.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29"/>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ECECF3"/>
          </a:solidFill>
          <a:ln>
            <a:noFill/>
          </a:ln>
        </p:spPr>
      </p:sp>
      <p:sp>
        <p:nvSpPr>
          <p:cNvPr id="375" name="Google Shape;375;p29"/>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FFFFF">
              <a:alpha val="89800"/>
            </a:srgbClr>
          </a:solidFill>
          <a:ln>
            <a:noFill/>
          </a:ln>
        </p:spPr>
      </p:sp>
      <p:sp>
        <p:nvSpPr>
          <p:cNvPr id="376" name="Google Shape;376;p29"/>
          <p:cNvSpPr txBox="1"/>
          <p:nvPr/>
        </p:nvSpPr>
        <p:spPr>
          <a:xfrm>
            <a:off x="898624" y="658416"/>
            <a:ext cx="10241700" cy="849900"/>
          </a:xfrm>
          <a:prstGeom prst="rect">
            <a:avLst/>
          </a:prstGeom>
          <a:noFill/>
          <a:ln>
            <a:noFill/>
          </a:ln>
        </p:spPr>
        <p:txBody>
          <a:bodyPr spcFirstLastPara="1" wrap="square" lIns="0" tIns="0" rIns="0" bIns="0" anchor="t" anchorCtr="0">
            <a:spAutoFit/>
          </a:bodyPr>
          <a:lstStyle/>
          <a:p>
            <a:pPr marL="0" marR="0" lvl="0" indent="0" algn="l" rtl="0">
              <a:lnSpc>
                <a:spcPct val="126265"/>
              </a:lnSpc>
              <a:spcBef>
                <a:spcPts val="0"/>
              </a:spcBef>
              <a:spcAft>
                <a:spcPts val="0"/>
              </a:spcAft>
              <a:buNone/>
            </a:pPr>
            <a:r>
              <a:rPr lang="en-US" sz="4999" b="0" i="0" u="none" strike="noStrike" cap="none">
                <a:solidFill>
                  <a:srgbClr val="1B1B27"/>
                </a:solidFill>
                <a:latin typeface="Raleway"/>
                <a:ea typeface="Raleway"/>
                <a:cs typeface="Raleway"/>
                <a:sym typeface="Raleway"/>
              </a:rPr>
              <a:t>Future Directions: The Road Ahead</a:t>
            </a:r>
            <a:endParaRPr/>
          </a:p>
        </p:txBody>
      </p:sp>
      <p:sp>
        <p:nvSpPr>
          <p:cNvPr id="377" name="Google Shape;377;p29"/>
          <p:cNvSpPr txBox="1"/>
          <p:nvPr/>
        </p:nvSpPr>
        <p:spPr>
          <a:xfrm>
            <a:off x="898624" y="1936105"/>
            <a:ext cx="16490700" cy="399900"/>
          </a:xfrm>
          <a:prstGeom prst="rect">
            <a:avLst/>
          </a:prstGeom>
          <a:noFill/>
          <a:ln>
            <a:noFill/>
          </a:ln>
        </p:spPr>
        <p:txBody>
          <a:bodyPr spcFirstLastPara="1" wrap="square" lIns="0" tIns="0" rIns="0" bIns="0" anchor="t" anchorCtr="0">
            <a:spAutoFit/>
          </a:bodyPr>
          <a:lstStyle/>
          <a:p>
            <a:pPr marL="0" marR="0" lvl="0" indent="0" algn="l" rtl="0">
              <a:lnSpc>
                <a:spcPct val="159333"/>
              </a:lnSpc>
              <a:spcBef>
                <a:spcPts val="0"/>
              </a:spcBef>
              <a:spcAft>
                <a:spcPts val="0"/>
              </a:spcAft>
              <a:buNone/>
            </a:pPr>
            <a:r>
              <a:rPr lang="en-US" sz="2100" b="0" i="0" u="none" strike="noStrike" cap="none">
                <a:solidFill>
                  <a:srgbClr val="3C3939"/>
                </a:solidFill>
                <a:latin typeface="Roboto"/>
                <a:ea typeface="Roboto"/>
                <a:cs typeface="Roboto"/>
                <a:sym typeface="Roboto"/>
              </a:rPr>
              <a:t>The evolution of self-healing software promises a more autonomous and resilient future for software systems.</a:t>
            </a:r>
            <a:endParaRPr/>
          </a:p>
        </p:txBody>
      </p:sp>
      <p:sp>
        <p:nvSpPr>
          <p:cNvPr id="378" name="Google Shape;378;p29" descr="preencoded.png"/>
          <p:cNvSpPr/>
          <p:nvPr/>
        </p:nvSpPr>
        <p:spPr>
          <a:xfrm>
            <a:off x="898624" y="2721322"/>
            <a:ext cx="1283684" cy="1540383"/>
          </a:xfrm>
          <a:custGeom>
            <a:avLst/>
            <a:gdLst/>
            <a:ahLst/>
            <a:cxnLst/>
            <a:rect l="l" t="t" r="r" b="b"/>
            <a:pathLst>
              <a:path w="1711579" h="2053844" extrusionOk="0">
                <a:moveTo>
                  <a:pt x="0" y="0"/>
                </a:moveTo>
                <a:lnTo>
                  <a:pt x="1711579" y="0"/>
                </a:lnTo>
                <a:lnTo>
                  <a:pt x="1711579" y="2053844"/>
                </a:lnTo>
                <a:lnTo>
                  <a:pt x="0" y="2053844"/>
                </a:lnTo>
                <a:lnTo>
                  <a:pt x="0" y="0"/>
                </a:lnTo>
                <a:close/>
              </a:path>
            </a:pathLst>
          </a:custGeom>
          <a:blipFill rotWithShape="1">
            <a:blip r:embed="rId3">
              <a:alphaModFix/>
            </a:blip>
            <a:stretch>
              <a:fillRect/>
            </a:stretch>
          </a:blipFill>
          <a:ln>
            <a:noFill/>
          </a:ln>
        </p:spPr>
      </p:sp>
      <p:sp>
        <p:nvSpPr>
          <p:cNvPr id="379" name="Google Shape;379;p29"/>
          <p:cNvSpPr txBox="1"/>
          <p:nvPr/>
        </p:nvSpPr>
        <p:spPr>
          <a:xfrm>
            <a:off x="2438995" y="2949476"/>
            <a:ext cx="5178900" cy="429600"/>
          </a:xfrm>
          <a:prstGeom prst="rect">
            <a:avLst/>
          </a:prstGeom>
          <a:noFill/>
          <a:ln>
            <a:noFill/>
          </a:ln>
        </p:spPr>
        <p:txBody>
          <a:bodyPr spcFirstLastPara="1" wrap="square" lIns="0" tIns="0" rIns="0" bIns="0" anchor="t" anchorCtr="0">
            <a:spAutoFit/>
          </a:bodyPr>
          <a:lstStyle/>
          <a:p>
            <a:pPr marL="0" marR="0" lvl="0" indent="0" algn="l" rtl="0">
              <a:lnSpc>
                <a:spcPct val="125010"/>
              </a:lnSpc>
              <a:spcBef>
                <a:spcPts val="0"/>
              </a:spcBef>
              <a:spcAft>
                <a:spcPts val="0"/>
              </a:spcAft>
              <a:buNone/>
            </a:pPr>
            <a:r>
              <a:rPr lang="en-US" sz="2499" b="0" i="0" u="none" strike="noStrike" cap="none">
                <a:solidFill>
                  <a:srgbClr val="3C3939"/>
                </a:solidFill>
                <a:latin typeface="Raleway"/>
                <a:ea typeface="Raleway"/>
                <a:cs typeface="Raleway"/>
                <a:sym typeface="Raleway"/>
              </a:rPr>
              <a:t>Deeper DevOps Integration (AIOps)</a:t>
            </a:r>
            <a:endParaRPr/>
          </a:p>
        </p:txBody>
      </p:sp>
      <p:sp>
        <p:nvSpPr>
          <p:cNvPr id="380" name="Google Shape;380;p29"/>
          <p:cNvSpPr txBox="1"/>
          <p:nvPr/>
        </p:nvSpPr>
        <p:spPr>
          <a:xfrm>
            <a:off x="2438995" y="3447455"/>
            <a:ext cx="14950500" cy="399900"/>
          </a:xfrm>
          <a:prstGeom prst="rect">
            <a:avLst/>
          </a:prstGeom>
          <a:noFill/>
          <a:ln>
            <a:noFill/>
          </a:ln>
        </p:spPr>
        <p:txBody>
          <a:bodyPr spcFirstLastPara="1" wrap="square" lIns="0" tIns="0" rIns="0" bIns="0" anchor="t" anchorCtr="0">
            <a:spAutoFit/>
          </a:bodyPr>
          <a:lstStyle/>
          <a:p>
            <a:pPr marL="0" marR="0" lvl="0" indent="0" algn="l" rtl="0">
              <a:lnSpc>
                <a:spcPct val="159333"/>
              </a:lnSpc>
              <a:spcBef>
                <a:spcPts val="0"/>
              </a:spcBef>
              <a:spcAft>
                <a:spcPts val="0"/>
              </a:spcAft>
              <a:buNone/>
            </a:pPr>
            <a:r>
              <a:rPr lang="en-US" sz="2100" b="0" i="0" u="none" strike="noStrike" cap="none">
                <a:solidFill>
                  <a:srgbClr val="3C3939"/>
                </a:solidFill>
                <a:latin typeface="Roboto"/>
                <a:ea typeface="Roboto"/>
                <a:cs typeface="Roboto"/>
                <a:sym typeface="Roboto"/>
              </a:rPr>
              <a:t>Self-healing will become a standard component of CI/CD pipelines, preventing faulty releases and managing software quality.</a:t>
            </a:r>
            <a:endParaRPr/>
          </a:p>
        </p:txBody>
      </p:sp>
      <p:sp>
        <p:nvSpPr>
          <p:cNvPr id="381" name="Google Shape;381;p29" descr="preencoded.png"/>
          <p:cNvSpPr/>
          <p:nvPr/>
        </p:nvSpPr>
        <p:spPr>
          <a:xfrm>
            <a:off x="898624" y="4261694"/>
            <a:ext cx="1283684" cy="1890141"/>
          </a:xfrm>
          <a:custGeom>
            <a:avLst/>
            <a:gdLst/>
            <a:ahLst/>
            <a:cxnLst/>
            <a:rect l="l" t="t" r="r" b="b"/>
            <a:pathLst>
              <a:path w="1711579" h="2520188" extrusionOk="0">
                <a:moveTo>
                  <a:pt x="0" y="0"/>
                </a:moveTo>
                <a:lnTo>
                  <a:pt x="1711579" y="0"/>
                </a:lnTo>
                <a:lnTo>
                  <a:pt x="1711579" y="2520188"/>
                </a:lnTo>
                <a:lnTo>
                  <a:pt x="0" y="2520188"/>
                </a:lnTo>
                <a:lnTo>
                  <a:pt x="0" y="0"/>
                </a:lnTo>
                <a:close/>
              </a:path>
            </a:pathLst>
          </a:custGeom>
          <a:blipFill rotWithShape="1">
            <a:blip r:embed="rId4">
              <a:alphaModFix/>
            </a:blip>
            <a:stretch>
              <a:fillRect l="-199" r="-189"/>
            </a:stretch>
          </a:blipFill>
          <a:ln>
            <a:noFill/>
          </a:ln>
        </p:spPr>
      </p:sp>
      <p:sp>
        <p:nvSpPr>
          <p:cNvPr id="382" name="Google Shape;382;p29"/>
          <p:cNvSpPr txBox="1"/>
          <p:nvPr/>
        </p:nvSpPr>
        <p:spPr>
          <a:xfrm>
            <a:off x="2438995" y="4489847"/>
            <a:ext cx="3344100" cy="429600"/>
          </a:xfrm>
          <a:prstGeom prst="rect">
            <a:avLst/>
          </a:prstGeom>
          <a:noFill/>
          <a:ln>
            <a:noFill/>
          </a:ln>
        </p:spPr>
        <p:txBody>
          <a:bodyPr spcFirstLastPara="1" wrap="square" lIns="0" tIns="0" rIns="0" bIns="0" anchor="t" anchorCtr="0">
            <a:spAutoFit/>
          </a:bodyPr>
          <a:lstStyle/>
          <a:p>
            <a:pPr marL="0" marR="0" lvl="0" indent="0" algn="l" rtl="0">
              <a:lnSpc>
                <a:spcPct val="125010"/>
              </a:lnSpc>
              <a:spcBef>
                <a:spcPts val="0"/>
              </a:spcBef>
              <a:spcAft>
                <a:spcPts val="0"/>
              </a:spcAft>
              <a:buNone/>
            </a:pPr>
            <a:r>
              <a:rPr lang="en-US" sz="2499" b="0" i="0" u="none" strike="noStrike" cap="none">
                <a:solidFill>
                  <a:srgbClr val="3C3939"/>
                </a:solidFill>
                <a:latin typeface="Raleway"/>
                <a:ea typeface="Raleway"/>
                <a:cs typeface="Raleway"/>
                <a:sym typeface="Raleway"/>
              </a:rPr>
              <a:t>Multi-Modal AI Models</a:t>
            </a:r>
            <a:endParaRPr/>
          </a:p>
        </p:txBody>
      </p:sp>
      <p:sp>
        <p:nvSpPr>
          <p:cNvPr id="383" name="Google Shape;383;p29"/>
          <p:cNvSpPr txBox="1"/>
          <p:nvPr/>
        </p:nvSpPr>
        <p:spPr>
          <a:xfrm>
            <a:off x="2438995" y="4987826"/>
            <a:ext cx="14950500" cy="819000"/>
          </a:xfrm>
          <a:prstGeom prst="rect">
            <a:avLst/>
          </a:prstGeom>
          <a:noFill/>
          <a:ln>
            <a:noFill/>
          </a:ln>
        </p:spPr>
        <p:txBody>
          <a:bodyPr spcFirstLastPara="1" wrap="square" lIns="0" tIns="0" rIns="0" bIns="0" anchor="t" anchorCtr="0">
            <a:spAutoFit/>
          </a:bodyPr>
          <a:lstStyle/>
          <a:p>
            <a:pPr marL="0" marR="0" lvl="0" indent="0" algn="l" rtl="0">
              <a:lnSpc>
                <a:spcPct val="159333"/>
              </a:lnSpc>
              <a:spcBef>
                <a:spcPts val="0"/>
              </a:spcBef>
              <a:spcAft>
                <a:spcPts val="0"/>
              </a:spcAft>
              <a:buNone/>
            </a:pPr>
            <a:r>
              <a:rPr lang="en-US" sz="2100" b="0" i="0" u="none" strike="noStrike" cap="none">
                <a:solidFill>
                  <a:srgbClr val="3C3939"/>
                </a:solidFill>
                <a:latin typeface="Roboto"/>
                <a:ea typeface="Roboto"/>
                <a:cs typeface="Roboto"/>
                <a:sym typeface="Roboto"/>
              </a:rPr>
              <a:t>The next wave of AI will correlate signals from multiple sources—code, performance graphs, and runtime logs—for holistic system health.</a:t>
            </a:r>
            <a:endParaRPr/>
          </a:p>
        </p:txBody>
      </p:sp>
      <p:sp>
        <p:nvSpPr>
          <p:cNvPr id="384" name="Google Shape;384;p29" descr="preencoded.png"/>
          <p:cNvSpPr/>
          <p:nvPr/>
        </p:nvSpPr>
        <p:spPr>
          <a:xfrm>
            <a:off x="898624" y="6151810"/>
            <a:ext cx="1283684" cy="1890141"/>
          </a:xfrm>
          <a:custGeom>
            <a:avLst/>
            <a:gdLst/>
            <a:ahLst/>
            <a:cxnLst/>
            <a:rect l="l" t="t" r="r" b="b"/>
            <a:pathLst>
              <a:path w="1711579" h="2520188" extrusionOk="0">
                <a:moveTo>
                  <a:pt x="0" y="0"/>
                </a:moveTo>
                <a:lnTo>
                  <a:pt x="1711579" y="0"/>
                </a:lnTo>
                <a:lnTo>
                  <a:pt x="1711579" y="2520188"/>
                </a:lnTo>
                <a:lnTo>
                  <a:pt x="0" y="2520188"/>
                </a:lnTo>
                <a:lnTo>
                  <a:pt x="0" y="0"/>
                </a:lnTo>
                <a:close/>
              </a:path>
            </a:pathLst>
          </a:custGeom>
          <a:blipFill rotWithShape="1">
            <a:blip r:embed="rId5">
              <a:alphaModFix/>
            </a:blip>
            <a:stretch>
              <a:fillRect l="-199" r="-189"/>
            </a:stretch>
          </a:blipFill>
          <a:ln>
            <a:noFill/>
          </a:ln>
        </p:spPr>
      </p:sp>
      <p:sp>
        <p:nvSpPr>
          <p:cNvPr id="385" name="Google Shape;385;p29"/>
          <p:cNvSpPr txBox="1"/>
          <p:nvPr/>
        </p:nvSpPr>
        <p:spPr>
          <a:xfrm>
            <a:off x="2438995" y="6379964"/>
            <a:ext cx="6097200" cy="429600"/>
          </a:xfrm>
          <a:prstGeom prst="rect">
            <a:avLst/>
          </a:prstGeom>
          <a:noFill/>
          <a:ln>
            <a:noFill/>
          </a:ln>
        </p:spPr>
        <p:txBody>
          <a:bodyPr spcFirstLastPara="1" wrap="square" lIns="0" tIns="0" rIns="0" bIns="0" anchor="t" anchorCtr="0">
            <a:spAutoFit/>
          </a:bodyPr>
          <a:lstStyle/>
          <a:p>
            <a:pPr marL="0" marR="0" lvl="0" indent="0" algn="l" rtl="0">
              <a:lnSpc>
                <a:spcPct val="125010"/>
              </a:lnSpc>
              <a:spcBef>
                <a:spcPts val="0"/>
              </a:spcBef>
              <a:spcAft>
                <a:spcPts val="0"/>
              </a:spcAft>
              <a:buNone/>
            </a:pPr>
            <a:r>
              <a:rPr lang="en-US" sz="2499" b="0" i="0" u="none" strike="noStrike" cap="none">
                <a:solidFill>
                  <a:srgbClr val="3C3939"/>
                </a:solidFill>
                <a:latin typeface="Raleway"/>
                <a:ea typeface="Raleway"/>
                <a:cs typeface="Raleway"/>
                <a:sym typeface="Raleway"/>
              </a:rPr>
              <a:t>Reinforcement Learning from Experience</a:t>
            </a:r>
            <a:endParaRPr/>
          </a:p>
        </p:txBody>
      </p:sp>
      <p:sp>
        <p:nvSpPr>
          <p:cNvPr id="386" name="Google Shape;386;p29"/>
          <p:cNvSpPr txBox="1"/>
          <p:nvPr/>
        </p:nvSpPr>
        <p:spPr>
          <a:xfrm>
            <a:off x="2438995" y="6877942"/>
            <a:ext cx="14950500" cy="819000"/>
          </a:xfrm>
          <a:prstGeom prst="rect">
            <a:avLst/>
          </a:prstGeom>
          <a:noFill/>
          <a:ln>
            <a:noFill/>
          </a:ln>
        </p:spPr>
        <p:txBody>
          <a:bodyPr spcFirstLastPara="1" wrap="square" lIns="0" tIns="0" rIns="0" bIns="0" anchor="t" anchorCtr="0">
            <a:spAutoFit/>
          </a:bodyPr>
          <a:lstStyle/>
          <a:p>
            <a:pPr marL="0" marR="0" lvl="0" indent="0" algn="l" rtl="0">
              <a:lnSpc>
                <a:spcPct val="159333"/>
              </a:lnSpc>
              <a:spcBef>
                <a:spcPts val="0"/>
              </a:spcBef>
              <a:spcAft>
                <a:spcPts val="0"/>
              </a:spcAft>
              <a:buNone/>
            </a:pPr>
            <a:r>
              <a:rPr lang="en-US" sz="2100" b="0" i="0" u="none" strike="noStrike" cap="none">
                <a:solidFill>
                  <a:srgbClr val="3C3939"/>
                </a:solidFill>
                <a:latin typeface="Roboto"/>
                <a:ea typeface="Roboto"/>
                <a:cs typeface="Roboto"/>
                <a:sym typeface="Roboto"/>
              </a:rPr>
              <a:t>Systems will dynamically adapt healing strategies based on continuous feedback, learning from past outcomes to optimize for success.</a:t>
            </a:r>
            <a:endParaRPr/>
          </a:p>
        </p:txBody>
      </p:sp>
      <p:sp>
        <p:nvSpPr>
          <p:cNvPr id="387" name="Google Shape;387;p29" descr="preencoded.png"/>
          <p:cNvSpPr/>
          <p:nvPr/>
        </p:nvSpPr>
        <p:spPr>
          <a:xfrm>
            <a:off x="898624" y="8041927"/>
            <a:ext cx="1283684" cy="1540383"/>
          </a:xfrm>
          <a:custGeom>
            <a:avLst/>
            <a:gdLst/>
            <a:ahLst/>
            <a:cxnLst/>
            <a:rect l="l" t="t" r="r" b="b"/>
            <a:pathLst>
              <a:path w="1711579" h="2053844" extrusionOk="0">
                <a:moveTo>
                  <a:pt x="0" y="0"/>
                </a:moveTo>
                <a:lnTo>
                  <a:pt x="1711579" y="0"/>
                </a:lnTo>
                <a:lnTo>
                  <a:pt x="1711579" y="2053844"/>
                </a:lnTo>
                <a:lnTo>
                  <a:pt x="0" y="2053844"/>
                </a:lnTo>
                <a:lnTo>
                  <a:pt x="0" y="0"/>
                </a:lnTo>
                <a:close/>
              </a:path>
            </a:pathLst>
          </a:custGeom>
          <a:blipFill rotWithShape="1">
            <a:blip r:embed="rId6">
              <a:alphaModFix/>
            </a:blip>
            <a:stretch>
              <a:fillRect/>
            </a:stretch>
          </a:blipFill>
          <a:ln>
            <a:noFill/>
          </a:ln>
        </p:spPr>
      </p:sp>
      <p:sp>
        <p:nvSpPr>
          <p:cNvPr id="388" name="Google Shape;388;p29"/>
          <p:cNvSpPr txBox="1"/>
          <p:nvPr/>
        </p:nvSpPr>
        <p:spPr>
          <a:xfrm>
            <a:off x="2438995" y="8270081"/>
            <a:ext cx="5385300" cy="403200"/>
          </a:xfrm>
          <a:prstGeom prst="rect">
            <a:avLst/>
          </a:prstGeom>
          <a:noFill/>
          <a:ln>
            <a:noFill/>
          </a:ln>
        </p:spPr>
        <p:txBody>
          <a:bodyPr spcFirstLastPara="1" wrap="square" lIns="0" tIns="0" rIns="0" bIns="0" anchor="t" anchorCtr="0">
            <a:spAutoFit/>
          </a:bodyPr>
          <a:lstStyle/>
          <a:p>
            <a:pPr marL="0" marR="0" lvl="0" indent="0" algn="l" rtl="0">
              <a:lnSpc>
                <a:spcPct val="125010"/>
              </a:lnSpc>
              <a:spcBef>
                <a:spcPts val="0"/>
              </a:spcBef>
              <a:spcAft>
                <a:spcPts val="0"/>
              </a:spcAft>
              <a:buNone/>
            </a:pPr>
            <a:r>
              <a:rPr lang="en-US" sz="2499" b="0" i="0" u="none" strike="noStrike" cap="none">
                <a:solidFill>
                  <a:srgbClr val="3C3939"/>
                </a:solidFill>
                <a:latin typeface="Raleway"/>
                <a:ea typeface="Raleway"/>
                <a:cs typeface="Raleway"/>
                <a:sym typeface="Raleway"/>
              </a:rPr>
              <a:t>Self-Healing for AI Systems</a:t>
            </a:r>
            <a:endParaRPr/>
          </a:p>
        </p:txBody>
      </p:sp>
      <p:sp>
        <p:nvSpPr>
          <p:cNvPr id="389" name="Google Shape;389;p29"/>
          <p:cNvSpPr txBox="1"/>
          <p:nvPr/>
        </p:nvSpPr>
        <p:spPr>
          <a:xfrm>
            <a:off x="2438995" y="8768060"/>
            <a:ext cx="14950500" cy="399900"/>
          </a:xfrm>
          <a:prstGeom prst="rect">
            <a:avLst/>
          </a:prstGeom>
          <a:noFill/>
          <a:ln>
            <a:noFill/>
          </a:ln>
        </p:spPr>
        <p:txBody>
          <a:bodyPr spcFirstLastPara="1" wrap="square" lIns="0" tIns="0" rIns="0" bIns="0" anchor="t" anchorCtr="0">
            <a:spAutoFit/>
          </a:bodyPr>
          <a:lstStyle/>
          <a:p>
            <a:pPr marL="0" marR="0" lvl="0" indent="0" algn="l" rtl="0">
              <a:lnSpc>
                <a:spcPct val="159333"/>
              </a:lnSpc>
              <a:spcBef>
                <a:spcPts val="0"/>
              </a:spcBef>
              <a:spcAft>
                <a:spcPts val="0"/>
              </a:spcAft>
              <a:buNone/>
            </a:pPr>
            <a:r>
              <a:rPr lang="en-US" sz="2100" b="0" i="0" u="none" strike="noStrike" cap="none">
                <a:solidFill>
                  <a:srgbClr val="3C3939"/>
                </a:solidFill>
                <a:latin typeface="Roboto"/>
                <a:ea typeface="Roboto"/>
                <a:cs typeface="Roboto"/>
                <a:sym typeface="Roboto"/>
              </a:rPr>
              <a:t>A meta-level approach where AI monitors, diagnoses, and repairs other AI/ML models running in production.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30"/>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ECECF3"/>
          </a:solidFill>
          <a:ln>
            <a:noFill/>
          </a:ln>
        </p:spPr>
      </p:sp>
      <p:sp>
        <p:nvSpPr>
          <p:cNvPr id="392" name="Google Shape;392;p30"/>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FFFFF">
              <a:alpha val="89800"/>
            </a:srgbClr>
          </a:solidFill>
          <a:ln>
            <a:noFill/>
          </a:ln>
        </p:spPr>
      </p:sp>
      <p:sp>
        <p:nvSpPr>
          <p:cNvPr id="393" name="Google Shape;393;p30"/>
          <p:cNvSpPr txBox="1"/>
          <p:nvPr/>
        </p:nvSpPr>
        <p:spPr>
          <a:xfrm>
            <a:off x="992238" y="638621"/>
            <a:ext cx="11857500" cy="914400"/>
          </a:xfrm>
          <a:prstGeom prst="rect">
            <a:avLst/>
          </a:prstGeom>
          <a:noFill/>
          <a:ln>
            <a:noFill/>
          </a:ln>
        </p:spPr>
        <p:txBody>
          <a:bodyPr spcFirstLastPara="1" wrap="square" lIns="0" tIns="0" rIns="0" bIns="0" anchor="t" anchorCtr="0">
            <a:spAutoFit/>
          </a:bodyPr>
          <a:lstStyle/>
          <a:p>
            <a:pPr marL="0" marR="0" lvl="0" indent="0" algn="l" rtl="0">
              <a:lnSpc>
                <a:spcPct val="124721"/>
              </a:lnSpc>
              <a:spcBef>
                <a:spcPts val="0"/>
              </a:spcBef>
              <a:spcAft>
                <a:spcPts val="0"/>
              </a:spcAft>
              <a:buNone/>
            </a:pPr>
            <a:r>
              <a:rPr lang="en-US" sz="5562" b="0" i="0" u="none" strike="noStrike" cap="none">
                <a:solidFill>
                  <a:srgbClr val="1B1B27"/>
                </a:solidFill>
                <a:latin typeface="Raleway"/>
                <a:ea typeface="Raleway"/>
                <a:cs typeface="Raleway"/>
                <a:sym typeface="Raleway"/>
              </a:rPr>
              <a:t>Future Spotlight: Explainable AI (XAI)</a:t>
            </a:r>
            <a:endParaRPr/>
          </a:p>
        </p:txBody>
      </p:sp>
      <p:sp>
        <p:nvSpPr>
          <p:cNvPr id="394" name="Google Shape;394;p30"/>
          <p:cNvSpPr txBox="1"/>
          <p:nvPr/>
        </p:nvSpPr>
        <p:spPr>
          <a:xfrm>
            <a:off x="992237" y="2677120"/>
            <a:ext cx="16303500" cy="447000"/>
          </a:xfrm>
          <a:prstGeom prst="rect">
            <a:avLst/>
          </a:prstGeom>
          <a:noFill/>
          <a:ln>
            <a:noFill/>
          </a:ln>
        </p:spPr>
        <p:txBody>
          <a:bodyPr spcFirstLastPara="1" wrap="square" lIns="0" tIns="0" rIns="0" bIns="0" anchor="t" anchorCtr="0">
            <a:spAutoFit/>
          </a:bodyPr>
          <a:lstStyle/>
          <a:p>
            <a:pPr marL="0" marR="0" lvl="0" indent="0" algn="l" rtl="0">
              <a:lnSpc>
                <a:spcPct val="162877"/>
              </a:lnSpc>
              <a:spcBef>
                <a:spcPts val="0"/>
              </a:spcBef>
              <a:spcAft>
                <a:spcPts val="0"/>
              </a:spcAft>
              <a:buNone/>
            </a:pPr>
            <a:r>
              <a:rPr lang="en-US" sz="2287" b="0" i="0" u="none" strike="noStrike" cap="none">
                <a:solidFill>
                  <a:srgbClr val="3C3939"/>
                </a:solidFill>
                <a:latin typeface="Roboto"/>
                <a:ea typeface="Roboto"/>
                <a:cs typeface="Roboto"/>
                <a:sym typeface="Roboto"/>
              </a:rPr>
              <a:t>XAI is critical for building trust and enabling broader adoption of AI-driven self-healing solutions.</a:t>
            </a:r>
            <a:endParaRPr/>
          </a:p>
        </p:txBody>
      </p:sp>
      <p:grpSp>
        <p:nvGrpSpPr>
          <p:cNvPr id="395" name="Google Shape;395;p30"/>
          <p:cNvGrpSpPr/>
          <p:nvPr/>
        </p:nvGrpSpPr>
        <p:grpSpPr>
          <a:xfrm>
            <a:off x="987475" y="3549700"/>
            <a:ext cx="8019384" cy="2569464"/>
            <a:chOff x="0" y="0"/>
            <a:chExt cx="10692512" cy="3425952"/>
          </a:xfrm>
        </p:grpSpPr>
        <p:sp>
          <p:nvSpPr>
            <p:cNvPr id="396" name="Google Shape;396;p30"/>
            <p:cNvSpPr/>
            <p:nvPr/>
          </p:nvSpPr>
          <p:spPr>
            <a:xfrm>
              <a:off x="6350" y="6350"/>
              <a:ext cx="10679812" cy="3413252"/>
            </a:xfrm>
            <a:custGeom>
              <a:avLst/>
              <a:gdLst/>
              <a:ahLst/>
              <a:cxnLst/>
              <a:rect l="l" t="t" r="r" b="b"/>
              <a:pathLst>
                <a:path w="10679812" h="3413252" extrusionOk="0">
                  <a:moveTo>
                    <a:pt x="0" y="158750"/>
                  </a:moveTo>
                  <a:cubicBezTo>
                    <a:pt x="0" y="71120"/>
                    <a:pt x="71247" y="0"/>
                    <a:pt x="159131" y="0"/>
                  </a:cubicBezTo>
                  <a:lnTo>
                    <a:pt x="10520680" y="0"/>
                  </a:lnTo>
                  <a:cubicBezTo>
                    <a:pt x="10608564" y="0"/>
                    <a:pt x="10679812" y="71120"/>
                    <a:pt x="10679812" y="158750"/>
                  </a:cubicBezTo>
                  <a:lnTo>
                    <a:pt x="10679812" y="3254502"/>
                  </a:lnTo>
                  <a:cubicBezTo>
                    <a:pt x="10679812" y="3342259"/>
                    <a:pt x="10608564" y="3413252"/>
                    <a:pt x="10520680" y="3413252"/>
                  </a:cubicBezTo>
                  <a:lnTo>
                    <a:pt x="159131" y="3413252"/>
                  </a:lnTo>
                  <a:cubicBezTo>
                    <a:pt x="71247" y="3413252"/>
                    <a:pt x="0" y="3342132"/>
                    <a:pt x="0" y="3254502"/>
                  </a:cubicBezTo>
                  <a:close/>
                </a:path>
              </a:pathLst>
            </a:custGeom>
            <a:solidFill>
              <a:srgbClr val="E1E1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0"/>
            <p:cNvSpPr/>
            <p:nvPr/>
          </p:nvSpPr>
          <p:spPr>
            <a:xfrm>
              <a:off x="0" y="0"/>
              <a:ext cx="10692512" cy="3425952"/>
            </a:xfrm>
            <a:custGeom>
              <a:avLst/>
              <a:gdLst/>
              <a:ahLst/>
              <a:cxnLst/>
              <a:rect l="l" t="t" r="r" b="b"/>
              <a:pathLst>
                <a:path w="10692512" h="3425952" extrusionOk="0">
                  <a:moveTo>
                    <a:pt x="0" y="165100"/>
                  </a:moveTo>
                  <a:cubicBezTo>
                    <a:pt x="0" y="73914"/>
                    <a:pt x="74168" y="0"/>
                    <a:pt x="165481" y="0"/>
                  </a:cubicBezTo>
                  <a:lnTo>
                    <a:pt x="10527030" y="0"/>
                  </a:lnTo>
                  <a:lnTo>
                    <a:pt x="10527030" y="6350"/>
                  </a:lnTo>
                  <a:lnTo>
                    <a:pt x="10527030" y="0"/>
                  </a:lnTo>
                  <a:cubicBezTo>
                    <a:pt x="10618470" y="0"/>
                    <a:pt x="10692512" y="73914"/>
                    <a:pt x="10692512" y="165100"/>
                  </a:cubicBezTo>
                  <a:lnTo>
                    <a:pt x="10686162" y="165100"/>
                  </a:lnTo>
                  <a:lnTo>
                    <a:pt x="10692512" y="165100"/>
                  </a:lnTo>
                  <a:lnTo>
                    <a:pt x="10692512" y="3260852"/>
                  </a:lnTo>
                  <a:lnTo>
                    <a:pt x="10686162" y="3260852"/>
                  </a:lnTo>
                  <a:lnTo>
                    <a:pt x="10692512" y="3260852"/>
                  </a:lnTo>
                  <a:cubicBezTo>
                    <a:pt x="10692512" y="3352038"/>
                    <a:pt x="10618343" y="3425952"/>
                    <a:pt x="10527030" y="3425952"/>
                  </a:cubicBezTo>
                  <a:lnTo>
                    <a:pt x="10527030" y="3419602"/>
                  </a:lnTo>
                  <a:lnTo>
                    <a:pt x="10527030" y="3425952"/>
                  </a:lnTo>
                  <a:lnTo>
                    <a:pt x="165481" y="3425952"/>
                  </a:lnTo>
                  <a:lnTo>
                    <a:pt x="165481" y="3419602"/>
                  </a:lnTo>
                  <a:lnTo>
                    <a:pt x="165481" y="3425952"/>
                  </a:lnTo>
                  <a:cubicBezTo>
                    <a:pt x="74041" y="3425952"/>
                    <a:pt x="0" y="3352038"/>
                    <a:pt x="0" y="3260852"/>
                  </a:cubicBezTo>
                  <a:lnTo>
                    <a:pt x="0" y="165100"/>
                  </a:lnTo>
                  <a:lnTo>
                    <a:pt x="6350" y="165100"/>
                  </a:lnTo>
                  <a:lnTo>
                    <a:pt x="0" y="165100"/>
                  </a:lnTo>
                  <a:moveTo>
                    <a:pt x="12700" y="165100"/>
                  </a:moveTo>
                  <a:lnTo>
                    <a:pt x="12700" y="3260852"/>
                  </a:lnTo>
                  <a:lnTo>
                    <a:pt x="6350" y="3260852"/>
                  </a:lnTo>
                  <a:lnTo>
                    <a:pt x="12700" y="3260852"/>
                  </a:lnTo>
                  <a:cubicBezTo>
                    <a:pt x="12700" y="3345053"/>
                    <a:pt x="81153" y="3413252"/>
                    <a:pt x="165481" y="3413252"/>
                  </a:cubicBezTo>
                  <a:lnTo>
                    <a:pt x="10527030" y="3413252"/>
                  </a:lnTo>
                  <a:cubicBezTo>
                    <a:pt x="10611486" y="3413252"/>
                    <a:pt x="10679812" y="3344926"/>
                    <a:pt x="10679812" y="3260852"/>
                  </a:cubicBezTo>
                  <a:lnTo>
                    <a:pt x="10679812" y="165100"/>
                  </a:lnTo>
                  <a:cubicBezTo>
                    <a:pt x="10679812" y="80899"/>
                    <a:pt x="10611358" y="12700"/>
                    <a:pt x="10527030" y="12700"/>
                  </a:cubicBezTo>
                  <a:lnTo>
                    <a:pt x="165481" y="12700"/>
                  </a:lnTo>
                  <a:lnTo>
                    <a:pt x="165481" y="6350"/>
                  </a:lnTo>
                  <a:lnTo>
                    <a:pt x="165481" y="12700"/>
                  </a:lnTo>
                  <a:cubicBezTo>
                    <a:pt x="81153" y="12700"/>
                    <a:pt x="12700" y="81026"/>
                    <a:pt x="12700" y="165100"/>
                  </a:cubicBezTo>
                  <a:close/>
                </a:path>
              </a:pathLst>
            </a:custGeom>
            <a:solidFill>
              <a:srgbClr val="C7C7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8" name="Google Shape;398;p30"/>
          <p:cNvSpPr txBox="1"/>
          <p:nvPr/>
        </p:nvSpPr>
        <p:spPr>
          <a:xfrm>
            <a:off x="1285280" y="3818930"/>
            <a:ext cx="44895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The Problem: "Black Box" AI</a:t>
            </a:r>
            <a:endParaRPr/>
          </a:p>
        </p:txBody>
      </p:sp>
      <p:sp>
        <p:nvSpPr>
          <p:cNvPr id="399" name="Google Shape;399;p30"/>
          <p:cNvSpPr txBox="1"/>
          <p:nvPr/>
        </p:nvSpPr>
        <p:spPr>
          <a:xfrm>
            <a:off x="1285280" y="4365277"/>
            <a:ext cx="7423800" cy="14562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The opaque nature of complex AI models hinders adoption. Developers need to understand and trust AI's reasoning before deploying fixes in critical systems.</a:t>
            </a:r>
            <a:endParaRPr/>
          </a:p>
        </p:txBody>
      </p:sp>
      <p:grpSp>
        <p:nvGrpSpPr>
          <p:cNvPr id="400" name="Google Shape;400;p30"/>
          <p:cNvGrpSpPr/>
          <p:nvPr/>
        </p:nvGrpSpPr>
        <p:grpSpPr>
          <a:xfrm>
            <a:off x="9280922" y="3549700"/>
            <a:ext cx="8019574" cy="2569464"/>
            <a:chOff x="0" y="0"/>
            <a:chExt cx="10692765" cy="3425952"/>
          </a:xfrm>
        </p:grpSpPr>
        <p:sp>
          <p:nvSpPr>
            <p:cNvPr id="401" name="Google Shape;401;p30"/>
            <p:cNvSpPr/>
            <p:nvPr/>
          </p:nvSpPr>
          <p:spPr>
            <a:xfrm>
              <a:off x="6350" y="6350"/>
              <a:ext cx="10680065" cy="3413252"/>
            </a:xfrm>
            <a:custGeom>
              <a:avLst/>
              <a:gdLst/>
              <a:ahLst/>
              <a:cxnLst/>
              <a:rect l="l" t="t" r="r" b="b"/>
              <a:pathLst>
                <a:path w="10680065" h="3413252" extrusionOk="0">
                  <a:moveTo>
                    <a:pt x="0" y="158750"/>
                  </a:moveTo>
                  <a:cubicBezTo>
                    <a:pt x="0" y="71120"/>
                    <a:pt x="71247" y="0"/>
                    <a:pt x="159131" y="0"/>
                  </a:cubicBezTo>
                  <a:lnTo>
                    <a:pt x="10520934" y="0"/>
                  </a:lnTo>
                  <a:cubicBezTo>
                    <a:pt x="10608818" y="0"/>
                    <a:pt x="10680065" y="71120"/>
                    <a:pt x="10680065" y="158750"/>
                  </a:cubicBezTo>
                  <a:lnTo>
                    <a:pt x="10680065" y="3254502"/>
                  </a:lnTo>
                  <a:cubicBezTo>
                    <a:pt x="10680065" y="3342259"/>
                    <a:pt x="10608818" y="3413252"/>
                    <a:pt x="10520934" y="3413252"/>
                  </a:cubicBezTo>
                  <a:lnTo>
                    <a:pt x="159131" y="3413252"/>
                  </a:lnTo>
                  <a:cubicBezTo>
                    <a:pt x="71247" y="3413252"/>
                    <a:pt x="0" y="3342132"/>
                    <a:pt x="0" y="3254502"/>
                  </a:cubicBezTo>
                  <a:close/>
                </a:path>
              </a:pathLst>
            </a:custGeom>
            <a:solidFill>
              <a:srgbClr val="E1E1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0"/>
            <p:cNvSpPr/>
            <p:nvPr/>
          </p:nvSpPr>
          <p:spPr>
            <a:xfrm>
              <a:off x="0" y="0"/>
              <a:ext cx="10692765" cy="3425952"/>
            </a:xfrm>
            <a:custGeom>
              <a:avLst/>
              <a:gdLst/>
              <a:ahLst/>
              <a:cxnLst/>
              <a:rect l="l" t="t" r="r" b="b"/>
              <a:pathLst>
                <a:path w="10692765" h="3425952" extrusionOk="0">
                  <a:moveTo>
                    <a:pt x="0" y="165100"/>
                  </a:moveTo>
                  <a:cubicBezTo>
                    <a:pt x="0" y="73914"/>
                    <a:pt x="74168" y="0"/>
                    <a:pt x="165481" y="0"/>
                  </a:cubicBezTo>
                  <a:lnTo>
                    <a:pt x="10527284" y="0"/>
                  </a:lnTo>
                  <a:lnTo>
                    <a:pt x="10527284" y="6350"/>
                  </a:lnTo>
                  <a:lnTo>
                    <a:pt x="10527284" y="0"/>
                  </a:lnTo>
                  <a:cubicBezTo>
                    <a:pt x="10618724" y="0"/>
                    <a:pt x="10692765" y="73914"/>
                    <a:pt x="10692765" y="165100"/>
                  </a:cubicBezTo>
                  <a:lnTo>
                    <a:pt x="10686415" y="165100"/>
                  </a:lnTo>
                  <a:lnTo>
                    <a:pt x="10692765" y="165100"/>
                  </a:lnTo>
                  <a:lnTo>
                    <a:pt x="10692765" y="3260852"/>
                  </a:lnTo>
                  <a:lnTo>
                    <a:pt x="10686415" y="3260852"/>
                  </a:lnTo>
                  <a:lnTo>
                    <a:pt x="10692765" y="3260852"/>
                  </a:lnTo>
                  <a:cubicBezTo>
                    <a:pt x="10692765" y="3352038"/>
                    <a:pt x="10618597" y="3425952"/>
                    <a:pt x="10527284" y="3425952"/>
                  </a:cubicBezTo>
                  <a:lnTo>
                    <a:pt x="10527284" y="3419602"/>
                  </a:lnTo>
                  <a:lnTo>
                    <a:pt x="10527284" y="3425952"/>
                  </a:lnTo>
                  <a:lnTo>
                    <a:pt x="165481" y="3425952"/>
                  </a:lnTo>
                  <a:lnTo>
                    <a:pt x="165481" y="3419602"/>
                  </a:lnTo>
                  <a:lnTo>
                    <a:pt x="165481" y="3425952"/>
                  </a:lnTo>
                  <a:cubicBezTo>
                    <a:pt x="74041" y="3425952"/>
                    <a:pt x="0" y="3352038"/>
                    <a:pt x="0" y="3260852"/>
                  </a:cubicBezTo>
                  <a:lnTo>
                    <a:pt x="0" y="165100"/>
                  </a:lnTo>
                  <a:lnTo>
                    <a:pt x="6350" y="165100"/>
                  </a:lnTo>
                  <a:lnTo>
                    <a:pt x="0" y="165100"/>
                  </a:lnTo>
                  <a:moveTo>
                    <a:pt x="12700" y="165100"/>
                  </a:moveTo>
                  <a:lnTo>
                    <a:pt x="12700" y="3260852"/>
                  </a:lnTo>
                  <a:lnTo>
                    <a:pt x="6350" y="3260852"/>
                  </a:lnTo>
                  <a:lnTo>
                    <a:pt x="12700" y="3260852"/>
                  </a:lnTo>
                  <a:cubicBezTo>
                    <a:pt x="12700" y="3345053"/>
                    <a:pt x="81153" y="3413252"/>
                    <a:pt x="165481" y="3413252"/>
                  </a:cubicBezTo>
                  <a:lnTo>
                    <a:pt x="10527284" y="3413252"/>
                  </a:lnTo>
                  <a:cubicBezTo>
                    <a:pt x="10611739" y="3413252"/>
                    <a:pt x="10680065" y="3344926"/>
                    <a:pt x="10680065" y="3260852"/>
                  </a:cubicBezTo>
                  <a:lnTo>
                    <a:pt x="10680065" y="165100"/>
                  </a:lnTo>
                  <a:cubicBezTo>
                    <a:pt x="10680065" y="80899"/>
                    <a:pt x="10611612" y="12700"/>
                    <a:pt x="10527284" y="12700"/>
                  </a:cubicBezTo>
                  <a:lnTo>
                    <a:pt x="165481" y="12700"/>
                  </a:lnTo>
                  <a:lnTo>
                    <a:pt x="165481" y="6350"/>
                  </a:lnTo>
                  <a:lnTo>
                    <a:pt x="165481" y="12700"/>
                  </a:lnTo>
                  <a:cubicBezTo>
                    <a:pt x="81153" y="12700"/>
                    <a:pt x="12700" y="81026"/>
                    <a:pt x="12700" y="165100"/>
                  </a:cubicBezTo>
                  <a:close/>
                </a:path>
              </a:pathLst>
            </a:custGeom>
            <a:solidFill>
              <a:srgbClr val="C7C7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3" name="Google Shape;403;p30"/>
          <p:cNvSpPr txBox="1"/>
          <p:nvPr/>
        </p:nvSpPr>
        <p:spPr>
          <a:xfrm>
            <a:off x="9578728" y="3818930"/>
            <a:ext cx="35439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The Solution: XAI</a:t>
            </a:r>
            <a:endParaRPr/>
          </a:p>
        </p:txBody>
      </p:sp>
      <p:sp>
        <p:nvSpPr>
          <p:cNvPr id="404" name="Google Shape;404;p30"/>
          <p:cNvSpPr txBox="1"/>
          <p:nvPr/>
        </p:nvSpPr>
        <p:spPr>
          <a:xfrm>
            <a:off x="9578728" y="4365277"/>
            <a:ext cx="7424100" cy="10026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XAI provides human-understandable explanations for AI outputs, making its decision-making process transparent.</a:t>
            </a:r>
            <a:endParaRPr/>
          </a:p>
        </p:txBody>
      </p:sp>
      <p:grpSp>
        <p:nvGrpSpPr>
          <p:cNvPr id="405" name="Google Shape;405;p30"/>
          <p:cNvGrpSpPr/>
          <p:nvPr/>
        </p:nvGrpSpPr>
        <p:grpSpPr>
          <a:xfrm>
            <a:off x="987475" y="6393210"/>
            <a:ext cx="8019384" cy="2569464"/>
            <a:chOff x="0" y="0"/>
            <a:chExt cx="10692512" cy="3425952"/>
          </a:xfrm>
        </p:grpSpPr>
        <p:sp>
          <p:nvSpPr>
            <p:cNvPr id="406" name="Google Shape;406;p30"/>
            <p:cNvSpPr/>
            <p:nvPr/>
          </p:nvSpPr>
          <p:spPr>
            <a:xfrm>
              <a:off x="6350" y="6350"/>
              <a:ext cx="10679812" cy="3413252"/>
            </a:xfrm>
            <a:custGeom>
              <a:avLst/>
              <a:gdLst/>
              <a:ahLst/>
              <a:cxnLst/>
              <a:rect l="l" t="t" r="r" b="b"/>
              <a:pathLst>
                <a:path w="10679812" h="3413252" extrusionOk="0">
                  <a:moveTo>
                    <a:pt x="0" y="158750"/>
                  </a:moveTo>
                  <a:cubicBezTo>
                    <a:pt x="0" y="71120"/>
                    <a:pt x="71247" y="0"/>
                    <a:pt x="159131" y="0"/>
                  </a:cubicBezTo>
                  <a:lnTo>
                    <a:pt x="10520680" y="0"/>
                  </a:lnTo>
                  <a:cubicBezTo>
                    <a:pt x="10608564" y="0"/>
                    <a:pt x="10679812" y="71120"/>
                    <a:pt x="10679812" y="158750"/>
                  </a:cubicBezTo>
                  <a:lnTo>
                    <a:pt x="10679812" y="3254502"/>
                  </a:lnTo>
                  <a:cubicBezTo>
                    <a:pt x="10679812" y="3342259"/>
                    <a:pt x="10608564" y="3413252"/>
                    <a:pt x="10520680" y="3413252"/>
                  </a:cubicBezTo>
                  <a:lnTo>
                    <a:pt x="159131" y="3413252"/>
                  </a:lnTo>
                  <a:cubicBezTo>
                    <a:pt x="71247" y="3413252"/>
                    <a:pt x="0" y="3342132"/>
                    <a:pt x="0" y="3254502"/>
                  </a:cubicBezTo>
                  <a:close/>
                </a:path>
              </a:pathLst>
            </a:custGeom>
            <a:solidFill>
              <a:srgbClr val="E1E1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0"/>
            <p:cNvSpPr/>
            <p:nvPr/>
          </p:nvSpPr>
          <p:spPr>
            <a:xfrm>
              <a:off x="0" y="0"/>
              <a:ext cx="10692512" cy="3425952"/>
            </a:xfrm>
            <a:custGeom>
              <a:avLst/>
              <a:gdLst/>
              <a:ahLst/>
              <a:cxnLst/>
              <a:rect l="l" t="t" r="r" b="b"/>
              <a:pathLst>
                <a:path w="10692512" h="3425952" extrusionOk="0">
                  <a:moveTo>
                    <a:pt x="0" y="165100"/>
                  </a:moveTo>
                  <a:cubicBezTo>
                    <a:pt x="0" y="73914"/>
                    <a:pt x="74168" y="0"/>
                    <a:pt x="165481" y="0"/>
                  </a:cubicBezTo>
                  <a:lnTo>
                    <a:pt x="10527030" y="0"/>
                  </a:lnTo>
                  <a:lnTo>
                    <a:pt x="10527030" y="6350"/>
                  </a:lnTo>
                  <a:lnTo>
                    <a:pt x="10527030" y="0"/>
                  </a:lnTo>
                  <a:cubicBezTo>
                    <a:pt x="10618470" y="0"/>
                    <a:pt x="10692512" y="73914"/>
                    <a:pt x="10692512" y="165100"/>
                  </a:cubicBezTo>
                  <a:lnTo>
                    <a:pt x="10686162" y="165100"/>
                  </a:lnTo>
                  <a:lnTo>
                    <a:pt x="10692512" y="165100"/>
                  </a:lnTo>
                  <a:lnTo>
                    <a:pt x="10692512" y="3260852"/>
                  </a:lnTo>
                  <a:lnTo>
                    <a:pt x="10686162" y="3260852"/>
                  </a:lnTo>
                  <a:lnTo>
                    <a:pt x="10692512" y="3260852"/>
                  </a:lnTo>
                  <a:cubicBezTo>
                    <a:pt x="10692512" y="3352038"/>
                    <a:pt x="10618343" y="3425952"/>
                    <a:pt x="10527030" y="3425952"/>
                  </a:cubicBezTo>
                  <a:lnTo>
                    <a:pt x="10527030" y="3419602"/>
                  </a:lnTo>
                  <a:lnTo>
                    <a:pt x="10527030" y="3425952"/>
                  </a:lnTo>
                  <a:lnTo>
                    <a:pt x="165481" y="3425952"/>
                  </a:lnTo>
                  <a:lnTo>
                    <a:pt x="165481" y="3419602"/>
                  </a:lnTo>
                  <a:lnTo>
                    <a:pt x="165481" y="3425952"/>
                  </a:lnTo>
                  <a:cubicBezTo>
                    <a:pt x="74041" y="3425952"/>
                    <a:pt x="0" y="3352038"/>
                    <a:pt x="0" y="3260852"/>
                  </a:cubicBezTo>
                  <a:lnTo>
                    <a:pt x="0" y="165100"/>
                  </a:lnTo>
                  <a:lnTo>
                    <a:pt x="6350" y="165100"/>
                  </a:lnTo>
                  <a:lnTo>
                    <a:pt x="0" y="165100"/>
                  </a:lnTo>
                  <a:moveTo>
                    <a:pt x="12700" y="165100"/>
                  </a:moveTo>
                  <a:lnTo>
                    <a:pt x="12700" y="3260852"/>
                  </a:lnTo>
                  <a:lnTo>
                    <a:pt x="6350" y="3260852"/>
                  </a:lnTo>
                  <a:lnTo>
                    <a:pt x="12700" y="3260852"/>
                  </a:lnTo>
                  <a:cubicBezTo>
                    <a:pt x="12700" y="3345053"/>
                    <a:pt x="81153" y="3413252"/>
                    <a:pt x="165481" y="3413252"/>
                  </a:cubicBezTo>
                  <a:lnTo>
                    <a:pt x="10527030" y="3413252"/>
                  </a:lnTo>
                  <a:cubicBezTo>
                    <a:pt x="10611486" y="3413252"/>
                    <a:pt x="10679812" y="3344926"/>
                    <a:pt x="10679812" y="3260852"/>
                  </a:cubicBezTo>
                  <a:lnTo>
                    <a:pt x="10679812" y="165100"/>
                  </a:lnTo>
                  <a:cubicBezTo>
                    <a:pt x="10679812" y="80899"/>
                    <a:pt x="10611358" y="12700"/>
                    <a:pt x="10527030" y="12700"/>
                  </a:cubicBezTo>
                  <a:lnTo>
                    <a:pt x="165481" y="12700"/>
                  </a:lnTo>
                  <a:lnTo>
                    <a:pt x="165481" y="6350"/>
                  </a:lnTo>
                  <a:lnTo>
                    <a:pt x="165481" y="12700"/>
                  </a:lnTo>
                  <a:cubicBezTo>
                    <a:pt x="81153" y="12700"/>
                    <a:pt x="12700" y="81026"/>
                    <a:pt x="12700" y="165100"/>
                  </a:cubicBezTo>
                  <a:close/>
                </a:path>
              </a:pathLst>
            </a:custGeom>
            <a:solidFill>
              <a:srgbClr val="C7C7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8" name="Google Shape;408;p30"/>
          <p:cNvSpPr txBox="1"/>
          <p:nvPr/>
        </p:nvSpPr>
        <p:spPr>
          <a:xfrm>
            <a:off x="1285280" y="6662440"/>
            <a:ext cx="35439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Application Example</a:t>
            </a:r>
            <a:endParaRPr/>
          </a:p>
        </p:txBody>
      </p:sp>
      <p:sp>
        <p:nvSpPr>
          <p:cNvPr id="409" name="Google Shape;409;p30"/>
          <p:cNvSpPr txBox="1"/>
          <p:nvPr/>
        </p:nvSpPr>
        <p:spPr>
          <a:xfrm>
            <a:off x="1285280" y="7208787"/>
            <a:ext cx="7423800" cy="14562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Instead of just applying a patch, the system would explain: "This patch adds a null check because a null pointer exception was detected in 75% of recent failures."</a:t>
            </a:r>
            <a:endParaRPr/>
          </a:p>
        </p:txBody>
      </p:sp>
      <p:grpSp>
        <p:nvGrpSpPr>
          <p:cNvPr id="410" name="Google Shape;410;p30"/>
          <p:cNvGrpSpPr/>
          <p:nvPr/>
        </p:nvGrpSpPr>
        <p:grpSpPr>
          <a:xfrm>
            <a:off x="9280922" y="6393210"/>
            <a:ext cx="8019574" cy="2569464"/>
            <a:chOff x="0" y="0"/>
            <a:chExt cx="10692765" cy="3425952"/>
          </a:xfrm>
        </p:grpSpPr>
        <p:sp>
          <p:nvSpPr>
            <p:cNvPr id="411" name="Google Shape;411;p30"/>
            <p:cNvSpPr/>
            <p:nvPr/>
          </p:nvSpPr>
          <p:spPr>
            <a:xfrm>
              <a:off x="6350" y="6350"/>
              <a:ext cx="10680065" cy="3413252"/>
            </a:xfrm>
            <a:custGeom>
              <a:avLst/>
              <a:gdLst/>
              <a:ahLst/>
              <a:cxnLst/>
              <a:rect l="l" t="t" r="r" b="b"/>
              <a:pathLst>
                <a:path w="10680065" h="3413252" extrusionOk="0">
                  <a:moveTo>
                    <a:pt x="0" y="158750"/>
                  </a:moveTo>
                  <a:cubicBezTo>
                    <a:pt x="0" y="71120"/>
                    <a:pt x="71247" y="0"/>
                    <a:pt x="159131" y="0"/>
                  </a:cubicBezTo>
                  <a:lnTo>
                    <a:pt x="10520934" y="0"/>
                  </a:lnTo>
                  <a:cubicBezTo>
                    <a:pt x="10608818" y="0"/>
                    <a:pt x="10680065" y="71120"/>
                    <a:pt x="10680065" y="158750"/>
                  </a:cubicBezTo>
                  <a:lnTo>
                    <a:pt x="10680065" y="3254502"/>
                  </a:lnTo>
                  <a:cubicBezTo>
                    <a:pt x="10680065" y="3342259"/>
                    <a:pt x="10608818" y="3413252"/>
                    <a:pt x="10520934" y="3413252"/>
                  </a:cubicBezTo>
                  <a:lnTo>
                    <a:pt x="159131" y="3413252"/>
                  </a:lnTo>
                  <a:cubicBezTo>
                    <a:pt x="71247" y="3413252"/>
                    <a:pt x="0" y="3342132"/>
                    <a:pt x="0" y="3254502"/>
                  </a:cubicBezTo>
                  <a:close/>
                </a:path>
              </a:pathLst>
            </a:custGeom>
            <a:solidFill>
              <a:srgbClr val="E1E1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0"/>
            <p:cNvSpPr/>
            <p:nvPr/>
          </p:nvSpPr>
          <p:spPr>
            <a:xfrm>
              <a:off x="0" y="0"/>
              <a:ext cx="10692765" cy="3425952"/>
            </a:xfrm>
            <a:custGeom>
              <a:avLst/>
              <a:gdLst/>
              <a:ahLst/>
              <a:cxnLst/>
              <a:rect l="l" t="t" r="r" b="b"/>
              <a:pathLst>
                <a:path w="10692765" h="3425952" extrusionOk="0">
                  <a:moveTo>
                    <a:pt x="0" y="165100"/>
                  </a:moveTo>
                  <a:cubicBezTo>
                    <a:pt x="0" y="73914"/>
                    <a:pt x="74168" y="0"/>
                    <a:pt x="165481" y="0"/>
                  </a:cubicBezTo>
                  <a:lnTo>
                    <a:pt x="10527284" y="0"/>
                  </a:lnTo>
                  <a:lnTo>
                    <a:pt x="10527284" y="6350"/>
                  </a:lnTo>
                  <a:lnTo>
                    <a:pt x="10527284" y="0"/>
                  </a:lnTo>
                  <a:cubicBezTo>
                    <a:pt x="10618724" y="0"/>
                    <a:pt x="10692765" y="73914"/>
                    <a:pt x="10692765" y="165100"/>
                  </a:cubicBezTo>
                  <a:lnTo>
                    <a:pt x="10686415" y="165100"/>
                  </a:lnTo>
                  <a:lnTo>
                    <a:pt x="10692765" y="165100"/>
                  </a:lnTo>
                  <a:lnTo>
                    <a:pt x="10692765" y="3260852"/>
                  </a:lnTo>
                  <a:lnTo>
                    <a:pt x="10686415" y="3260852"/>
                  </a:lnTo>
                  <a:lnTo>
                    <a:pt x="10692765" y="3260852"/>
                  </a:lnTo>
                  <a:cubicBezTo>
                    <a:pt x="10692765" y="3352038"/>
                    <a:pt x="10618597" y="3425952"/>
                    <a:pt x="10527284" y="3425952"/>
                  </a:cubicBezTo>
                  <a:lnTo>
                    <a:pt x="10527284" y="3419602"/>
                  </a:lnTo>
                  <a:lnTo>
                    <a:pt x="10527284" y="3425952"/>
                  </a:lnTo>
                  <a:lnTo>
                    <a:pt x="165481" y="3425952"/>
                  </a:lnTo>
                  <a:lnTo>
                    <a:pt x="165481" y="3419602"/>
                  </a:lnTo>
                  <a:lnTo>
                    <a:pt x="165481" y="3425952"/>
                  </a:lnTo>
                  <a:cubicBezTo>
                    <a:pt x="74041" y="3425952"/>
                    <a:pt x="0" y="3352038"/>
                    <a:pt x="0" y="3260852"/>
                  </a:cubicBezTo>
                  <a:lnTo>
                    <a:pt x="0" y="165100"/>
                  </a:lnTo>
                  <a:lnTo>
                    <a:pt x="6350" y="165100"/>
                  </a:lnTo>
                  <a:lnTo>
                    <a:pt x="0" y="165100"/>
                  </a:lnTo>
                  <a:moveTo>
                    <a:pt x="12700" y="165100"/>
                  </a:moveTo>
                  <a:lnTo>
                    <a:pt x="12700" y="3260852"/>
                  </a:lnTo>
                  <a:lnTo>
                    <a:pt x="6350" y="3260852"/>
                  </a:lnTo>
                  <a:lnTo>
                    <a:pt x="12700" y="3260852"/>
                  </a:lnTo>
                  <a:cubicBezTo>
                    <a:pt x="12700" y="3345053"/>
                    <a:pt x="81153" y="3413252"/>
                    <a:pt x="165481" y="3413252"/>
                  </a:cubicBezTo>
                  <a:lnTo>
                    <a:pt x="10527284" y="3413252"/>
                  </a:lnTo>
                  <a:cubicBezTo>
                    <a:pt x="10611739" y="3413252"/>
                    <a:pt x="10680065" y="3344926"/>
                    <a:pt x="10680065" y="3260852"/>
                  </a:cubicBezTo>
                  <a:lnTo>
                    <a:pt x="10680065" y="165100"/>
                  </a:lnTo>
                  <a:cubicBezTo>
                    <a:pt x="10680065" y="80899"/>
                    <a:pt x="10611612" y="12700"/>
                    <a:pt x="10527284" y="12700"/>
                  </a:cubicBezTo>
                  <a:lnTo>
                    <a:pt x="165481" y="12700"/>
                  </a:lnTo>
                  <a:lnTo>
                    <a:pt x="165481" y="6350"/>
                  </a:lnTo>
                  <a:lnTo>
                    <a:pt x="165481" y="12700"/>
                  </a:lnTo>
                  <a:cubicBezTo>
                    <a:pt x="81153" y="12700"/>
                    <a:pt x="12700" y="81026"/>
                    <a:pt x="12700" y="165100"/>
                  </a:cubicBezTo>
                  <a:close/>
                </a:path>
              </a:pathLst>
            </a:custGeom>
            <a:solidFill>
              <a:srgbClr val="C7C7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3" name="Google Shape;413;p30"/>
          <p:cNvSpPr txBox="1"/>
          <p:nvPr/>
        </p:nvSpPr>
        <p:spPr>
          <a:xfrm>
            <a:off x="9578728" y="6662440"/>
            <a:ext cx="35439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Impact</a:t>
            </a:r>
            <a:endParaRPr/>
          </a:p>
        </p:txBody>
      </p:sp>
      <p:sp>
        <p:nvSpPr>
          <p:cNvPr id="414" name="Google Shape;414;p30"/>
          <p:cNvSpPr txBox="1"/>
          <p:nvPr/>
        </p:nvSpPr>
        <p:spPr>
          <a:xfrm>
            <a:off x="9578728" y="7208787"/>
            <a:ext cx="7424100" cy="14562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XAI builds developer trust, aids in debugging the healer, and provides clear audit trails essential for accountability and regulatory compliance.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31"/>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ECECF3"/>
          </a:solidFill>
          <a:ln>
            <a:noFill/>
          </a:ln>
        </p:spPr>
      </p:sp>
      <p:sp>
        <p:nvSpPr>
          <p:cNvPr id="417" name="Google Shape;417;p31"/>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FFFFF">
              <a:alpha val="89800"/>
            </a:srgbClr>
          </a:solidFill>
          <a:ln>
            <a:noFill/>
          </a:ln>
        </p:spPr>
      </p:sp>
      <p:sp>
        <p:nvSpPr>
          <p:cNvPr id="418" name="Google Shape;418;p31"/>
          <p:cNvSpPr txBox="1"/>
          <p:nvPr/>
        </p:nvSpPr>
        <p:spPr>
          <a:xfrm>
            <a:off x="954137" y="557138"/>
            <a:ext cx="16360741" cy="1069908"/>
          </a:xfrm>
          <a:prstGeom prst="rect">
            <a:avLst/>
          </a:prstGeom>
          <a:noFill/>
          <a:ln>
            <a:noFill/>
          </a:ln>
        </p:spPr>
        <p:txBody>
          <a:bodyPr spcFirstLastPara="1" wrap="square" lIns="0" tIns="0" rIns="0" bIns="0" anchor="t" anchorCtr="0">
            <a:spAutoFit/>
          </a:bodyPr>
          <a:lstStyle/>
          <a:p>
            <a:pPr marL="0" marR="0" lvl="0" indent="0" algn="l" rtl="0">
              <a:lnSpc>
                <a:spcPct val="124721"/>
              </a:lnSpc>
              <a:spcBef>
                <a:spcPts val="0"/>
              </a:spcBef>
              <a:spcAft>
                <a:spcPts val="0"/>
              </a:spcAft>
              <a:buNone/>
            </a:pPr>
            <a:r>
              <a:rPr lang="en-US" sz="5562" b="0" i="0" u="none" strike="noStrike" cap="none">
                <a:solidFill>
                  <a:srgbClr val="1B1B27"/>
                </a:solidFill>
                <a:latin typeface="Raleway"/>
                <a:ea typeface="Raleway"/>
                <a:cs typeface="Raleway"/>
                <a:sym typeface="Raleway"/>
              </a:rPr>
              <a:t>Conclusion: Towards Autonomous Software</a:t>
            </a:r>
            <a:endParaRPr/>
          </a:p>
        </p:txBody>
      </p:sp>
      <p:sp>
        <p:nvSpPr>
          <p:cNvPr id="419" name="Google Shape;419;p31"/>
          <p:cNvSpPr/>
          <p:nvPr/>
        </p:nvSpPr>
        <p:spPr>
          <a:xfrm>
            <a:off x="973188" y="2411611"/>
            <a:ext cx="8048054" cy="3108865"/>
          </a:xfrm>
          <a:custGeom>
            <a:avLst/>
            <a:gdLst/>
            <a:ahLst/>
            <a:cxnLst/>
            <a:rect l="l" t="t" r="r" b="b"/>
            <a:pathLst>
              <a:path w="10730738" h="4145153" extrusionOk="0">
                <a:moveTo>
                  <a:pt x="0" y="269240"/>
                </a:moveTo>
                <a:cubicBezTo>
                  <a:pt x="0" y="120396"/>
                  <a:pt x="121539" y="0"/>
                  <a:pt x="271145" y="0"/>
                </a:cubicBezTo>
                <a:lnTo>
                  <a:pt x="10459593" y="0"/>
                </a:lnTo>
                <a:lnTo>
                  <a:pt x="10459593" y="25400"/>
                </a:lnTo>
                <a:lnTo>
                  <a:pt x="10459593" y="0"/>
                </a:lnTo>
                <a:cubicBezTo>
                  <a:pt x="10609200" y="0"/>
                  <a:pt x="10730738" y="120396"/>
                  <a:pt x="10730738" y="269240"/>
                </a:cubicBezTo>
                <a:lnTo>
                  <a:pt x="10705338" y="269240"/>
                </a:lnTo>
                <a:lnTo>
                  <a:pt x="10730738" y="269240"/>
                </a:lnTo>
                <a:lnTo>
                  <a:pt x="10730738" y="3875913"/>
                </a:lnTo>
                <a:lnTo>
                  <a:pt x="10705338" y="3875913"/>
                </a:lnTo>
                <a:lnTo>
                  <a:pt x="10730738" y="3875913"/>
                </a:lnTo>
                <a:cubicBezTo>
                  <a:pt x="10730738" y="4024757"/>
                  <a:pt x="10609200" y="4145153"/>
                  <a:pt x="10459593" y="4145153"/>
                </a:cubicBezTo>
                <a:lnTo>
                  <a:pt x="10459593" y="4119753"/>
                </a:lnTo>
                <a:lnTo>
                  <a:pt x="10459593" y="4145153"/>
                </a:lnTo>
                <a:lnTo>
                  <a:pt x="271145" y="4145153"/>
                </a:lnTo>
                <a:lnTo>
                  <a:pt x="271145" y="4119753"/>
                </a:lnTo>
                <a:lnTo>
                  <a:pt x="271145" y="4145153"/>
                </a:lnTo>
                <a:cubicBezTo>
                  <a:pt x="121539" y="4145153"/>
                  <a:pt x="0" y="4024757"/>
                  <a:pt x="0" y="3875913"/>
                </a:cubicBezTo>
                <a:lnTo>
                  <a:pt x="0" y="269240"/>
                </a:lnTo>
                <a:lnTo>
                  <a:pt x="25400" y="269240"/>
                </a:lnTo>
                <a:lnTo>
                  <a:pt x="0" y="269240"/>
                </a:lnTo>
                <a:moveTo>
                  <a:pt x="50800" y="269240"/>
                </a:moveTo>
                <a:lnTo>
                  <a:pt x="50800" y="3875913"/>
                </a:lnTo>
                <a:lnTo>
                  <a:pt x="25400" y="3875913"/>
                </a:lnTo>
                <a:lnTo>
                  <a:pt x="50800" y="3875913"/>
                </a:lnTo>
                <a:cubicBezTo>
                  <a:pt x="50800" y="3996436"/>
                  <a:pt x="149225" y="4094353"/>
                  <a:pt x="271145" y="4094353"/>
                </a:cubicBezTo>
                <a:lnTo>
                  <a:pt x="10459593" y="4094353"/>
                </a:lnTo>
                <a:cubicBezTo>
                  <a:pt x="10581513" y="4094353"/>
                  <a:pt x="10679938" y="3996309"/>
                  <a:pt x="10679938" y="3875913"/>
                </a:cubicBezTo>
                <a:lnTo>
                  <a:pt x="10679938" y="269240"/>
                </a:lnTo>
                <a:cubicBezTo>
                  <a:pt x="10679938" y="148717"/>
                  <a:pt x="10581513" y="50800"/>
                  <a:pt x="10459593" y="50800"/>
                </a:cubicBezTo>
                <a:lnTo>
                  <a:pt x="271145" y="50800"/>
                </a:lnTo>
                <a:lnTo>
                  <a:pt x="271145" y="25400"/>
                </a:lnTo>
                <a:lnTo>
                  <a:pt x="271145" y="50800"/>
                </a:lnTo>
                <a:cubicBezTo>
                  <a:pt x="149225" y="50800"/>
                  <a:pt x="50800" y="148844"/>
                  <a:pt x="50800" y="269240"/>
                </a:cubicBezTo>
                <a:close/>
              </a:path>
            </a:pathLst>
          </a:custGeom>
          <a:solidFill>
            <a:srgbClr val="C7C7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1"/>
          <p:cNvSpPr/>
          <p:nvPr/>
        </p:nvSpPr>
        <p:spPr>
          <a:xfrm>
            <a:off x="954138" y="2430661"/>
            <a:ext cx="152400" cy="3070765"/>
          </a:xfrm>
          <a:custGeom>
            <a:avLst/>
            <a:gdLst/>
            <a:ahLst/>
            <a:cxnLst/>
            <a:rect l="l" t="t" r="r" b="b"/>
            <a:pathLst>
              <a:path w="203200" h="4094353" extrusionOk="0">
                <a:moveTo>
                  <a:pt x="0" y="101600"/>
                </a:moveTo>
                <a:cubicBezTo>
                  <a:pt x="0" y="45466"/>
                  <a:pt x="45466" y="0"/>
                  <a:pt x="101600" y="0"/>
                </a:cubicBezTo>
                <a:cubicBezTo>
                  <a:pt x="157734" y="0"/>
                  <a:pt x="203200" y="45466"/>
                  <a:pt x="203200" y="101600"/>
                </a:cubicBezTo>
                <a:lnTo>
                  <a:pt x="203200" y="3992753"/>
                </a:lnTo>
                <a:cubicBezTo>
                  <a:pt x="203200" y="4048887"/>
                  <a:pt x="157734" y="4094353"/>
                  <a:pt x="101600" y="4094353"/>
                </a:cubicBezTo>
                <a:cubicBezTo>
                  <a:pt x="45466" y="4094353"/>
                  <a:pt x="0" y="4048887"/>
                  <a:pt x="0" y="3992753"/>
                </a:cubicBezTo>
                <a:close/>
              </a:path>
            </a:pathLst>
          </a:cu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1"/>
          <p:cNvSpPr txBox="1"/>
          <p:nvPr/>
        </p:nvSpPr>
        <p:spPr>
          <a:xfrm>
            <a:off x="1428155" y="2723704"/>
            <a:ext cx="35439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A Paradigm Shift</a:t>
            </a:r>
            <a:endParaRPr/>
          </a:p>
        </p:txBody>
      </p:sp>
      <p:sp>
        <p:nvSpPr>
          <p:cNvPr id="422" name="Google Shape;422;p31"/>
          <p:cNvSpPr txBox="1"/>
          <p:nvPr/>
        </p:nvSpPr>
        <p:spPr>
          <a:xfrm>
            <a:off x="1428155" y="3270051"/>
            <a:ext cx="7252500" cy="19098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Self-healing transcends reactive maintenance, ushering in a proactive, automated, and inherently resilient era for software engineering. This evolution moves beyond simple fixes to predictive and preventive measures.</a:t>
            </a:r>
            <a:endParaRPr/>
          </a:p>
        </p:txBody>
      </p:sp>
      <p:sp>
        <p:nvSpPr>
          <p:cNvPr id="423" name="Google Shape;423;p31"/>
          <p:cNvSpPr/>
          <p:nvPr/>
        </p:nvSpPr>
        <p:spPr>
          <a:xfrm>
            <a:off x="9266635" y="2411611"/>
            <a:ext cx="8048244" cy="3108865"/>
          </a:xfrm>
          <a:custGeom>
            <a:avLst/>
            <a:gdLst/>
            <a:ahLst/>
            <a:cxnLst/>
            <a:rect l="l" t="t" r="r" b="b"/>
            <a:pathLst>
              <a:path w="10730992" h="4145153" extrusionOk="0">
                <a:moveTo>
                  <a:pt x="0" y="269240"/>
                </a:moveTo>
                <a:cubicBezTo>
                  <a:pt x="0" y="120396"/>
                  <a:pt x="121539" y="0"/>
                  <a:pt x="271145" y="0"/>
                </a:cubicBezTo>
                <a:lnTo>
                  <a:pt x="10459847" y="0"/>
                </a:lnTo>
                <a:lnTo>
                  <a:pt x="10459847" y="25400"/>
                </a:lnTo>
                <a:lnTo>
                  <a:pt x="10459847" y="0"/>
                </a:lnTo>
                <a:cubicBezTo>
                  <a:pt x="10609453" y="0"/>
                  <a:pt x="10730992" y="120396"/>
                  <a:pt x="10730992" y="269240"/>
                </a:cubicBezTo>
                <a:lnTo>
                  <a:pt x="10705592" y="269240"/>
                </a:lnTo>
                <a:lnTo>
                  <a:pt x="10730992" y="269240"/>
                </a:lnTo>
                <a:lnTo>
                  <a:pt x="10730992" y="3875913"/>
                </a:lnTo>
                <a:lnTo>
                  <a:pt x="10705592" y="3875913"/>
                </a:lnTo>
                <a:lnTo>
                  <a:pt x="10730992" y="3875913"/>
                </a:lnTo>
                <a:cubicBezTo>
                  <a:pt x="10730992" y="4024757"/>
                  <a:pt x="10609453" y="4145153"/>
                  <a:pt x="10459847" y="4145153"/>
                </a:cubicBezTo>
                <a:lnTo>
                  <a:pt x="10459847" y="4119753"/>
                </a:lnTo>
                <a:lnTo>
                  <a:pt x="10459847" y="4145153"/>
                </a:lnTo>
                <a:lnTo>
                  <a:pt x="271145" y="4145153"/>
                </a:lnTo>
                <a:lnTo>
                  <a:pt x="271145" y="4119753"/>
                </a:lnTo>
                <a:lnTo>
                  <a:pt x="271145" y="4145153"/>
                </a:lnTo>
                <a:cubicBezTo>
                  <a:pt x="121539" y="4145153"/>
                  <a:pt x="0" y="4024757"/>
                  <a:pt x="0" y="3875913"/>
                </a:cubicBezTo>
                <a:lnTo>
                  <a:pt x="0" y="269240"/>
                </a:lnTo>
                <a:lnTo>
                  <a:pt x="25400" y="269240"/>
                </a:lnTo>
                <a:lnTo>
                  <a:pt x="0" y="269240"/>
                </a:lnTo>
                <a:moveTo>
                  <a:pt x="50800" y="269240"/>
                </a:moveTo>
                <a:lnTo>
                  <a:pt x="50800" y="3875913"/>
                </a:lnTo>
                <a:lnTo>
                  <a:pt x="25400" y="3875913"/>
                </a:lnTo>
                <a:lnTo>
                  <a:pt x="50800" y="3875913"/>
                </a:lnTo>
                <a:cubicBezTo>
                  <a:pt x="50800" y="3996436"/>
                  <a:pt x="149225" y="4094353"/>
                  <a:pt x="271145" y="4094353"/>
                </a:cubicBezTo>
                <a:lnTo>
                  <a:pt x="10459847" y="4094353"/>
                </a:lnTo>
                <a:cubicBezTo>
                  <a:pt x="10581767" y="4094353"/>
                  <a:pt x="10680192" y="3996309"/>
                  <a:pt x="10680192" y="3875913"/>
                </a:cubicBezTo>
                <a:lnTo>
                  <a:pt x="10680192" y="269240"/>
                </a:lnTo>
                <a:cubicBezTo>
                  <a:pt x="10680192" y="148717"/>
                  <a:pt x="10581767" y="50800"/>
                  <a:pt x="10459847" y="50800"/>
                </a:cubicBezTo>
                <a:lnTo>
                  <a:pt x="271145" y="50800"/>
                </a:lnTo>
                <a:lnTo>
                  <a:pt x="271145" y="25400"/>
                </a:lnTo>
                <a:lnTo>
                  <a:pt x="271145" y="50800"/>
                </a:lnTo>
                <a:cubicBezTo>
                  <a:pt x="149225" y="50800"/>
                  <a:pt x="50800" y="148844"/>
                  <a:pt x="50800" y="269240"/>
                </a:cubicBezTo>
                <a:close/>
              </a:path>
            </a:pathLst>
          </a:custGeom>
          <a:solidFill>
            <a:srgbClr val="C7C7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1"/>
          <p:cNvSpPr/>
          <p:nvPr/>
        </p:nvSpPr>
        <p:spPr>
          <a:xfrm>
            <a:off x="9247584" y="2430661"/>
            <a:ext cx="152400" cy="3070765"/>
          </a:xfrm>
          <a:custGeom>
            <a:avLst/>
            <a:gdLst/>
            <a:ahLst/>
            <a:cxnLst/>
            <a:rect l="l" t="t" r="r" b="b"/>
            <a:pathLst>
              <a:path w="203200" h="4094353" extrusionOk="0">
                <a:moveTo>
                  <a:pt x="0" y="101600"/>
                </a:moveTo>
                <a:cubicBezTo>
                  <a:pt x="0" y="45466"/>
                  <a:pt x="45466" y="0"/>
                  <a:pt x="101600" y="0"/>
                </a:cubicBezTo>
                <a:cubicBezTo>
                  <a:pt x="157734" y="0"/>
                  <a:pt x="203200" y="45466"/>
                  <a:pt x="203200" y="101600"/>
                </a:cubicBezTo>
                <a:lnTo>
                  <a:pt x="203200" y="3992753"/>
                </a:lnTo>
                <a:cubicBezTo>
                  <a:pt x="203200" y="4048887"/>
                  <a:pt x="157734" y="4094353"/>
                  <a:pt x="101600" y="4094353"/>
                </a:cubicBezTo>
                <a:cubicBezTo>
                  <a:pt x="45466" y="4094353"/>
                  <a:pt x="0" y="4048887"/>
                  <a:pt x="0" y="3992753"/>
                </a:cubicBezTo>
                <a:close/>
              </a:path>
            </a:pathLst>
          </a:cu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1"/>
          <p:cNvSpPr txBox="1"/>
          <p:nvPr/>
        </p:nvSpPr>
        <p:spPr>
          <a:xfrm>
            <a:off x="9721602" y="2723704"/>
            <a:ext cx="35439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AI: The Core Enabler</a:t>
            </a:r>
            <a:endParaRPr/>
          </a:p>
        </p:txBody>
      </p:sp>
      <p:sp>
        <p:nvSpPr>
          <p:cNvPr id="426" name="Google Shape;426;p31"/>
          <p:cNvSpPr txBox="1"/>
          <p:nvPr/>
        </p:nvSpPr>
        <p:spPr>
          <a:xfrm>
            <a:off x="9721602" y="3270051"/>
            <a:ext cx="7252500" cy="19098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Advanced AI, particularly in machine learning, deep learning, and generative models, is transforming self-healing from a complex concept into a tangible, practical reality for enterprise systems.</a:t>
            </a:r>
            <a:endParaRPr/>
          </a:p>
        </p:txBody>
      </p:sp>
      <p:sp>
        <p:nvSpPr>
          <p:cNvPr id="427" name="Google Shape;427;p31"/>
          <p:cNvSpPr/>
          <p:nvPr/>
        </p:nvSpPr>
        <p:spPr>
          <a:xfrm>
            <a:off x="973188" y="5765899"/>
            <a:ext cx="8048054" cy="3562540"/>
          </a:xfrm>
          <a:custGeom>
            <a:avLst/>
            <a:gdLst/>
            <a:ahLst/>
            <a:cxnLst/>
            <a:rect l="l" t="t" r="r" b="b"/>
            <a:pathLst>
              <a:path w="10730738" h="4750054" extrusionOk="0">
                <a:moveTo>
                  <a:pt x="0" y="269240"/>
                </a:moveTo>
                <a:cubicBezTo>
                  <a:pt x="0" y="120396"/>
                  <a:pt x="121285" y="0"/>
                  <a:pt x="270764" y="0"/>
                </a:cubicBezTo>
                <a:lnTo>
                  <a:pt x="10459974" y="0"/>
                </a:lnTo>
                <a:lnTo>
                  <a:pt x="10459974" y="25400"/>
                </a:lnTo>
                <a:lnTo>
                  <a:pt x="10459974" y="0"/>
                </a:lnTo>
                <a:cubicBezTo>
                  <a:pt x="10609326" y="0"/>
                  <a:pt x="10730738" y="120396"/>
                  <a:pt x="10730738" y="269240"/>
                </a:cubicBezTo>
                <a:lnTo>
                  <a:pt x="10705338" y="269240"/>
                </a:lnTo>
                <a:lnTo>
                  <a:pt x="10730738" y="269240"/>
                </a:lnTo>
                <a:lnTo>
                  <a:pt x="10730738" y="4480814"/>
                </a:lnTo>
                <a:lnTo>
                  <a:pt x="10705338" y="4480814"/>
                </a:lnTo>
                <a:lnTo>
                  <a:pt x="10730738" y="4480814"/>
                </a:lnTo>
                <a:cubicBezTo>
                  <a:pt x="10730738" y="4629658"/>
                  <a:pt x="10609453" y="4750054"/>
                  <a:pt x="10459974" y="4750054"/>
                </a:cubicBezTo>
                <a:lnTo>
                  <a:pt x="10459974" y="4724654"/>
                </a:lnTo>
                <a:lnTo>
                  <a:pt x="10459974" y="4750054"/>
                </a:lnTo>
                <a:lnTo>
                  <a:pt x="270764" y="4750054"/>
                </a:lnTo>
                <a:lnTo>
                  <a:pt x="270764" y="4724654"/>
                </a:lnTo>
                <a:lnTo>
                  <a:pt x="270764" y="4750054"/>
                </a:lnTo>
                <a:cubicBezTo>
                  <a:pt x="121285" y="4750054"/>
                  <a:pt x="0" y="4629658"/>
                  <a:pt x="0" y="4480814"/>
                </a:cubicBezTo>
                <a:lnTo>
                  <a:pt x="0" y="269240"/>
                </a:lnTo>
                <a:lnTo>
                  <a:pt x="25400" y="269240"/>
                </a:lnTo>
                <a:lnTo>
                  <a:pt x="0" y="269240"/>
                </a:lnTo>
                <a:moveTo>
                  <a:pt x="50800" y="269240"/>
                </a:moveTo>
                <a:lnTo>
                  <a:pt x="50800" y="4480814"/>
                </a:lnTo>
                <a:lnTo>
                  <a:pt x="25400" y="4480814"/>
                </a:lnTo>
                <a:lnTo>
                  <a:pt x="50800" y="4480814"/>
                </a:lnTo>
                <a:cubicBezTo>
                  <a:pt x="50800" y="4601337"/>
                  <a:pt x="149098" y="4699254"/>
                  <a:pt x="270764" y="4699254"/>
                </a:cubicBezTo>
                <a:lnTo>
                  <a:pt x="10459974" y="4699254"/>
                </a:lnTo>
                <a:cubicBezTo>
                  <a:pt x="10581513" y="4699254"/>
                  <a:pt x="10679938" y="4601337"/>
                  <a:pt x="10679938" y="4480814"/>
                </a:cubicBezTo>
                <a:lnTo>
                  <a:pt x="10679938" y="269240"/>
                </a:lnTo>
                <a:cubicBezTo>
                  <a:pt x="10679938" y="148717"/>
                  <a:pt x="10581640" y="50800"/>
                  <a:pt x="10459974" y="50800"/>
                </a:cubicBezTo>
                <a:lnTo>
                  <a:pt x="270764" y="50800"/>
                </a:lnTo>
                <a:lnTo>
                  <a:pt x="270764" y="25400"/>
                </a:lnTo>
                <a:lnTo>
                  <a:pt x="270764" y="50800"/>
                </a:lnTo>
                <a:cubicBezTo>
                  <a:pt x="149098" y="50800"/>
                  <a:pt x="50800" y="148717"/>
                  <a:pt x="50800" y="269240"/>
                </a:cubicBezTo>
                <a:close/>
              </a:path>
            </a:pathLst>
          </a:custGeom>
          <a:solidFill>
            <a:srgbClr val="C7C7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1"/>
          <p:cNvSpPr/>
          <p:nvPr/>
        </p:nvSpPr>
        <p:spPr>
          <a:xfrm>
            <a:off x="954138" y="5784949"/>
            <a:ext cx="152400" cy="3524440"/>
          </a:xfrm>
          <a:custGeom>
            <a:avLst/>
            <a:gdLst/>
            <a:ahLst/>
            <a:cxnLst/>
            <a:rect l="l" t="t" r="r" b="b"/>
            <a:pathLst>
              <a:path w="203200" h="4699254" extrusionOk="0">
                <a:moveTo>
                  <a:pt x="0" y="101600"/>
                </a:moveTo>
                <a:cubicBezTo>
                  <a:pt x="0" y="45466"/>
                  <a:pt x="45466" y="0"/>
                  <a:pt x="101600" y="0"/>
                </a:cubicBezTo>
                <a:cubicBezTo>
                  <a:pt x="157734" y="0"/>
                  <a:pt x="203200" y="45466"/>
                  <a:pt x="203200" y="101600"/>
                </a:cubicBezTo>
                <a:lnTo>
                  <a:pt x="203200" y="4597654"/>
                </a:lnTo>
                <a:cubicBezTo>
                  <a:pt x="203200" y="4653788"/>
                  <a:pt x="157734" y="4699254"/>
                  <a:pt x="101600" y="4699254"/>
                </a:cubicBezTo>
                <a:cubicBezTo>
                  <a:pt x="45466" y="4699254"/>
                  <a:pt x="0" y="4653788"/>
                  <a:pt x="0" y="4597654"/>
                </a:cubicBezTo>
                <a:close/>
              </a:path>
            </a:pathLst>
          </a:cu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1"/>
          <p:cNvSpPr txBox="1"/>
          <p:nvPr/>
        </p:nvSpPr>
        <p:spPr>
          <a:xfrm>
            <a:off x="1428155" y="6077991"/>
            <a:ext cx="37209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Evolutionary Necessity</a:t>
            </a:r>
            <a:endParaRPr/>
          </a:p>
        </p:txBody>
      </p:sp>
      <p:sp>
        <p:nvSpPr>
          <p:cNvPr id="430" name="Google Shape;430;p31"/>
          <p:cNvSpPr txBox="1"/>
          <p:nvPr/>
        </p:nvSpPr>
        <p:spPr>
          <a:xfrm>
            <a:off x="1428155" y="6624340"/>
            <a:ext cx="7252500" cy="23634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As software scales in complexity and criticality, self-healing is no longer optional. It's a fundamental capability ensuring system stability, robust security, and uninterrupted uptime, especially for mission-critical applications.</a:t>
            </a:r>
            <a:endParaRPr/>
          </a:p>
        </p:txBody>
      </p:sp>
      <p:sp>
        <p:nvSpPr>
          <p:cNvPr id="431" name="Google Shape;431;p31"/>
          <p:cNvSpPr/>
          <p:nvPr/>
        </p:nvSpPr>
        <p:spPr>
          <a:xfrm>
            <a:off x="9266635" y="5765899"/>
            <a:ext cx="8048244" cy="3562540"/>
          </a:xfrm>
          <a:custGeom>
            <a:avLst/>
            <a:gdLst/>
            <a:ahLst/>
            <a:cxnLst/>
            <a:rect l="l" t="t" r="r" b="b"/>
            <a:pathLst>
              <a:path w="10730992" h="4750054" extrusionOk="0">
                <a:moveTo>
                  <a:pt x="0" y="269240"/>
                </a:moveTo>
                <a:cubicBezTo>
                  <a:pt x="0" y="120396"/>
                  <a:pt x="121285" y="0"/>
                  <a:pt x="270764" y="0"/>
                </a:cubicBezTo>
                <a:lnTo>
                  <a:pt x="10460228" y="0"/>
                </a:lnTo>
                <a:lnTo>
                  <a:pt x="10460228" y="25400"/>
                </a:lnTo>
                <a:lnTo>
                  <a:pt x="10460228" y="0"/>
                </a:lnTo>
                <a:cubicBezTo>
                  <a:pt x="10609580" y="0"/>
                  <a:pt x="10730992" y="120396"/>
                  <a:pt x="10730992" y="269240"/>
                </a:cubicBezTo>
                <a:lnTo>
                  <a:pt x="10705592" y="269240"/>
                </a:lnTo>
                <a:lnTo>
                  <a:pt x="10730992" y="269240"/>
                </a:lnTo>
                <a:lnTo>
                  <a:pt x="10730992" y="4480814"/>
                </a:lnTo>
                <a:lnTo>
                  <a:pt x="10705592" y="4480814"/>
                </a:lnTo>
                <a:lnTo>
                  <a:pt x="10730992" y="4480814"/>
                </a:lnTo>
                <a:cubicBezTo>
                  <a:pt x="10730992" y="4629658"/>
                  <a:pt x="10609707" y="4750054"/>
                  <a:pt x="10460228" y="4750054"/>
                </a:cubicBezTo>
                <a:lnTo>
                  <a:pt x="10460228" y="4724654"/>
                </a:lnTo>
                <a:lnTo>
                  <a:pt x="10460228" y="4750054"/>
                </a:lnTo>
                <a:lnTo>
                  <a:pt x="270764" y="4750054"/>
                </a:lnTo>
                <a:lnTo>
                  <a:pt x="270764" y="4724654"/>
                </a:lnTo>
                <a:lnTo>
                  <a:pt x="270764" y="4750054"/>
                </a:lnTo>
                <a:cubicBezTo>
                  <a:pt x="121285" y="4750054"/>
                  <a:pt x="0" y="4629658"/>
                  <a:pt x="0" y="4480814"/>
                </a:cubicBezTo>
                <a:lnTo>
                  <a:pt x="0" y="269240"/>
                </a:lnTo>
                <a:lnTo>
                  <a:pt x="25400" y="269240"/>
                </a:lnTo>
                <a:lnTo>
                  <a:pt x="0" y="269240"/>
                </a:lnTo>
                <a:moveTo>
                  <a:pt x="50800" y="269240"/>
                </a:moveTo>
                <a:lnTo>
                  <a:pt x="50800" y="4480814"/>
                </a:lnTo>
                <a:lnTo>
                  <a:pt x="25400" y="4480814"/>
                </a:lnTo>
                <a:lnTo>
                  <a:pt x="50800" y="4480814"/>
                </a:lnTo>
                <a:cubicBezTo>
                  <a:pt x="50800" y="4601337"/>
                  <a:pt x="149098" y="4699254"/>
                  <a:pt x="270764" y="4699254"/>
                </a:cubicBezTo>
                <a:lnTo>
                  <a:pt x="10460228" y="4699254"/>
                </a:lnTo>
                <a:cubicBezTo>
                  <a:pt x="10581767" y="4699254"/>
                  <a:pt x="10680192" y="4601337"/>
                  <a:pt x="10680192" y="4480814"/>
                </a:cubicBezTo>
                <a:lnTo>
                  <a:pt x="10680192" y="269240"/>
                </a:lnTo>
                <a:cubicBezTo>
                  <a:pt x="10680192" y="148717"/>
                  <a:pt x="10581894" y="50800"/>
                  <a:pt x="10460228" y="50800"/>
                </a:cubicBezTo>
                <a:lnTo>
                  <a:pt x="270764" y="50800"/>
                </a:lnTo>
                <a:lnTo>
                  <a:pt x="270764" y="25400"/>
                </a:lnTo>
                <a:lnTo>
                  <a:pt x="270764" y="50800"/>
                </a:lnTo>
                <a:cubicBezTo>
                  <a:pt x="149098" y="50800"/>
                  <a:pt x="50800" y="148717"/>
                  <a:pt x="50800" y="269240"/>
                </a:cubicBezTo>
                <a:close/>
              </a:path>
            </a:pathLst>
          </a:custGeom>
          <a:solidFill>
            <a:srgbClr val="C7C7D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1"/>
          <p:cNvSpPr/>
          <p:nvPr/>
        </p:nvSpPr>
        <p:spPr>
          <a:xfrm>
            <a:off x="9247584" y="5784949"/>
            <a:ext cx="152400" cy="3524440"/>
          </a:xfrm>
          <a:custGeom>
            <a:avLst/>
            <a:gdLst/>
            <a:ahLst/>
            <a:cxnLst/>
            <a:rect l="l" t="t" r="r" b="b"/>
            <a:pathLst>
              <a:path w="203200" h="4699254" extrusionOk="0">
                <a:moveTo>
                  <a:pt x="0" y="101600"/>
                </a:moveTo>
                <a:cubicBezTo>
                  <a:pt x="0" y="45466"/>
                  <a:pt x="45466" y="0"/>
                  <a:pt x="101600" y="0"/>
                </a:cubicBezTo>
                <a:cubicBezTo>
                  <a:pt x="157734" y="0"/>
                  <a:pt x="203200" y="45466"/>
                  <a:pt x="203200" y="101600"/>
                </a:cubicBezTo>
                <a:lnTo>
                  <a:pt x="203200" y="4597654"/>
                </a:lnTo>
                <a:cubicBezTo>
                  <a:pt x="203200" y="4653788"/>
                  <a:pt x="157734" y="4699254"/>
                  <a:pt x="101600" y="4699254"/>
                </a:cubicBezTo>
                <a:cubicBezTo>
                  <a:pt x="45466" y="4699254"/>
                  <a:pt x="0" y="4653788"/>
                  <a:pt x="0" y="4597654"/>
                </a:cubicBezTo>
                <a:close/>
              </a:path>
            </a:pathLst>
          </a:custGeom>
          <a:solidFill>
            <a:srgbClr val="1B1B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1"/>
          <p:cNvSpPr txBox="1"/>
          <p:nvPr/>
        </p:nvSpPr>
        <p:spPr>
          <a:xfrm>
            <a:off x="9721602" y="6077991"/>
            <a:ext cx="3543900" cy="471600"/>
          </a:xfrm>
          <a:prstGeom prst="rect">
            <a:avLst/>
          </a:prstGeom>
          <a:noFill/>
          <a:ln>
            <a:noFill/>
          </a:ln>
        </p:spPr>
        <p:txBody>
          <a:bodyPr spcFirstLastPara="1" wrap="square" lIns="0" tIns="0" rIns="0" bIns="0" anchor="t" anchorCtr="0">
            <a:spAutoFit/>
          </a:bodyPr>
          <a:lstStyle/>
          <a:p>
            <a:pPr marL="0" marR="0" lvl="0" indent="0" algn="l" rtl="0">
              <a:lnSpc>
                <a:spcPct val="124981"/>
              </a:lnSpc>
              <a:spcBef>
                <a:spcPts val="0"/>
              </a:spcBef>
              <a:spcAft>
                <a:spcPts val="0"/>
              </a:spcAft>
              <a:buNone/>
            </a:pPr>
            <a:r>
              <a:rPr lang="en-US" sz="2750" b="0" i="0" u="none" strike="noStrike" cap="none">
                <a:solidFill>
                  <a:srgbClr val="3C3939"/>
                </a:solidFill>
                <a:latin typeface="Raleway"/>
                <a:ea typeface="Raleway"/>
                <a:cs typeface="Raleway"/>
                <a:sym typeface="Raleway"/>
              </a:rPr>
              <a:t>The Journey Ahead</a:t>
            </a:r>
            <a:endParaRPr/>
          </a:p>
        </p:txBody>
      </p:sp>
      <p:sp>
        <p:nvSpPr>
          <p:cNvPr id="434" name="Google Shape;434;p31"/>
          <p:cNvSpPr txBox="1"/>
          <p:nvPr/>
        </p:nvSpPr>
        <p:spPr>
          <a:xfrm>
            <a:off x="9721602" y="6624340"/>
            <a:ext cx="7252500" cy="1909800"/>
          </a:xfrm>
          <a:prstGeom prst="rect">
            <a:avLst/>
          </a:prstGeom>
          <a:noFill/>
          <a:ln>
            <a:noFill/>
          </a:ln>
        </p:spPr>
        <p:txBody>
          <a:bodyPr spcFirstLastPara="1" wrap="square" lIns="0" tIns="0" rIns="0" bIns="0" anchor="t" anchorCtr="0">
            <a:spAutoFit/>
          </a:bodyPr>
          <a:lstStyle/>
          <a:p>
            <a:pPr marL="0" marR="0" lvl="0" indent="0" algn="l" rtl="0">
              <a:lnSpc>
                <a:spcPct val="162871"/>
              </a:lnSpc>
              <a:spcBef>
                <a:spcPts val="0"/>
              </a:spcBef>
              <a:spcAft>
                <a:spcPts val="0"/>
              </a:spcAft>
              <a:buNone/>
            </a:pPr>
            <a:r>
              <a:rPr lang="en-US" sz="2187" b="0" i="0" u="none" strike="noStrike" cap="none">
                <a:solidFill>
                  <a:srgbClr val="3C3939"/>
                </a:solidFill>
                <a:latin typeface="Roboto"/>
                <a:ea typeface="Roboto"/>
                <a:cs typeface="Roboto"/>
                <a:sym typeface="Roboto"/>
              </a:rPr>
              <a:t>While challenges remain, the clear trajectory is toward more intelligent, adaptive, and autonomous software systems that will redefine digital world construction and maintenance.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32"/>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ECECF3"/>
          </a:solidFill>
          <a:ln>
            <a:noFill/>
          </a:ln>
        </p:spPr>
      </p:sp>
      <p:sp>
        <p:nvSpPr>
          <p:cNvPr id="437" name="Google Shape;437;p32"/>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FFFFF">
              <a:alpha val="89800"/>
            </a:srgbClr>
          </a:solidFill>
          <a:ln>
            <a:noFill/>
          </a:ln>
        </p:spPr>
      </p:sp>
      <p:sp>
        <p:nvSpPr>
          <p:cNvPr id="438" name="Google Shape;438;p32"/>
          <p:cNvSpPr txBox="1"/>
          <p:nvPr/>
        </p:nvSpPr>
        <p:spPr>
          <a:xfrm>
            <a:off x="880319" y="607144"/>
            <a:ext cx="14397544" cy="949684"/>
          </a:xfrm>
          <a:prstGeom prst="rect">
            <a:avLst/>
          </a:prstGeom>
          <a:noFill/>
          <a:ln>
            <a:noFill/>
          </a:ln>
        </p:spPr>
        <p:txBody>
          <a:bodyPr spcFirstLastPara="1" wrap="square" lIns="0" tIns="0" rIns="0" bIns="0" anchor="t" anchorCtr="0">
            <a:spAutoFit/>
          </a:bodyPr>
          <a:lstStyle/>
          <a:p>
            <a:pPr marL="0" marR="0" lvl="0" indent="0" algn="l" rtl="0">
              <a:lnSpc>
                <a:spcPct val="125319"/>
              </a:lnSpc>
              <a:spcBef>
                <a:spcPts val="0"/>
              </a:spcBef>
              <a:spcAft>
                <a:spcPts val="0"/>
              </a:spcAft>
              <a:buNone/>
            </a:pPr>
            <a:r>
              <a:rPr lang="en-US" sz="4937" b="0" i="0" u="none" strike="noStrike" cap="none">
                <a:solidFill>
                  <a:srgbClr val="1B1B27"/>
                </a:solidFill>
                <a:latin typeface="Raleway"/>
                <a:ea typeface="Raleway"/>
                <a:cs typeface="Raleway"/>
                <a:sym typeface="Raleway"/>
              </a:rPr>
              <a:t>References: Key Research &amp; Insights</a:t>
            </a:r>
            <a:endParaRPr/>
          </a:p>
        </p:txBody>
      </p:sp>
      <p:sp>
        <p:nvSpPr>
          <p:cNvPr id="439" name="Google Shape;439;p32"/>
          <p:cNvSpPr txBox="1"/>
          <p:nvPr/>
        </p:nvSpPr>
        <p:spPr>
          <a:xfrm>
            <a:off x="880319" y="2581461"/>
            <a:ext cx="16527300" cy="900000"/>
          </a:xfrm>
          <a:prstGeom prst="rect">
            <a:avLst/>
          </a:prstGeom>
          <a:noFill/>
          <a:ln>
            <a:noFill/>
          </a:ln>
        </p:spPr>
        <p:txBody>
          <a:bodyPr spcFirstLastPara="1" wrap="square" lIns="0" tIns="0" rIns="0" bIns="0" anchor="t" anchorCtr="0">
            <a:spAutoFit/>
          </a:bodyPr>
          <a:lstStyle/>
          <a:p>
            <a:pPr marL="292199" marR="0" lvl="1" indent="-146099" algn="l" rtl="0">
              <a:lnSpc>
                <a:spcPct val="161332"/>
              </a:lnSpc>
              <a:spcBef>
                <a:spcPts val="0"/>
              </a:spcBef>
              <a:spcAft>
                <a:spcPts val="0"/>
              </a:spcAft>
              <a:buClr>
                <a:srgbClr val="3C3939"/>
              </a:buClr>
              <a:buSzPts val="1937"/>
              <a:buFont typeface="Arial"/>
              <a:buChar char="•"/>
            </a:pPr>
            <a:r>
              <a:rPr lang="en-US" sz="1937" b="0" i="0" u="none" strike="noStrike" cap="none">
                <a:solidFill>
                  <a:srgbClr val="3C3939"/>
                </a:solidFill>
                <a:latin typeface="Roboto"/>
                <a:ea typeface="Roboto"/>
                <a:cs typeface="Roboto"/>
                <a:sym typeface="Roboto"/>
              </a:rPr>
              <a:t>Baqar, M., Khanda, R., &amp; Naqvi, S. (2023). </a:t>
            </a:r>
            <a:r>
              <a:rPr lang="en-US" sz="1937" b="0" i="1" u="none" strike="noStrike" cap="none">
                <a:solidFill>
                  <a:srgbClr val="3C3939"/>
                </a:solidFill>
                <a:latin typeface="Roboto"/>
                <a:ea typeface="Roboto"/>
                <a:cs typeface="Roboto"/>
                <a:sym typeface="Roboto"/>
              </a:rPr>
              <a:t>Self-Healing Software Systems: Lessons from Nature, Powered by AI</a:t>
            </a:r>
            <a:r>
              <a:rPr lang="en-US" sz="1937" b="0" i="0" u="none" strike="noStrike" cap="none">
                <a:solidFill>
                  <a:srgbClr val="3C3939"/>
                </a:solidFill>
                <a:latin typeface="Roboto"/>
                <a:ea typeface="Roboto"/>
                <a:cs typeface="Roboto"/>
                <a:sym typeface="Roboto"/>
              </a:rPr>
              <a:t>. arXiv preprint. </a:t>
            </a:r>
            <a:r>
              <a:rPr lang="en-US" sz="1937" b="0" i="0" u="none" strike="noStrike" cap="none">
                <a:solidFill>
                  <a:srgbClr val="808080"/>
                </a:solidFill>
                <a:latin typeface="Roboto"/>
                <a:ea typeface="Roboto"/>
                <a:cs typeface="Roboto"/>
                <a:sym typeface="Roboto"/>
              </a:rPr>
              <a:t>This paper explores bio-inspired approaches to self-healing, bridging natural resilience with AI applications in software.</a:t>
            </a:r>
            <a:endParaRPr/>
          </a:p>
        </p:txBody>
      </p:sp>
      <p:sp>
        <p:nvSpPr>
          <p:cNvPr id="440" name="Google Shape;440;p32"/>
          <p:cNvSpPr txBox="1"/>
          <p:nvPr/>
        </p:nvSpPr>
        <p:spPr>
          <a:xfrm>
            <a:off x="880319" y="3628020"/>
            <a:ext cx="16527300" cy="900000"/>
          </a:xfrm>
          <a:prstGeom prst="rect">
            <a:avLst/>
          </a:prstGeom>
          <a:noFill/>
          <a:ln>
            <a:noFill/>
          </a:ln>
        </p:spPr>
        <p:txBody>
          <a:bodyPr spcFirstLastPara="1" wrap="square" lIns="0" tIns="0" rIns="0" bIns="0" anchor="t" anchorCtr="0">
            <a:spAutoFit/>
          </a:bodyPr>
          <a:lstStyle/>
          <a:p>
            <a:pPr marL="292199" marR="0" lvl="1" indent="-146099" algn="l" rtl="0">
              <a:lnSpc>
                <a:spcPct val="161332"/>
              </a:lnSpc>
              <a:spcBef>
                <a:spcPts val="0"/>
              </a:spcBef>
              <a:spcAft>
                <a:spcPts val="0"/>
              </a:spcAft>
              <a:buClr>
                <a:srgbClr val="3C3939"/>
              </a:buClr>
              <a:buSzPts val="1937"/>
              <a:buFont typeface="Arial"/>
              <a:buChar char="•"/>
            </a:pPr>
            <a:r>
              <a:rPr lang="en-US" sz="1937" b="0" i="0" u="none" strike="noStrike" cap="none">
                <a:solidFill>
                  <a:srgbClr val="3C3939"/>
                </a:solidFill>
                <a:latin typeface="Roboto"/>
                <a:ea typeface="Roboto"/>
                <a:cs typeface="Roboto"/>
                <a:sym typeface="Roboto"/>
              </a:rPr>
              <a:t>Kathiresan, G. (2023). </a:t>
            </a:r>
            <a:r>
              <a:rPr lang="en-US" sz="1937" b="0" i="1" u="none" strike="noStrike" cap="none">
                <a:solidFill>
                  <a:srgbClr val="3C3939"/>
                </a:solidFill>
                <a:latin typeface="Roboto"/>
                <a:ea typeface="Roboto"/>
                <a:cs typeface="Roboto"/>
                <a:sym typeface="Roboto"/>
              </a:rPr>
              <a:t>Self-Healing Software: Leveraging AI for Automated Bug Detection and Real-Time Code Correction</a:t>
            </a:r>
            <a:r>
              <a:rPr lang="en-US" sz="1937" b="0" i="0" u="none" strike="noStrike" cap="none">
                <a:solidFill>
                  <a:srgbClr val="3C3939"/>
                </a:solidFill>
                <a:latin typeface="Roboto"/>
                <a:ea typeface="Roboto"/>
                <a:cs typeface="Roboto"/>
                <a:sym typeface="Roboto"/>
              </a:rPr>
              <a:t>. CINEFORUM, 63(3). </a:t>
            </a:r>
            <a:r>
              <a:rPr lang="en-US" sz="1937" b="0" i="0" u="none" strike="noStrike" cap="none">
                <a:solidFill>
                  <a:srgbClr val="808080"/>
                </a:solidFill>
                <a:latin typeface="Roboto"/>
                <a:ea typeface="Roboto"/>
                <a:cs typeface="Roboto"/>
                <a:sym typeface="Roboto"/>
              </a:rPr>
              <a:t>Focuses on AI's role in proactive fault identification and automated code remediation within live systems.</a:t>
            </a:r>
            <a:endParaRPr/>
          </a:p>
        </p:txBody>
      </p:sp>
      <p:sp>
        <p:nvSpPr>
          <p:cNvPr id="441" name="Google Shape;441;p32"/>
          <p:cNvSpPr txBox="1"/>
          <p:nvPr/>
        </p:nvSpPr>
        <p:spPr>
          <a:xfrm>
            <a:off x="880319" y="4641354"/>
            <a:ext cx="16527300" cy="1302600"/>
          </a:xfrm>
          <a:prstGeom prst="rect">
            <a:avLst/>
          </a:prstGeom>
          <a:noFill/>
          <a:ln>
            <a:noFill/>
          </a:ln>
        </p:spPr>
        <p:txBody>
          <a:bodyPr spcFirstLastPara="1" wrap="square" lIns="0" tIns="0" rIns="0" bIns="0" anchor="t" anchorCtr="0">
            <a:spAutoFit/>
          </a:bodyPr>
          <a:lstStyle/>
          <a:p>
            <a:pPr marL="292199" marR="0" lvl="1" indent="-146099" algn="l" rtl="0">
              <a:lnSpc>
                <a:spcPct val="161332"/>
              </a:lnSpc>
              <a:spcBef>
                <a:spcPts val="0"/>
              </a:spcBef>
              <a:spcAft>
                <a:spcPts val="0"/>
              </a:spcAft>
              <a:buClr>
                <a:srgbClr val="3C3939"/>
              </a:buClr>
              <a:buSzPts val="1937"/>
              <a:buFont typeface="Arial"/>
              <a:buChar char="•"/>
            </a:pPr>
            <a:r>
              <a:rPr lang="en-US" sz="1937" b="0" i="0" u="none" strike="noStrike" cap="none">
                <a:solidFill>
                  <a:srgbClr val="3C3939"/>
                </a:solidFill>
                <a:latin typeface="Roboto"/>
                <a:ea typeface="Roboto"/>
                <a:cs typeface="Roboto"/>
                <a:sym typeface="Roboto"/>
              </a:rPr>
              <a:t>Konda, S. R. (2024). </a:t>
            </a:r>
            <a:r>
              <a:rPr lang="en-US" sz="1937" b="0" i="1" u="none" strike="noStrike" cap="none">
                <a:solidFill>
                  <a:srgbClr val="3C3939"/>
                </a:solidFill>
                <a:latin typeface="Roboto"/>
                <a:ea typeface="Roboto"/>
                <a:cs typeface="Roboto"/>
                <a:sym typeface="Roboto"/>
              </a:rPr>
              <a:t>Advancements in Self-Healing Technology for Software Systems</a:t>
            </a:r>
            <a:r>
              <a:rPr lang="en-US" sz="1937" b="0" i="0" u="none" strike="noStrike" cap="none">
                <a:solidFill>
                  <a:srgbClr val="3C3939"/>
                </a:solidFill>
                <a:latin typeface="Roboto"/>
                <a:ea typeface="Roboto"/>
                <a:cs typeface="Roboto"/>
                <a:sym typeface="Roboto"/>
              </a:rPr>
              <a:t>. International Journal of Engineering Research and Applications, 14(1). </a:t>
            </a:r>
            <a:r>
              <a:rPr lang="en-US" sz="1937" b="0" i="0" u="none" strike="noStrike" cap="none">
                <a:solidFill>
                  <a:srgbClr val="808080"/>
                </a:solidFill>
                <a:latin typeface="Roboto"/>
                <a:ea typeface="Roboto"/>
                <a:cs typeface="Roboto"/>
                <a:sym typeface="Roboto"/>
              </a:rPr>
              <a:t>A comprehensive overview of recent technological breakthroughs and future directions in self-healing.</a:t>
            </a:r>
            <a:endParaRPr/>
          </a:p>
        </p:txBody>
      </p:sp>
      <p:sp>
        <p:nvSpPr>
          <p:cNvPr id="442" name="Google Shape;442;p32"/>
          <p:cNvSpPr txBox="1"/>
          <p:nvPr/>
        </p:nvSpPr>
        <p:spPr>
          <a:xfrm>
            <a:off x="880319" y="5548610"/>
            <a:ext cx="16527300" cy="900000"/>
          </a:xfrm>
          <a:prstGeom prst="rect">
            <a:avLst/>
          </a:prstGeom>
          <a:noFill/>
          <a:ln>
            <a:noFill/>
          </a:ln>
        </p:spPr>
        <p:txBody>
          <a:bodyPr spcFirstLastPara="1" wrap="square" lIns="0" tIns="0" rIns="0" bIns="0" anchor="t" anchorCtr="0">
            <a:spAutoFit/>
          </a:bodyPr>
          <a:lstStyle/>
          <a:p>
            <a:pPr marL="292199" marR="0" lvl="1" indent="-146099" algn="l" rtl="0">
              <a:lnSpc>
                <a:spcPct val="161332"/>
              </a:lnSpc>
              <a:spcBef>
                <a:spcPts val="0"/>
              </a:spcBef>
              <a:spcAft>
                <a:spcPts val="0"/>
              </a:spcAft>
              <a:buClr>
                <a:srgbClr val="3C3939"/>
              </a:buClr>
              <a:buSzPts val="1937"/>
              <a:buFont typeface="Arial"/>
              <a:buChar char="•"/>
            </a:pPr>
            <a:r>
              <a:rPr lang="en-US" sz="1937" b="0" i="0" u="none" strike="noStrike" cap="none">
                <a:solidFill>
                  <a:srgbClr val="3C3939"/>
                </a:solidFill>
                <a:latin typeface="Roboto"/>
                <a:ea typeface="Roboto"/>
                <a:cs typeface="Roboto"/>
                <a:sym typeface="Roboto"/>
              </a:rPr>
              <a:t>Yazdanparast, Z. (n.d.). </a:t>
            </a:r>
            <a:r>
              <a:rPr lang="en-US" sz="1937" b="0" i="1" u="none" strike="noStrike" cap="none">
                <a:solidFill>
                  <a:srgbClr val="3C3939"/>
                </a:solidFill>
                <a:latin typeface="Roboto"/>
                <a:ea typeface="Roboto"/>
                <a:cs typeface="Roboto"/>
                <a:sym typeface="Roboto"/>
              </a:rPr>
              <a:t>A Survey on Self-healing Software System</a:t>
            </a:r>
            <a:r>
              <a:rPr lang="en-US" sz="1937" b="0" i="0" u="none" strike="noStrike" cap="none">
                <a:solidFill>
                  <a:srgbClr val="3C3939"/>
                </a:solidFill>
                <a:latin typeface="Roboto"/>
                <a:ea typeface="Roboto"/>
                <a:cs typeface="Roboto"/>
                <a:sym typeface="Roboto"/>
              </a:rPr>
              <a:t>. Tarbiat Modares University. </a:t>
            </a:r>
            <a:r>
              <a:rPr lang="en-US" sz="1937" b="0" i="0" u="none" strike="noStrike" cap="none">
                <a:solidFill>
                  <a:srgbClr val="808080"/>
                </a:solidFill>
                <a:latin typeface="Roboto"/>
                <a:ea typeface="Roboto"/>
                <a:cs typeface="Roboto"/>
                <a:sym typeface="Roboto"/>
              </a:rPr>
              <a:t>Provides foundational knowledge and categorizes existing self-healing mechanisms.</a:t>
            </a:r>
            <a:endParaRPr/>
          </a:p>
        </p:txBody>
      </p:sp>
      <p:sp>
        <p:nvSpPr>
          <p:cNvPr id="443" name="Google Shape;443;p32"/>
          <p:cNvSpPr txBox="1"/>
          <p:nvPr/>
        </p:nvSpPr>
        <p:spPr>
          <a:xfrm>
            <a:off x="880319" y="6801147"/>
            <a:ext cx="3773100" cy="500100"/>
          </a:xfrm>
          <a:prstGeom prst="rect">
            <a:avLst/>
          </a:prstGeom>
          <a:noFill/>
          <a:ln>
            <a:noFill/>
          </a:ln>
        </p:spPr>
        <p:txBody>
          <a:bodyPr spcFirstLastPara="1" wrap="square" lIns="0" tIns="0" rIns="0" bIns="0" anchor="t" anchorCtr="0">
            <a:spAutoFit/>
          </a:bodyPr>
          <a:lstStyle/>
          <a:p>
            <a:pPr marL="0" marR="0" lvl="0" indent="0" algn="l" rtl="0">
              <a:lnSpc>
                <a:spcPct val="125536"/>
              </a:lnSpc>
              <a:spcBef>
                <a:spcPts val="0"/>
              </a:spcBef>
              <a:spcAft>
                <a:spcPts val="0"/>
              </a:spcAft>
              <a:buNone/>
            </a:pPr>
            <a:r>
              <a:rPr lang="en-US" sz="2937" b="0" i="0" u="none" strike="noStrike" cap="none">
                <a:solidFill>
                  <a:srgbClr val="1B1B27"/>
                </a:solidFill>
                <a:latin typeface="Raleway"/>
                <a:ea typeface="Raleway"/>
                <a:cs typeface="Raleway"/>
                <a:sym typeface="Raleway"/>
              </a:rPr>
              <a:t>Additional Sources:</a:t>
            </a:r>
            <a:endParaRPr/>
          </a:p>
        </p:txBody>
      </p:sp>
      <p:sp>
        <p:nvSpPr>
          <p:cNvPr id="444" name="Google Shape;444;p32"/>
          <p:cNvSpPr txBox="1"/>
          <p:nvPr/>
        </p:nvSpPr>
        <p:spPr>
          <a:xfrm>
            <a:off x="880318" y="7583240"/>
            <a:ext cx="16527300" cy="900000"/>
          </a:xfrm>
          <a:prstGeom prst="rect">
            <a:avLst/>
          </a:prstGeom>
          <a:noFill/>
          <a:ln>
            <a:noFill/>
          </a:ln>
        </p:spPr>
        <p:txBody>
          <a:bodyPr spcFirstLastPara="1" wrap="square" lIns="0" tIns="0" rIns="0" bIns="0" anchor="t" anchorCtr="0">
            <a:spAutoFit/>
          </a:bodyPr>
          <a:lstStyle/>
          <a:p>
            <a:pPr marL="292199" marR="0" lvl="1" indent="-146099" algn="l" rtl="0">
              <a:lnSpc>
                <a:spcPct val="161332"/>
              </a:lnSpc>
              <a:spcBef>
                <a:spcPts val="0"/>
              </a:spcBef>
              <a:spcAft>
                <a:spcPts val="0"/>
              </a:spcAft>
              <a:buClr>
                <a:srgbClr val="3C3939"/>
              </a:buClr>
              <a:buSzPts val="1937"/>
              <a:buFont typeface="Arial"/>
              <a:buChar char="•"/>
            </a:pPr>
            <a:r>
              <a:rPr lang="en-US" sz="1937" b="0" i="0" u="none" strike="noStrike" cap="none">
                <a:solidFill>
                  <a:srgbClr val="3C3939"/>
                </a:solidFill>
                <a:latin typeface="Roboto"/>
                <a:ea typeface="Roboto"/>
                <a:cs typeface="Roboto"/>
                <a:sym typeface="Roboto"/>
              </a:rPr>
              <a:t>Gartner (2024). </a:t>
            </a:r>
            <a:r>
              <a:rPr lang="en-US" sz="1937" b="0" i="1" u="none" strike="noStrike" cap="none">
                <a:solidFill>
                  <a:srgbClr val="3C3939"/>
                </a:solidFill>
                <a:latin typeface="Roboto"/>
                <a:ea typeface="Roboto"/>
                <a:cs typeface="Roboto"/>
                <a:sym typeface="Roboto"/>
              </a:rPr>
              <a:t>Market Guide for AIOps Platforms</a:t>
            </a:r>
            <a:r>
              <a:rPr lang="en-US" sz="1937" b="0" i="0" u="none" strike="noStrike" cap="none">
                <a:solidFill>
                  <a:srgbClr val="3C3939"/>
                </a:solidFill>
                <a:latin typeface="Roboto"/>
                <a:ea typeface="Roboto"/>
                <a:cs typeface="Roboto"/>
                <a:sym typeface="Roboto"/>
              </a:rPr>
              <a:t>. </a:t>
            </a:r>
            <a:r>
              <a:rPr lang="en-US" sz="1937" b="0" i="0" u="none" strike="noStrike" cap="none">
                <a:solidFill>
                  <a:srgbClr val="808080"/>
                </a:solidFill>
                <a:latin typeface="Roboto"/>
                <a:ea typeface="Roboto"/>
                <a:cs typeface="Roboto"/>
                <a:sym typeface="Roboto"/>
              </a:rPr>
              <a:t>Insights into the commercial landscape and integration of AI in IT operations.</a:t>
            </a:r>
            <a:endParaRPr/>
          </a:p>
        </p:txBody>
      </p:sp>
      <p:sp>
        <p:nvSpPr>
          <p:cNvPr id="445" name="Google Shape;445;p32"/>
          <p:cNvSpPr txBox="1"/>
          <p:nvPr/>
        </p:nvSpPr>
        <p:spPr>
          <a:xfrm>
            <a:off x="880319" y="8091339"/>
            <a:ext cx="16527300" cy="1302600"/>
          </a:xfrm>
          <a:prstGeom prst="rect">
            <a:avLst/>
          </a:prstGeom>
          <a:noFill/>
          <a:ln>
            <a:noFill/>
          </a:ln>
        </p:spPr>
        <p:txBody>
          <a:bodyPr spcFirstLastPara="1" wrap="square" lIns="0" tIns="0" rIns="0" bIns="0" anchor="t" anchorCtr="0">
            <a:spAutoFit/>
          </a:bodyPr>
          <a:lstStyle/>
          <a:p>
            <a:pPr marL="292199" marR="0" lvl="1" indent="-146099" algn="l" rtl="0">
              <a:lnSpc>
                <a:spcPct val="161332"/>
              </a:lnSpc>
              <a:spcBef>
                <a:spcPts val="0"/>
              </a:spcBef>
              <a:spcAft>
                <a:spcPts val="0"/>
              </a:spcAft>
              <a:buClr>
                <a:srgbClr val="3C3939"/>
              </a:buClr>
              <a:buSzPts val="1937"/>
              <a:buFont typeface="Arial"/>
              <a:buChar char="•"/>
            </a:pPr>
            <a:r>
              <a:rPr lang="en-US" sz="1937" b="0" i="0" u="none" strike="noStrike" cap="none">
                <a:solidFill>
                  <a:srgbClr val="3C3939"/>
                </a:solidFill>
                <a:latin typeface="Roboto"/>
                <a:ea typeface="Roboto"/>
                <a:cs typeface="Roboto"/>
                <a:sym typeface="Roboto"/>
              </a:rPr>
              <a:t>Ahmed, F., et al. (2023). </a:t>
            </a:r>
            <a:r>
              <a:rPr lang="en-US" sz="1937" b="0" i="1" u="none" strike="noStrike" cap="none">
                <a:solidFill>
                  <a:srgbClr val="3C3939"/>
                </a:solidFill>
                <a:latin typeface="Roboto"/>
                <a:ea typeface="Roboto"/>
                <a:cs typeface="Roboto"/>
                <a:sym typeface="Roboto"/>
              </a:rPr>
              <a:t>Multi-Modal Transformer for Software Fault Localization Using Logs, Code, and Telemetry</a:t>
            </a:r>
            <a:r>
              <a:rPr lang="en-US" sz="1937" b="0" i="0" u="none" strike="noStrike" cap="none">
                <a:solidFill>
                  <a:srgbClr val="3C3939"/>
                </a:solidFill>
                <a:latin typeface="Roboto"/>
                <a:ea typeface="Roboto"/>
                <a:cs typeface="Roboto"/>
                <a:sym typeface="Roboto"/>
              </a:rPr>
              <a:t>. 45th International Conference on Software Engineering (ICSE). Highlights cutting-edge research in utilizing diverse data sources for precise fault identification.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2"/>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ECECF3"/>
          </a:solidFill>
          <a:ln>
            <a:noFill/>
          </a:ln>
        </p:spPr>
      </p:sp>
      <p:sp>
        <p:nvSpPr>
          <p:cNvPr id="486" name="Google Shape;486;p2"/>
          <p:cNvSpPr/>
          <p:nvPr/>
        </p:nvSpPr>
        <p:spPr>
          <a:xfrm>
            <a:off x="0" y="0"/>
            <a:ext cx="18288000" cy="10287000"/>
          </a:xfrm>
          <a:custGeom>
            <a:avLst/>
            <a:gdLst/>
            <a:ahLst/>
            <a:cxnLst/>
            <a:rect l="l" t="t" r="r" b="b"/>
            <a:pathLst>
              <a:path w="24384000" h="13716000" extrusionOk="0">
                <a:moveTo>
                  <a:pt x="0" y="0"/>
                </a:moveTo>
                <a:lnTo>
                  <a:pt x="24384000" y="0"/>
                </a:lnTo>
                <a:lnTo>
                  <a:pt x="24384000" y="13716000"/>
                </a:lnTo>
                <a:lnTo>
                  <a:pt x="0" y="13716000"/>
                </a:lnTo>
                <a:close/>
              </a:path>
            </a:pathLst>
          </a:custGeom>
          <a:solidFill>
            <a:srgbClr val="FFFFFF">
              <a:alpha val="89410"/>
            </a:srgbClr>
          </a:solidFill>
          <a:ln>
            <a:noFill/>
          </a:ln>
        </p:spPr>
      </p:sp>
      <p:sp>
        <p:nvSpPr>
          <p:cNvPr id="487" name="Google Shape;487;p2"/>
          <p:cNvSpPr txBox="1"/>
          <p:nvPr/>
        </p:nvSpPr>
        <p:spPr>
          <a:xfrm>
            <a:off x="5549247" y="4233071"/>
            <a:ext cx="10466400" cy="2145300"/>
          </a:xfrm>
          <a:prstGeom prst="rect">
            <a:avLst/>
          </a:prstGeom>
          <a:noFill/>
          <a:ln>
            <a:noFill/>
          </a:ln>
        </p:spPr>
        <p:txBody>
          <a:bodyPr spcFirstLastPara="1" wrap="square" lIns="0" tIns="0" rIns="0" bIns="0" anchor="t" anchorCtr="0">
            <a:spAutoFit/>
          </a:bodyPr>
          <a:lstStyle/>
          <a:p>
            <a:pPr marL="0" marR="0" lvl="0" indent="0" algn="l" rtl="0">
              <a:lnSpc>
                <a:spcPct val="125287"/>
              </a:lnSpc>
              <a:spcBef>
                <a:spcPts val="0"/>
              </a:spcBef>
              <a:spcAft>
                <a:spcPts val="0"/>
              </a:spcAft>
              <a:buClr>
                <a:srgbClr val="1B1B27"/>
              </a:buClr>
              <a:buSzPts val="11124"/>
              <a:buFont typeface="Raleway"/>
              <a:buNone/>
            </a:pPr>
            <a:r>
              <a:rPr lang="en-US" sz="11124" b="0" i="0" u="none" strike="noStrike" cap="none">
                <a:solidFill>
                  <a:srgbClr val="1B1B27"/>
                </a:solidFill>
                <a:latin typeface="Raleway"/>
                <a:ea typeface="Raleway"/>
                <a:cs typeface="Raleway"/>
                <a:sym typeface="Raleway"/>
              </a:rPr>
              <a:t>Thank You </a:t>
            </a:r>
            <a:endParaRPr sz="1800" b="0" i="0" u="none" strike="noStrike" cap="none">
              <a:solidFill>
                <a:schemeClr val="lt1"/>
              </a:solidFill>
              <a:latin typeface="Arial"/>
              <a:ea typeface="Arial"/>
              <a:cs typeface="Arial"/>
              <a:sym typeface="Arial"/>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AY_IGNORE_UCW" val="true"/>
  <p:tag name="PPT/SLIDES/SLIDE8.XML" val="2666846162"/>
  <p:tag name="PPT/SLIDES/SLIDE9.XML" val="3717089217"/>
  <p:tag name="PPT/SLIDES/SLIDE7.XML" val="3805515480"/>
  <p:tag name="PPT/SLIDES/SLIDE21.XML" val="4034781058"/>
  <p:tag name="PPT/SLIDES/SLIDE1.XML" val="3378085442"/>
  <p:tag name="PPT/SLIDES/SLIDE2.XML" val="3007515073"/>
  <p:tag name="PPT/SLIDES/SLIDE3.XML" val="231480664"/>
  <p:tag name="PPT/SLIDES/SLIDE4.XML" val="1227918603"/>
  <p:tag name="PPT/SLIDES/SLIDE5.XML" val="291724388"/>
  <p:tag name="PPT/SLIDES/SLIDE6.XML" val="510252596"/>
  <p:tag name="PPT/SLIDES/SLIDE10.XML" val="2487337270"/>
  <p:tag name="PPT/SLIDES/SLIDE11.XML" val="2103478307"/>
  <p:tag name="PPT/SLIDES/SLIDE12.XML" val="2557377842"/>
  <p:tag name="PPT/SLIDES/SLIDE13.XML" val="3822747352"/>
  <p:tag name="PPT/SLIDES/SLIDE14.XML" val="3929973175"/>
  <p:tag name="PPT/SLIDES/SLIDE15.XML" val="74985299"/>
  <p:tag name="PPT/SLIDES/SLIDE16.XML" val="2370292613"/>
  <p:tag name="PPT/SLIDES/SLIDE17.XML" val="3148656615"/>
  <p:tag name="PPT/SLIDES/SLIDE18.XML" val="137734013"/>
  <p:tag name="PPT/SLIDES/SLIDE19.XML" val="3882368675"/>
  <p:tag name="PPT/SLIDES/SLIDE20.XML" val="2987086040"/>
  <p:tag name="PPT/NOTESSLIDES/NOTESSLIDE3.XML" val="294869593"/>
  <p:tag name="PPT/NOTESSLIDES/NOTESSLIDE4.XML" val="3692684197"/>
  <p:tag name="PPT/NOTESSLIDES/NOTESSLIDE5.XML" val="2426559741"/>
  <p:tag name="PPT/NOTESSLIDES/NOTESSLIDE6.XML" val="1164877077"/>
  <p:tag name="PPT/NOTESSLIDES/NOTESSLIDE16.XML" val="3146878762"/>
  <p:tag name="PPT/NOTESSLIDES/NOTESSLIDE7.XML" val="164962893"/>
  <p:tag name="PPT/NOTESSLIDES/NOTESSLIDE8.XML" val="1036576903"/>
  <p:tag name="PPT/NOTESSLIDES/NOTESSLIDE9.XML" val="1903384543"/>
  <p:tag name="PPT/NOTESSLIDES/NOTESSLIDE10.XML" val="2277684707"/>
  <p:tag name="PPT/NOTESSLIDES/NOTESSLIDE11.XML" val="3413707451"/>
  <p:tag name="PPT/NOTESSLIDES/NOTESSLIDE12.XML" val="515230547"/>
  <p:tag name="PPT/NOTESSLIDES/NOTESSLIDE13.XML" val="1376678923"/>
  <p:tag name="PPT/NOTESSLIDES/NOTESSLIDE14.XML" val="1851608770"/>
  <p:tag name="PPT/NOTESSLIDES/NOTESSLIDE15.XML" val="4146737266"/>
  <p:tag name="PPT/NOTESSLIDES/NOTESSLIDE2.XML" val="2901501492"/>
  <p:tag name="PPT/NOTESSLIDES/NOTESSLIDE17.XML" val="2408334816"/>
  <p:tag name="PPT/NOTESSLIDES/NOTESSLIDE18.XML" val="3275225784"/>
  <p:tag name="PPT/NOTESSLIDES/NOTESSLIDE19.XML" val="700846952"/>
  <p:tag name="PPT/NOTESSLIDES/NOTESSLIDE20.XML" val="1702734896"/>
  <p:tag name="PPT/NOTESSLIDES/NOTESSLIDE21.XML" val="2964418008"/>
  <p:tag name="PPT/NOTESSLIDES/NOTESSLIDE1.XML" val="2034083804"/>
  <p:tag name="PPT/SLIDELAYOUTS/SLIDELAYOUT11.XML" val="2886289310"/>
  <p:tag name="PPT/SLIDELAYOUTS/SLIDELAYOUT10.XML" val="308304434"/>
  <p:tag name="PPT/SLIDELAYOUTS/SLIDELAYOUT9.XML" val="4115691603"/>
  <p:tag name="PPT/SLIDELAYOUTS/SLIDELAYOUT8.XML" val="3337498089"/>
  <p:tag name="PPT/SLIDELAYOUTS/SLIDELAYOUT7.XML" val="2487085407"/>
  <p:tag name="PPT/SLIDELAYOUTS/SLIDELAYOUT6.XML" val="3007131631"/>
  <p:tag name="PPT/SLIDELAYOUTS/SLIDELAYOUT5.XML" val="1466656446"/>
  <p:tag name="PPT/SLIDELAYOUTS/SLIDELAYOUT4.XML" val="1569577351"/>
  <p:tag name="PPT/SLIDELAYOUTS/SLIDELAYOUT3.XML" val="2148714167"/>
  <p:tag name="PPT/SLIDELAYOUTS/SLIDELAYOUT2.XML" val="2469885808"/>
  <p:tag name="PPT/SLIDELAYOUTS/SLIDELAYOUT1.XML" val="4113988551"/>
  <p:tag name="PPT/SLIDEMASTERS/SLIDEMASTER1.XML" val="785084555"/>
  <p:tag name="PPT/NOTESMASTERS/NOTESMASTER1.XML" val="1887356358"/>
  <p:tag name="PPT/MEDIA/IMAGE6.PNG" val="242656279"/>
  <p:tag name="PPT/MEDIA/IMAGE7.PNG" val="2496154644"/>
  <p:tag name="PPT/THEME/THEME1.XML" val="1575841068"/>
  <p:tag name="PPT/MEDIA/IMAGE1.JPEG" val="1514430690"/>
  <p:tag name="PPT/MEDIA/IMAGE8.PNG" val="2228232721"/>
  <p:tag name="PPT/MEDIA/IMAGE2.PNG" val="3987481075"/>
  <p:tag name="PPT/MEDIA/IMAGE3.PNG" val="133967359"/>
  <p:tag name="PPT/THEME/THEME2.XML" val="755234337"/>
  <p:tag name="PPT/MEDIA/IMAGE4.PNG" val="1803046288"/>
  <p:tag name="PPT/MEDIA/IMAGE9.PNG" val="3480644036"/>
  <p:tag name="PPT/MEDIA/IMAGE5.PNG" val="2355205659"/>
  <p:tag name="PPT/MEDIA/IMAGE18.PNG" val="3643623484"/>
  <p:tag name="PPT/MEDIA/IMAGE17.PNG" val="4114001085"/>
  <p:tag name="PPT/MEDIA/IMAGE16.PNG" val="997979321"/>
  <p:tag name="PPT/MEDIA/IMAGE15.PNG" val="3818049614"/>
  <p:tag name="PPT/MEDIA/IMAGE14.PNG" val="2336430805"/>
  <p:tag name="PPT/MEDIA/IMAGE13.PNG" val="2623494288"/>
  <p:tag name="PPT/MEDIA/IMAGE12.PNG" val="3062185655"/>
  <p:tag name="PPT/MEDIA/IMAGE11.PNG" val="3064734300"/>
  <p:tag name="PPT/MEDIA/IMAGE10.PNG" val="363975204"/>
</p:tagLst>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21</Slides>
  <Notes>21</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Madison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Ibrahim Basheer</cp:lastModifiedBy>
  <cp:revision>1</cp:revision>
  <dcterms:modified xsi:type="dcterms:W3CDTF">2025-07-18T03:43:26Z</dcterms:modified>
</cp:coreProperties>
</file>